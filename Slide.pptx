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993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AND STATUS
This is a proposed operating model based on the operator's requested five stages. It is not a claim that all of these data products, capabilities or benefits have already been implemented. No readiness metrics from the earlier repo audit are reused.
TALK TRACK
Stage 1 qualifies the delivered source representation. Stage 2 supplies actual reusable datasets or reference products, not merely shared code, patterns or templates. Stage 3 specialises that content for a disease or an explicitly scoped asset programme. Here, asset means a molecule/development programme; a disease-wide NSCLC product is not automatically asset-specific. Stage 4 applies the approved study design and checks whether product definitions and coverage are suitable. Stage 5 produces analysed and reviewed evidence.
A STAIRCASE, NOT A MANDATORY WATERFALL
These are logical product and consumption boundaries, not five obligatory physical copies or five obligatory steps for every question. Feasibility, exploration and RDQs can consume appropriate released Stage 2 or Stage 3 content directly. Consumer needs and feasibility inform product development earlier. Centralised versus federated execution is a deployment decision, not a content-enrichment stage.
REUSE AND DERIVATIONS
Reuse suitable upstream data, episodes and algorithms rather than reproduce ETL or clinical logic. A code set can be a governed reference product; it is also an input across clinical domains. A product may include well-defined derived views and optional precomputed endpoint variables. Those views retain their index, selection, event, observation/censoring and data-cut assumptions. Study assembly reuses only compatible definitions or derives a study-specific variable. A clinical event record, an endpoint variable and a population-level analytical result are not interchangeable.
PRODUCT CONTROL
Every data product needs a declared consumer/use, scope, grain, source/logic versions, accountable owner, access controls, quality evidence, limitations and a release/refresh lifecycle. Product validation does not replace study-specific validation or independent QC. The user's existing workbook includes detailed QC requirements; the proposed improvement binds the approved specification and QC-sheet revision to code, data cut, executed evidence and release.
TECHNICAL SOURCE CHECKS (not endorsements of the proposed architecture)
[1] OHDSI, OMOP Common Data Model v5.4: https://ohdsi.github.io/CommonDataModel/cdm54.html . Includes EPISODE and EPISODE_EVENT; a table's presence does not demonstrate completeness or that it has been populated.
[2] FDA, Real-World Data: Assessing Electronic Health Records and Medical Claims Data to Support Regulatory Decision-Making for Drug and Biological Products, final guidance July 2024: https://www.fda.gov/media/152503/download . Relevant sections: IV.A/D (relevance and validation), V (study design elements and outcome ascertainment), VI (data quality, QA/QC and traceability). This guidance applies to its stated regulatory context and is cited for technical distinctions, not as a claim of GSK policy or regulatory approval.
Source-derived details checked 7 September 2026. All product examples and stage boundaries are design proposals. No cross-source equivalence or source completeness is assumed.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AND STATUS
A worked example of Stage 3 on the preceding slide. NSCLC means non-small cell lung cancer. This is proposed product content and data flow, not a claim of a currently released NSCLC product, populated source tables or validated GSK endpoints. The 1–2, 3, 4 and 5 labels deliberately correspond to the five stages on Slide 1.
WHAT THE NSCLC PRODUCT IS
One governed disease-specific product can expose multiple linked components and views. It need not be one flat table, nor does every component have to become a separate product. The contract declares grain, scope, keys, dates, population coverage, permissible uses and limitations. Candidate example grains: patient/disease episode; patient/test/result; patient/assessment; patient/treatment episode or line; patient/event. Shared concept and code-set products inform these domains; clinical coding is not restricted to diagnosis codes or basic descriptive analytics.
WHAT IS REUSED
Consume relevant shared patient/observation profiles, measurement/treatment-event datasets and code-set reference products. These are concrete data or reference outputs, not labels for code libraries. Existing vendor/CDM disease and treatment episodes may be reused when they meet the intended definition and validation requirements. Do not rederive a line of therapy merely because the product platform has a build engine. Do not assume EPISODE completeness or EHR activity means continuous enrollment.
WHAT MAY BE DERIVED
Keep longitudinal clinical records and source ascertainment methods. Disease setting and dated history are different from an arbitrary study baseline. Biomarker status at a treatment anchor requires an explicit anchor, available-result timing, test selection and conflict rules. LOT requires a disease setting and a named algorithm version, whether delivered or derived. Progression/response records are only offered where source-supported; they are not automatically RECIST assessments.
ENDPOINT BOUNDARY
An optional precomputed OS-from-second-line-start view is legitimate only under declared line selection, starting time, death-event, observation, censoring and data-cut rules. The study must check that definition, source coverage and the particular population. Otherwise it derives its required endpoint. OS means overall survival; 2L means second line of therapy. The event, endpoint variable and analytical result in the bottom strip are separate objects. Progression-free survival, time to next treatment or other endpoints would similarly need their own explicit specification. Do not classify baseline cohorts by a future response merely because a reusable responder view exists.
CONTROL AND CONSUMPTION
The product release links the product specification, the existing workbook's QC-sheet revision, code/algorithm version, source snapshot, executed checks, approval and limitations. Study-specific validation remains necessary. The approved study specification and QC plan is a second input to assembly, not something inferred from product fields. In the example, the protocol specifies the qualifying EGFR mutation, its ascertainment timing, eligible second-line episode and age at index. The slide does not prescribe those clinical study rules. Analysis and evidence follow the study dataset and are not delivered merely by filtering a product. Feasibility/RDQs may use a suitable released product directly.
TECHNICAL SOURCE CHECKS
[1] OHDSI, OMOP Common Data Model v5.4: https://ohdsi.github.io/CommonDataModel/cdm54.html . PERSON, condition/exposure/measurement/observation/visit/procedure/death tables; OBSERVATION_PERIOD; EPISODE and EPISODE_EVENT. Supports structures, not assumed availability in a particular GSK delivery.
[2] FDA, Real-World Data: Assessing Electronic Health Records and Medical Claims Data to Support Regulatory Decision-Making for Drug and Biological Products, final guidance July 2024: https://www.fda.gov/media/152503/download . Sections IV.A/D, V.A/D and VI distinguish source relevance, conceptual/operational definitions, time periods, outcome ascertainment/validation, QA/QC and traceability. It is nonbinding guidance in its stated regulatory context, not an endorsement of this architecture.
All table/view/product examples are proposals based on the user's supplied slides and requested corrections. No expected speed, quality or comparability improvement is claimed as measured.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same five-stage model through an NSCLC worked example. The middle of the slide emphasizes stages 2, 3 and 4; stage 1 remains the source input and stage 5 the downstream analysis. This is an illustrative target, not implemented functionality or an approved study protocol.
STAGE 1: Qualified OMOP/CDM source records. Source qualification includes provenance, coverage, ascertainment and conformance. The original content listed PERSON, CONDITION_OCCURRENCE, DRUG_EXPOSURE, MEASUREMENT, OBSERVATION, PROCEDURE_OCCURRENCE, DEATH and EPISODE/EPISODE_EVENT. These are examples to be checked against the real delivered source; this slide does not assert that all are populated.
STAGE 2: Common longitudinal records are organized into reusable domain-level structures: patient/disease, treatment, biomarkers/labs, clinical assessments, follow-up/death. These are not another name for NSCLC clinical logic. Retain source meanings, keys, dates, result values and provenance. Do not invent a biological interpretation from a code or lexical match.
STAGE 3: One NSCLC disease-specific data product contains linked components and views. It adds phenotype, histology and stage/metastatic context; biomarker interpretation with dated results, specimen/method and status rules; treatment episodes, regimen, line of therapy and start/stop/switch/discontinuation logic; and source-supported progression/response records and disease-specific views. EGFR, ALK, KRAS, ROS1, BRAF and PD-L1 are illustrative biomarker topics, not a complete or mandated panel. Components are not automatically separate products. The release contract binds derivation logic, QC, data/product versions, provenance, limitations and approval. Do not assume all sources support progression, response or a RECIST-equivalent measure. Reuse upstream derived content when it meets the declared contract.
STAGE 4: The example '2L NSCLC, EGFR+, age 18–75' is shorthand, not an executable study specification. The approved study and QC specification must define qualifying mutations, test timing, disease setting, which treatment line is eligible, age/index alignment, baseline and covariates/exclusions, endpoint/event definitions, follow-up/censoring rules and data cut. Assess applicability before reusing views; derive study-specific variables where necessary. Detailed QC already exists in the workbook; the product links the applicable approved revision to execution and output evidence rather than claiming QC was absent.
STAGE 5: Perform study-specific descriptive/comparative analyses, diagnostics, sensitivity analyses and TLF/evidence preparation with scientific interpretation. An analysis-ready table is not itself an evidence conclusion.
OUTCOME BOUNDARY: A reusable clinical event is a dated source or derived record. An endpoint variable is a calculation under explicit index, event, censoring and observation rules. An analytical result is an estimate for a defined population and method. Precomputed endpoint views are possible only with those assumptions declared and assessed for reuse. Treatment-sequence information is required for TTNT; progression/response records are not substitutes for it.
SOURCE BASIS: Operator-approved five-stage architecture and the supplied RWD_Five_Stage_Model_NSCLC_Example.pptx. No new scope, live source availability, repository implementation or guaranteed improvement is asserted. All text, panels and arrows are native editable PowerPoint elements.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BAS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25236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5176"/>
            <a:ext cx="13807440" cy="41148"/>
          </a:xfrm>
          <a:prstGeom prst="rect">
            <a:avLst/>
          </a:prstGeom>
          <a:solidFill>
            <a:srgbClr val="C4472D"/>
          </a:solidFill>
          <a:ln w="10160">
            <a:solidFill>
              <a:srgbClr val="C4472D"/>
            </a:solidFill>
            <a:prstDash val="solid"/>
          </a:ln>
        </p:spPr>
        <p:txBody>
          <a:bodyPr/>
          <a:lstStyle/>
          <a:p>
            <a:endParaRPr lang="en-US"/>
          </a:p>
        </p:txBody>
      </p:sp>
      <p:sp>
        <p:nvSpPr>
          <p:cNvPr id="3" name="Text 1"/>
          <p:cNvSpPr/>
          <p:nvPr/>
        </p:nvSpPr>
        <p:spPr>
          <a:xfrm>
            <a:off x="411480" y="448056"/>
            <a:ext cx="10789920" cy="182880"/>
          </a:xfrm>
          <a:prstGeom prst="rect">
            <a:avLst/>
          </a:prstGeom>
          <a:noFill/>
          <a:ln/>
        </p:spPr>
        <p:txBody>
          <a:bodyPr wrap="square" lIns="0" tIns="0" rIns="0" bIns="0" rtlCol="0" anchor="ctr"/>
          <a:lstStyle/>
          <a:p>
            <a:pPr marL="0" indent="0">
              <a:buNone/>
            </a:pPr>
            <a:r>
              <a:rPr lang="en-US" sz="940" b="1" kern="0" spc="110" dirty="0">
                <a:solidFill>
                  <a:srgbClr val="C4472D"/>
                </a:solidFill>
                <a:latin typeface="Arial" pitchFamily="34" charset="0"/>
                <a:ea typeface="Arial" pitchFamily="34" charset="-122"/>
                <a:cs typeface="Arial" pitchFamily="34" charset="-120"/>
              </a:rPr>
              <a:t>PRODUCT STRATEGY  /  CLEAR BOUNDARIES</a:t>
            </a:r>
            <a:endParaRPr lang="en-US" sz="940" dirty="0"/>
          </a:p>
        </p:txBody>
      </p:sp>
      <p:sp>
        <p:nvSpPr>
          <p:cNvPr id="4" name="Text 2"/>
          <p:cNvSpPr/>
          <p:nvPr/>
        </p:nvSpPr>
        <p:spPr>
          <a:xfrm>
            <a:off x="11045952" y="448056"/>
            <a:ext cx="3163824" cy="182880"/>
          </a:xfrm>
          <a:prstGeom prst="rect">
            <a:avLst/>
          </a:prstGeom>
          <a:noFill/>
          <a:ln/>
        </p:spPr>
        <p:txBody>
          <a:bodyPr wrap="square" lIns="0" tIns="0" rIns="0" bIns="0" rtlCol="0" anchor="ctr"/>
          <a:lstStyle/>
          <a:p>
            <a:pPr marL="0" indent="0" algn="r">
              <a:buNone/>
            </a:pPr>
            <a:r>
              <a:rPr lang="en-US" sz="900" kern="0" spc="50" dirty="0">
                <a:solidFill>
                  <a:srgbClr val="52667A"/>
                </a:solidFill>
                <a:latin typeface="Arial" pitchFamily="34" charset="0"/>
                <a:ea typeface="Arial" pitchFamily="34" charset="-122"/>
                <a:cs typeface="Arial" pitchFamily="34" charset="-120"/>
              </a:rPr>
              <a:t>ILLUSTRATIVE TARGET MODEL</a:t>
            </a:r>
            <a:endParaRPr lang="en-US" sz="900" dirty="0"/>
          </a:p>
        </p:txBody>
      </p:sp>
      <p:sp>
        <p:nvSpPr>
          <p:cNvPr id="5" name="Text 3"/>
          <p:cNvSpPr/>
          <p:nvPr/>
        </p:nvSpPr>
        <p:spPr>
          <a:xfrm>
            <a:off x="411480" y="758952"/>
            <a:ext cx="13807440" cy="420624"/>
          </a:xfrm>
          <a:prstGeom prst="rect">
            <a:avLst/>
          </a:prstGeom>
          <a:noFill/>
          <a:ln/>
        </p:spPr>
        <p:txBody>
          <a:bodyPr wrap="square" lIns="0" tIns="0" rIns="0" bIns="0" rtlCol="0" anchor="ctr"/>
          <a:lstStyle/>
          <a:p>
            <a:pPr marL="0" indent="0">
              <a:buNone/>
            </a:pPr>
            <a:r>
              <a:rPr lang="en-US" sz="2850" b="1" dirty="0">
                <a:solidFill>
                  <a:srgbClr val="102E48"/>
                </a:solidFill>
                <a:latin typeface="Arial" pitchFamily="34" charset="0"/>
                <a:ea typeface="Arial" pitchFamily="34" charset="-122"/>
                <a:cs typeface="Arial" pitchFamily="34" charset="-120"/>
              </a:rPr>
              <a:t>Real World Data Platform | From foundation to evidence</a:t>
            </a:r>
            <a:endParaRPr lang="en-US" sz="2850" dirty="0"/>
          </a:p>
        </p:txBody>
      </p:sp>
      <p:sp>
        <p:nvSpPr>
          <p:cNvPr id="6" name="Text 4"/>
          <p:cNvSpPr/>
          <p:nvPr/>
        </p:nvSpPr>
        <p:spPr>
          <a:xfrm>
            <a:off x="420624" y="1243584"/>
            <a:ext cx="13716000" cy="310896"/>
          </a:xfrm>
          <a:prstGeom prst="rect">
            <a:avLst/>
          </a:prstGeom>
          <a:noFill/>
          <a:ln/>
        </p:spPr>
        <p:txBody>
          <a:bodyPr wrap="square" lIns="0" tIns="0" rIns="0" bIns="0" rtlCol="0" anchor="ctr"/>
          <a:lstStyle/>
          <a:p>
            <a:pPr marL="0" indent="0">
              <a:buNone/>
            </a:pPr>
            <a:r>
              <a:rPr lang="en-US" sz="1520" dirty="0">
                <a:solidFill>
                  <a:srgbClr val="52667A"/>
                </a:solidFill>
                <a:latin typeface="Arial" pitchFamily="34" charset="0"/>
                <a:ea typeface="Arial" pitchFamily="34" charset="-122"/>
                <a:cs typeface="Arial" pitchFamily="34" charset="-120"/>
              </a:rPr>
              <a:t>Distinct outputs at each stage: shared data, specialised products, study datasets and reviewed evidence.</a:t>
            </a:r>
            <a:endParaRPr lang="en-US" sz="1520" dirty="0"/>
          </a:p>
        </p:txBody>
      </p:sp>
      <p:sp>
        <p:nvSpPr>
          <p:cNvPr id="8" name="Text 6"/>
          <p:cNvSpPr/>
          <p:nvPr/>
        </p:nvSpPr>
        <p:spPr>
          <a:xfrm>
            <a:off x="13761720" y="7936992"/>
            <a:ext cx="457200" cy="228600"/>
          </a:xfrm>
          <a:prstGeom prst="rect">
            <a:avLst/>
          </a:prstGeom>
          <a:noFill/>
          <a:ln/>
        </p:spPr>
        <p:txBody>
          <a:bodyPr wrap="square" lIns="0" tIns="0" rIns="0" bIns="0" rtlCol="0" anchor="ctr"/>
          <a:lstStyle/>
          <a:p>
            <a:pPr marL="0" indent="0" algn="r">
              <a:buNone/>
            </a:pPr>
            <a:r>
              <a:rPr lang="en-US" sz="1050" b="1" dirty="0">
                <a:solidFill>
                  <a:srgbClr val="102E48"/>
                </a:solidFill>
                <a:latin typeface="Arial" pitchFamily="34" charset="0"/>
                <a:ea typeface="Arial" pitchFamily="34" charset="-122"/>
                <a:cs typeface="Arial" pitchFamily="34" charset="-120"/>
              </a:rPr>
              <a:t>01</a:t>
            </a:r>
            <a:endParaRPr lang="en-US" sz="1050" dirty="0"/>
          </a:p>
        </p:txBody>
      </p:sp>
      <p:sp>
        <p:nvSpPr>
          <p:cNvPr id="9" name="Shape 7"/>
          <p:cNvSpPr/>
          <p:nvPr/>
        </p:nvSpPr>
        <p:spPr>
          <a:xfrm>
            <a:off x="8796528" y="1627632"/>
            <a:ext cx="2615184" cy="347472"/>
          </a:xfrm>
          <a:prstGeom prst="roundRect">
            <a:avLst>
              <a:gd name="adj" fmla="val 15789"/>
            </a:avLst>
          </a:prstGeom>
          <a:solidFill>
            <a:srgbClr val="F0F6F2"/>
          </a:solidFill>
          <a:ln w="10160">
            <a:solidFill>
              <a:srgbClr val="8CAF9F"/>
            </a:solidFill>
            <a:prstDash val="solid"/>
          </a:ln>
        </p:spPr>
        <p:txBody>
          <a:bodyPr/>
          <a:lstStyle/>
          <a:p>
            <a:endParaRPr lang="en-US"/>
          </a:p>
        </p:txBody>
      </p:sp>
      <p:sp>
        <p:nvSpPr>
          <p:cNvPr id="10" name="Text 8"/>
          <p:cNvSpPr/>
          <p:nvPr/>
        </p:nvSpPr>
        <p:spPr>
          <a:xfrm>
            <a:off x="8897112" y="1682496"/>
            <a:ext cx="2414016" cy="201168"/>
          </a:xfrm>
          <a:prstGeom prst="rect">
            <a:avLst/>
          </a:prstGeom>
          <a:noFill/>
          <a:ln/>
        </p:spPr>
        <p:txBody>
          <a:bodyPr wrap="square" lIns="0" tIns="0" rIns="0" bIns="0" rtlCol="0" anchor="ctr"/>
          <a:lstStyle/>
          <a:p>
            <a:pPr marL="0" indent="0" algn="ctr">
              <a:buNone/>
            </a:pPr>
            <a:r>
              <a:rPr lang="en-US" sz="940" b="1" dirty="0">
                <a:solidFill>
                  <a:srgbClr val="28745E"/>
                </a:solidFill>
                <a:latin typeface="Arial" pitchFamily="34" charset="0"/>
                <a:ea typeface="Arial" pitchFamily="34" charset="-122"/>
                <a:cs typeface="Arial" pitchFamily="34" charset="-120"/>
              </a:rPr>
              <a:t>APPROVED STUDY + QC SPECIFICATION</a:t>
            </a:r>
            <a:endParaRPr lang="en-US" sz="940" dirty="0"/>
          </a:p>
        </p:txBody>
      </p:sp>
      <p:sp>
        <p:nvSpPr>
          <p:cNvPr id="11" name="Shape 9"/>
          <p:cNvSpPr/>
          <p:nvPr/>
        </p:nvSpPr>
        <p:spPr>
          <a:xfrm>
            <a:off x="10991088" y="1975104"/>
            <a:ext cx="0" cy="146304"/>
          </a:xfrm>
          <a:prstGeom prst="line">
            <a:avLst/>
          </a:prstGeom>
          <a:noFill/>
          <a:ln w="17780">
            <a:solidFill>
              <a:srgbClr val="28745E"/>
            </a:solidFill>
            <a:prstDash val="solid"/>
            <a:headEnd type="none"/>
            <a:tailEnd type="triangle"/>
          </a:ln>
        </p:spPr>
        <p:txBody>
          <a:bodyPr/>
          <a:lstStyle/>
          <a:p>
            <a:endParaRPr lang="en-US"/>
          </a:p>
        </p:txBody>
      </p:sp>
      <p:sp>
        <p:nvSpPr>
          <p:cNvPr id="12" name="Text 10"/>
          <p:cNvSpPr/>
          <p:nvPr/>
        </p:nvSpPr>
        <p:spPr>
          <a:xfrm>
            <a:off x="630936" y="2359152"/>
            <a:ext cx="2103120" cy="155448"/>
          </a:xfrm>
          <a:prstGeom prst="rect">
            <a:avLst/>
          </a:prstGeom>
          <a:noFill/>
          <a:ln/>
        </p:spPr>
        <p:txBody>
          <a:bodyPr wrap="square" lIns="0" tIns="0" rIns="0" bIns="0" rtlCol="0" anchor="ctr"/>
          <a:lstStyle/>
          <a:p>
            <a:pPr marL="0" indent="0">
              <a:buNone/>
            </a:pPr>
            <a:r>
              <a:rPr lang="en-US" sz="960" b="1" kern="0" spc="70" dirty="0">
                <a:solidFill>
                  <a:srgbClr val="52667A"/>
                </a:solidFill>
                <a:latin typeface="Arial" pitchFamily="34" charset="0"/>
                <a:ea typeface="Arial" pitchFamily="34" charset="-122"/>
                <a:cs typeface="Arial" pitchFamily="34" charset="-120"/>
              </a:rPr>
              <a:t>COMMON STRUCTURE</a:t>
            </a:r>
            <a:endParaRPr lang="en-US" sz="960" dirty="0"/>
          </a:p>
        </p:txBody>
      </p:sp>
      <p:sp>
        <p:nvSpPr>
          <p:cNvPr id="13" name="Text 11"/>
          <p:cNvSpPr/>
          <p:nvPr/>
        </p:nvSpPr>
        <p:spPr>
          <a:xfrm>
            <a:off x="3429000" y="2148840"/>
            <a:ext cx="2103120" cy="155448"/>
          </a:xfrm>
          <a:prstGeom prst="rect">
            <a:avLst/>
          </a:prstGeom>
          <a:noFill/>
          <a:ln/>
        </p:spPr>
        <p:txBody>
          <a:bodyPr wrap="square" lIns="0" tIns="0" rIns="0" bIns="0" rtlCol="0" anchor="ctr"/>
          <a:lstStyle/>
          <a:p>
            <a:r>
              <a:rPr lang="en-US" sz="1000" b="1" kern="0" spc="28" dirty="0">
                <a:solidFill>
                  <a:srgbClr val="3C6591"/>
                </a:solidFill>
                <a:latin typeface="Arial" pitchFamily="34" charset="0"/>
                <a:ea typeface="Arial" pitchFamily="34" charset="-122"/>
                <a:cs typeface="Arial" pitchFamily="34" charset="-120"/>
              </a:rPr>
              <a:t>ORGANIZE FOR REUSE</a:t>
            </a:r>
            <a:endParaRPr lang="en-US" sz="1000" dirty="0"/>
          </a:p>
        </p:txBody>
      </p:sp>
      <p:sp>
        <p:nvSpPr>
          <p:cNvPr id="14" name="Text 12"/>
          <p:cNvSpPr/>
          <p:nvPr/>
        </p:nvSpPr>
        <p:spPr>
          <a:xfrm>
            <a:off x="6208776" y="1938528"/>
            <a:ext cx="2377440" cy="155448"/>
          </a:xfrm>
          <a:prstGeom prst="rect">
            <a:avLst/>
          </a:prstGeom>
          <a:noFill/>
          <a:ln/>
        </p:spPr>
        <p:txBody>
          <a:bodyPr wrap="square" lIns="0" tIns="0" rIns="0" bIns="0" rtlCol="0" anchor="ctr"/>
          <a:lstStyle/>
          <a:p>
            <a:pPr marL="0" indent="0">
              <a:buNone/>
            </a:pPr>
            <a:r>
              <a:rPr lang="en-US" sz="930" b="1" kern="0" spc="40" dirty="0">
                <a:solidFill>
                  <a:srgbClr val="52667A"/>
                </a:solidFill>
                <a:latin typeface="Arial" pitchFamily="34" charset="0"/>
                <a:ea typeface="Arial" pitchFamily="34" charset="-122"/>
                <a:cs typeface="Arial" pitchFamily="34" charset="-120"/>
              </a:rPr>
              <a:t>CONTEXT-SPECIFIC MEANING</a:t>
            </a:r>
            <a:endParaRPr lang="en-US" sz="930" dirty="0"/>
          </a:p>
        </p:txBody>
      </p:sp>
      <p:sp>
        <p:nvSpPr>
          <p:cNvPr id="15" name="Shape 13"/>
          <p:cNvSpPr/>
          <p:nvPr/>
        </p:nvSpPr>
        <p:spPr>
          <a:xfrm>
            <a:off x="411480" y="2788920"/>
            <a:ext cx="2651760" cy="3319272"/>
          </a:xfrm>
          <a:prstGeom prst="rect">
            <a:avLst/>
          </a:prstGeom>
          <a:solidFill>
            <a:srgbClr val="EDF3F7"/>
          </a:solidFill>
          <a:ln w="9525">
            <a:solidFill>
              <a:srgbClr val="CBD6DF"/>
            </a:solidFill>
            <a:prstDash val="solid"/>
          </a:ln>
        </p:spPr>
        <p:txBody>
          <a:bodyPr/>
          <a:lstStyle/>
          <a:p>
            <a:endParaRPr lang="en-US"/>
          </a:p>
        </p:txBody>
      </p:sp>
      <p:sp>
        <p:nvSpPr>
          <p:cNvPr id="16" name="Shape 14"/>
          <p:cNvSpPr/>
          <p:nvPr/>
        </p:nvSpPr>
        <p:spPr>
          <a:xfrm>
            <a:off x="411480" y="2788920"/>
            <a:ext cx="86868" cy="3319272"/>
          </a:xfrm>
          <a:prstGeom prst="rect">
            <a:avLst/>
          </a:prstGeom>
          <a:solidFill>
            <a:srgbClr val="102E48"/>
          </a:solidFill>
          <a:ln w="10160">
            <a:solidFill>
              <a:srgbClr val="102E48"/>
            </a:solidFill>
            <a:prstDash val="solid"/>
          </a:ln>
        </p:spPr>
        <p:txBody>
          <a:bodyPr/>
          <a:lstStyle/>
          <a:p>
            <a:endParaRPr lang="en-US"/>
          </a:p>
        </p:txBody>
      </p:sp>
      <p:sp>
        <p:nvSpPr>
          <p:cNvPr id="17" name="Shape 15"/>
          <p:cNvSpPr/>
          <p:nvPr/>
        </p:nvSpPr>
        <p:spPr>
          <a:xfrm>
            <a:off x="411480" y="2788920"/>
            <a:ext cx="2651760" cy="105156"/>
          </a:xfrm>
          <a:prstGeom prst="rect">
            <a:avLst/>
          </a:prstGeom>
          <a:solidFill>
            <a:srgbClr val="102E48"/>
          </a:solidFill>
          <a:ln w="10160">
            <a:solidFill>
              <a:srgbClr val="102E48"/>
            </a:solidFill>
            <a:prstDash val="solid"/>
          </a:ln>
        </p:spPr>
        <p:txBody>
          <a:bodyPr/>
          <a:lstStyle/>
          <a:p>
            <a:endParaRPr lang="en-US"/>
          </a:p>
        </p:txBody>
      </p:sp>
      <p:sp>
        <p:nvSpPr>
          <p:cNvPr id="18" name="Shape 16"/>
          <p:cNvSpPr/>
          <p:nvPr/>
        </p:nvSpPr>
        <p:spPr>
          <a:xfrm>
            <a:off x="548640" y="2574036"/>
            <a:ext cx="438912" cy="438912"/>
          </a:xfrm>
          <a:prstGeom prst="ellipse">
            <a:avLst/>
          </a:prstGeom>
          <a:solidFill>
            <a:srgbClr val="102E48"/>
          </a:solidFill>
          <a:ln w="22860">
            <a:solidFill>
              <a:srgbClr val="FFFFFF"/>
            </a:solidFill>
            <a:prstDash val="solid"/>
          </a:ln>
        </p:spPr>
        <p:txBody>
          <a:bodyPr/>
          <a:lstStyle/>
          <a:p>
            <a:endParaRPr lang="en-US"/>
          </a:p>
        </p:txBody>
      </p:sp>
      <p:sp>
        <p:nvSpPr>
          <p:cNvPr id="19" name="Text 17"/>
          <p:cNvSpPr/>
          <p:nvPr/>
        </p:nvSpPr>
        <p:spPr>
          <a:xfrm>
            <a:off x="548640" y="2574036"/>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20" name="Text 18"/>
          <p:cNvSpPr/>
          <p:nvPr/>
        </p:nvSpPr>
        <p:spPr>
          <a:xfrm>
            <a:off x="649224" y="3081528"/>
            <a:ext cx="2267712" cy="557784"/>
          </a:xfrm>
          <a:prstGeom prst="rect">
            <a:avLst/>
          </a:prstGeom>
          <a:noFill/>
          <a:ln/>
        </p:spPr>
        <p:txBody>
          <a:bodyPr wrap="square" lIns="0" tIns="0" rIns="0" bIns="0" rtlCol="0" anchor="t"/>
          <a:lstStyle/>
          <a:p>
            <a:pPr marL="0" indent="0">
              <a:buNone/>
            </a:pPr>
            <a:r>
              <a:rPr lang="en-US" sz="1780" b="1" dirty="0">
                <a:solidFill>
                  <a:srgbClr val="102E48"/>
                </a:solidFill>
                <a:latin typeface="Arial" pitchFamily="34" charset="0"/>
                <a:ea typeface="Arial" pitchFamily="34" charset="-122"/>
                <a:cs typeface="Arial" pitchFamily="34" charset="-120"/>
              </a:rPr>
              <a:t>DATA</a:t>
            </a:r>
            <a:endParaRPr lang="en-US" sz="1780" dirty="0"/>
          </a:p>
          <a:p>
            <a:pPr marL="0" indent="0">
              <a:buNone/>
            </a:pPr>
            <a:r>
              <a:rPr lang="en-US" sz="1780" b="1" dirty="0">
                <a:solidFill>
                  <a:srgbClr val="102E48"/>
                </a:solidFill>
                <a:latin typeface="Arial" pitchFamily="34" charset="0"/>
                <a:ea typeface="Arial" pitchFamily="34" charset="-122"/>
                <a:cs typeface="Arial" pitchFamily="34" charset="-120"/>
              </a:rPr>
              <a:t>FOUNDATION</a:t>
            </a:r>
            <a:endParaRPr lang="en-US" sz="1780" dirty="0"/>
          </a:p>
        </p:txBody>
      </p:sp>
      <p:sp>
        <p:nvSpPr>
          <p:cNvPr id="21" name="Text 19"/>
          <p:cNvSpPr/>
          <p:nvPr/>
        </p:nvSpPr>
        <p:spPr>
          <a:xfrm>
            <a:off x="649224" y="3703320"/>
            <a:ext cx="2258568" cy="256032"/>
          </a:xfrm>
          <a:prstGeom prst="rect">
            <a:avLst/>
          </a:prstGeom>
          <a:noFill/>
          <a:ln/>
        </p:spPr>
        <p:txBody>
          <a:bodyPr wrap="square" lIns="0" tIns="0" rIns="0" bIns="0" rtlCol="0" anchor="t"/>
          <a:lstStyle/>
          <a:p>
            <a:pPr marL="0" indent="0">
              <a:buNone/>
            </a:pPr>
            <a:r>
              <a:rPr lang="en-US" sz="1240" dirty="0">
                <a:solidFill>
                  <a:srgbClr val="52667A"/>
                </a:solidFill>
                <a:latin typeface="Arial" pitchFamily="34" charset="0"/>
                <a:ea typeface="Arial" pitchFamily="34" charset="-122"/>
                <a:cs typeface="Arial" pitchFamily="34" charset="-120"/>
              </a:rPr>
              <a:t>Standardise and qualify sources</a:t>
            </a:r>
            <a:endParaRPr lang="en-US" sz="1240" dirty="0"/>
          </a:p>
        </p:txBody>
      </p:sp>
      <p:sp>
        <p:nvSpPr>
          <p:cNvPr id="22" name="Shape 20"/>
          <p:cNvSpPr/>
          <p:nvPr/>
        </p:nvSpPr>
        <p:spPr>
          <a:xfrm>
            <a:off x="658368" y="4178808"/>
            <a:ext cx="41148" cy="41148"/>
          </a:xfrm>
          <a:prstGeom prst="ellipse">
            <a:avLst/>
          </a:prstGeom>
          <a:solidFill>
            <a:srgbClr val="102E48"/>
          </a:solidFill>
          <a:ln w="12700">
            <a:solidFill>
              <a:srgbClr val="102E48"/>
            </a:solidFill>
            <a:prstDash val="solid"/>
          </a:ln>
        </p:spPr>
        <p:txBody>
          <a:bodyPr/>
          <a:lstStyle/>
          <a:p>
            <a:endParaRPr lang="en-US"/>
          </a:p>
        </p:txBody>
      </p:sp>
      <p:sp>
        <p:nvSpPr>
          <p:cNvPr id="23" name="Text 21"/>
          <p:cNvSpPr/>
          <p:nvPr/>
        </p:nvSpPr>
        <p:spPr>
          <a:xfrm>
            <a:off x="777240" y="4087368"/>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OMOP/CDM records;</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available episodes [1]</a:t>
            </a:r>
            <a:endParaRPr lang="en-US" sz="1320" dirty="0"/>
          </a:p>
        </p:txBody>
      </p:sp>
      <p:sp>
        <p:nvSpPr>
          <p:cNvPr id="24" name="Shape 22"/>
          <p:cNvSpPr/>
          <p:nvPr/>
        </p:nvSpPr>
        <p:spPr>
          <a:xfrm>
            <a:off x="658368" y="4681728"/>
            <a:ext cx="41148" cy="41148"/>
          </a:xfrm>
          <a:prstGeom prst="ellipse">
            <a:avLst/>
          </a:prstGeom>
          <a:solidFill>
            <a:srgbClr val="102E48"/>
          </a:solidFill>
          <a:ln w="12700">
            <a:solidFill>
              <a:srgbClr val="102E48"/>
            </a:solidFill>
            <a:prstDash val="solid"/>
          </a:ln>
        </p:spPr>
        <p:txBody>
          <a:bodyPr/>
          <a:lstStyle/>
          <a:p>
            <a:endParaRPr lang="en-US"/>
          </a:p>
        </p:txBody>
      </p:sp>
      <p:sp>
        <p:nvSpPr>
          <p:cNvPr id="25" name="Text 23"/>
          <p:cNvSpPr/>
          <p:nvPr/>
        </p:nvSpPr>
        <p:spPr>
          <a:xfrm>
            <a:off x="777240" y="4590288"/>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Coverage, provenance</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and quality checks</a:t>
            </a:r>
            <a:endParaRPr lang="en-US" sz="1320" dirty="0"/>
          </a:p>
        </p:txBody>
      </p:sp>
      <p:sp>
        <p:nvSpPr>
          <p:cNvPr id="26" name="Shape 24"/>
          <p:cNvSpPr/>
          <p:nvPr/>
        </p:nvSpPr>
        <p:spPr>
          <a:xfrm>
            <a:off x="658368" y="5184648"/>
            <a:ext cx="41148" cy="41148"/>
          </a:xfrm>
          <a:prstGeom prst="ellipse">
            <a:avLst/>
          </a:prstGeom>
          <a:solidFill>
            <a:srgbClr val="102E48"/>
          </a:solidFill>
          <a:ln w="12700">
            <a:solidFill>
              <a:srgbClr val="102E48"/>
            </a:solidFill>
            <a:prstDash val="solid"/>
          </a:ln>
        </p:spPr>
        <p:txBody>
          <a:bodyPr/>
          <a:lstStyle/>
          <a:p>
            <a:endParaRPr lang="en-US"/>
          </a:p>
        </p:txBody>
      </p:sp>
      <p:sp>
        <p:nvSpPr>
          <p:cNvPr id="27" name="Text 25"/>
          <p:cNvSpPr/>
          <p:nvPr/>
        </p:nvSpPr>
        <p:spPr>
          <a:xfrm>
            <a:off x="777240" y="5093208"/>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Reuse upstream content;</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avoid duplicate ETL</a:t>
            </a:r>
            <a:endParaRPr lang="en-US" sz="1320" dirty="0"/>
          </a:p>
        </p:txBody>
      </p:sp>
      <p:sp>
        <p:nvSpPr>
          <p:cNvPr id="28" name="Shape 26"/>
          <p:cNvSpPr/>
          <p:nvPr/>
        </p:nvSpPr>
        <p:spPr>
          <a:xfrm>
            <a:off x="585216" y="5596128"/>
            <a:ext cx="2322576" cy="374904"/>
          </a:xfrm>
          <a:prstGeom prst="roundRect">
            <a:avLst>
              <a:gd name="adj" fmla="val 9756"/>
            </a:avLst>
          </a:prstGeom>
          <a:solidFill>
            <a:srgbClr val="102E48"/>
          </a:solidFill>
          <a:ln w="5080">
            <a:solidFill>
              <a:srgbClr val="102E48"/>
            </a:solidFill>
            <a:prstDash val="solid"/>
          </a:ln>
        </p:spPr>
        <p:txBody>
          <a:bodyPr/>
          <a:lstStyle/>
          <a:p>
            <a:endParaRPr lang="en-US"/>
          </a:p>
        </p:txBody>
      </p:sp>
      <p:sp>
        <p:nvSpPr>
          <p:cNvPr id="29" name="Text 27"/>
          <p:cNvSpPr/>
          <p:nvPr/>
        </p:nvSpPr>
        <p:spPr>
          <a:xfrm>
            <a:off x="658368" y="5655564"/>
            <a:ext cx="2176272" cy="219456"/>
          </a:xfrm>
          <a:prstGeom prst="rect">
            <a:avLst/>
          </a:prstGeom>
          <a:noFill/>
          <a:ln/>
        </p:spPr>
        <p:txBody>
          <a:bodyPr wrap="square" lIns="0" tIns="0" rIns="0" bIns="0" rtlCol="0" anchor="ctr"/>
          <a:lstStyle/>
          <a:p>
            <a:pPr marL="0" indent="0" algn="ctr">
              <a:buNone/>
            </a:pPr>
            <a:r>
              <a:rPr lang="en-US" sz="1240" b="1" dirty="0">
                <a:solidFill>
                  <a:srgbClr val="FFFFFF"/>
                </a:solidFill>
                <a:latin typeface="Arial" pitchFamily="34" charset="0"/>
                <a:ea typeface="Arial" pitchFamily="34" charset="-122"/>
                <a:cs typeface="Arial" pitchFamily="34" charset="-120"/>
              </a:rPr>
              <a:t>Qualified source release</a:t>
            </a:r>
            <a:endParaRPr lang="en-US" sz="1240" dirty="0"/>
          </a:p>
        </p:txBody>
      </p:sp>
      <p:sp>
        <p:nvSpPr>
          <p:cNvPr id="30" name="Shape 28"/>
          <p:cNvSpPr/>
          <p:nvPr/>
        </p:nvSpPr>
        <p:spPr>
          <a:xfrm>
            <a:off x="3200400" y="2578608"/>
            <a:ext cx="2651760" cy="3529584"/>
          </a:xfrm>
          <a:prstGeom prst="rect">
            <a:avLst/>
          </a:prstGeom>
          <a:solidFill>
            <a:srgbClr val="EFF4FA"/>
          </a:solidFill>
          <a:ln w="9525">
            <a:solidFill>
              <a:srgbClr val="CBD6DF"/>
            </a:solidFill>
            <a:prstDash val="solid"/>
          </a:ln>
        </p:spPr>
        <p:txBody>
          <a:bodyPr/>
          <a:lstStyle/>
          <a:p>
            <a:endParaRPr lang="en-US"/>
          </a:p>
        </p:txBody>
      </p:sp>
      <p:sp>
        <p:nvSpPr>
          <p:cNvPr id="31" name="Shape 29"/>
          <p:cNvSpPr/>
          <p:nvPr/>
        </p:nvSpPr>
        <p:spPr>
          <a:xfrm>
            <a:off x="3200400" y="2578608"/>
            <a:ext cx="86868" cy="3529584"/>
          </a:xfrm>
          <a:prstGeom prst="rect">
            <a:avLst/>
          </a:prstGeom>
          <a:solidFill>
            <a:srgbClr val="315F9C"/>
          </a:solidFill>
          <a:ln w="10160">
            <a:solidFill>
              <a:srgbClr val="315F9C"/>
            </a:solidFill>
            <a:prstDash val="solid"/>
          </a:ln>
        </p:spPr>
        <p:txBody>
          <a:bodyPr/>
          <a:lstStyle/>
          <a:p>
            <a:endParaRPr lang="en-US"/>
          </a:p>
        </p:txBody>
      </p:sp>
      <p:sp>
        <p:nvSpPr>
          <p:cNvPr id="32" name="Shape 30"/>
          <p:cNvSpPr/>
          <p:nvPr/>
        </p:nvSpPr>
        <p:spPr>
          <a:xfrm>
            <a:off x="3200400" y="2578608"/>
            <a:ext cx="2651760" cy="105156"/>
          </a:xfrm>
          <a:prstGeom prst="rect">
            <a:avLst/>
          </a:prstGeom>
          <a:solidFill>
            <a:srgbClr val="315F9C"/>
          </a:solidFill>
          <a:ln w="10160">
            <a:solidFill>
              <a:srgbClr val="315F9C"/>
            </a:solidFill>
            <a:prstDash val="solid"/>
          </a:ln>
        </p:spPr>
        <p:txBody>
          <a:bodyPr/>
          <a:lstStyle/>
          <a:p>
            <a:endParaRPr lang="en-US"/>
          </a:p>
        </p:txBody>
      </p:sp>
      <p:sp>
        <p:nvSpPr>
          <p:cNvPr id="33" name="Shape 31"/>
          <p:cNvSpPr/>
          <p:nvPr/>
        </p:nvSpPr>
        <p:spPr>
          <a:xfrm>
            <a:off x="3337560" y="2363724"/>
            <a:ext cx="438912" cy="438912"/>
          </a:xfrm>
          <a:prstGeom prst="ellipse">
            <a:avLst/>
          </a:prstGeom>
          <a:solidFill>
            <a:srgbClr val="315F9C"/>
          </a:solidFill>
          <a:ln w="22860">
            <a:solidFill>
              <a:srgbClr val="FFFFFF"/>
            </a:solidFill>
            <a:prstDash val="solid"/>
          </a:ln>
        </p:spPr>
        <p:txBody>
          <a:bodyPr/>
          <a:lstStyle/>
          <a:p>
            <a:endParaRPr lang="en-US"/>
          </a:p>
        </p:txBody>
      </p:sp>
      <p:sp>
        <p:nvSpPr>
          <p:cNvPr id="34" name="Text 32"/>
          <p:cNvSpPr/>
          <p:nvPr/>
        </p:nvSpPr>
        <p:spPr>
          <a:xfrm>
            <a:off x="3337560" y="2363724"/>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35" name="Text 33"/>
          <p:cNvSpPr/>
          <p:nvPr/>
        </p:nvSpPr>
        <p:spPr>
          <a:xfrm>
            <a:off x="3438144" y="2871216"/>
            <a:ext cx="2267712" cy="557784"/>
          </a:xfrm>
          <a:prstGeom prst="rect">
            <a:avLst/>
          </a:prstGeom>
          <a:noFill/>
          <a:ln/>
        </p:spPr>
        <p:txBody>
          <a:bodyPr wrap="square" lIns="0" tIns="0" rIns="0" bIns="0" rtlCol="0" anchor="t"/>
          <a:lstStyle/>
          <a:p>
            <a:pPr>
              <a:lnSpc>
                <a:spcPct val="104000"/>
              </a:lnSpc>
            </a:pPr>
            <a:r>
              <a:rPr lang="en-US" b="1" dirty="0">
                <a:solidFill>
                  <a:srgbClr val="3C6591"/>
                </a:solidFill>
                <a:latin typeface="Arial" pitchFamily="34" charset="0"/>
                <a:ea typeface="Arial" pitchFamily="34" charset="-122"/>
                <a:cs typeface="Arial" pitchFamily="34" charset="-120"/>
              </a:rPr>
              <a:t>CORE DATA PRODUCTS</a:t>
            </a:r>
            <a:endParaRPr lang="en-US" dirty="0"/>
          </a:p>
        </p:txBody>
      </p:sp>
      <p:sp>
        <p:nvSpPr>
          <p:cNvPr id="36" name="Text 34"/>
          <p:cNvSpPr/>
          <p:nvPr/>
        </p:nvSpPr>
        <p:spPr>
          <a:xfrm>
            <a:off x="3438144" y="3493008"/>
            <a:ext cx="2258568" cy="256032"/>
          </a:xfrm>
          <a:prstGeom prst="rect">
            <a:avLst/>
          </a:prstGeom>
          <a:noFill/>
          <a:ln/>
        </p:spPr>
        <p:txBody>
          <a:bodyPr wrap="square" lIns="0" tIns="0" rIns="0" bIns="0" rtlCol="0" anchor="t"/>
          <a:lstStyle/>
          <a:p>
            <a:pPr marL="0" indent="0">
              <a:buNone/>
            </a:pPr>
            <a:r>
              <a:rPr lang="en-US" sz="1240" dirty="0">
                <a:solidFill>
                  <a:srgbClr val="52667A"/>
                </a:solidFill>
                <a:latin typeface="Arial" pitchFamily="34" charset="0"/>
                <a:ea typeface="Arial" pitchFamily="34" charset="-122"/>
                <a:cs typeface="Arial" pitchFamily="34" charset="-120"/>
              </a:rPr>
              <a:t>Reusable across indications</a:t>
            </a:r>
            <a:endParaRPr lang="en-US" sz="1240" dirty="0"/>
          </a:p>
        </p:txBody>
      </p:sp>
      <p:sp>
        <p:nvSpPr>
          <p:cNvPr id="37" name="Shape 35"/>
          <p:cNvSpPr/>
          <p:nvPr/>
        </p:nvSpPr>
        <p:spPr>
          <a:xfrm>
            <a:off x="3447288" y="3968496"/>
            <a:ext cx="41148" cy="41148"/>
          </a:xfrm>
          <a:prstGeom prst="ellipse">
            <a:avLst/>
          </a:prstGeom>
          <a:solidFill>
            <a:srgbClr val="315F9C"/>
          </a:solidFill>
          <a:ln w="12700">
            <a:solidFill>
              <a:srgbClr val="315F9C"/>
            </a:solidFill>
            <a:prstDash val="solid"/>
          </a:ln>
        </p:spPr>
        <p:txBody>
          <a:bodyPr/>
          <a:lstStyle/>
          <a:p>
            <a:endParaRPr lang="en-US"/>
          </a:p>
        </p:txBody>
      </p:sp>
      <p:sp>
        <p:nvSpPr>
          <p:cNvPr id="38" name="Text 36"/>
          <p:cNvSpPr/>
          <p:nvPr/>
        </p:nvSpPr>
        <p:spPr>
          <a:xfrm>
            <a:off x="3566160" y="3877056"/>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Patient / observation</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profiles</a:t>
            </a:r>
            <a:endParaRPr lang="en-US" sz="1320" dirty="0"/>
          </a:p>
        </p:txBody>
      </p:sp>
      <p:sp>
        <p:nvSpPr>
          <p:cNvPr id="39" name="Shape 37"/>
          <p:cNvSpPr/>
          <p:nvPr/>
        </p:nvSpPr>
        <p:spPr>
          <a:xfrm>
            <a:off x="3447288" y="4471416"/>
            <a:ext cx="41148" cy="41148"/>
          </a:xfrm>
          <a:prstGeom prst="ellipse">
            <a:avLst/>
          </a:prstGeom>
          <a:solidFill>
            <a:srgbClr val="315F9C"/>
          </a:solidFill>
          <a:ln w="12700">
            <a:solidFill>
              <a:srgbClr val="315F9C"/>
            </a:solidFill>
            <a:prstDash val="solid"/>
          </a:ln>
        </p:spPr>
        <p:txBody>
          <a:bodyPr/>
          <a:lstStyle/>
          <a:p>
            <a:endParaRPr lang="en-US"/>
          </a:p>
        </p:txBody>
      </p:sp>
      <p:sp>
        <p:nvSpPr>
          <p:cNvPr id="40" name="Text 38"/>
          <p:cNvSpPr/>
          <p:nvPr/>
        </p:nvSpPr>
        <p:spPr>
          <a:xfrm>
            <a:off x="3566160" y="4379976"/>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Dated measurement and</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treatment-event datasets</a:t>
            </a:r>
            <a:endParaRPr lang="en-US" sz="1320" dirty="0"/>
          </a:p>
        </p:txBody>
      </p:sp>
      <p:sp>
        <p:nvSpPr>
          <p:cNvPr id="41" name="Shape 39"/>
          <p:cNvSpPr/>
          <p:nvPr/>
        </p:nvSpPr>
        <p:spPr>
          <a:xfrm>
            <a:off x="3447288" y="4974336"/>
            <a:ext cx="41148" cy="41148"/>
          </a:xfrm>
          <a:prstGeom prst="ellipse">
            <a:avLst/>
          </a:prstGeom>
          <a:solidFill>
            <a:srgbClr val="315F9C"/>
          </a:solidFill>
          <a:ln w="12700">
            <a:solidFill>
              <a:srgbClr val="315F9C"/>
            </a:solidFill>
            <a:prstDash val="solid"/>
          </a:ln>
        </p:spPr>
        <p:txBody>
          <a:bodyPr/>
          <a:lstStyle/>
          <a:p>
            <a:endParaRPr lang="en-US"/>
          </a:p>
        </p:txBody>
      </p:sp>
      <p:sp>
        <p:nvSpPr>
          <p:cNvPr id="42" name="Text 40"/>
          <p:cNvSpPr/>
          <p:nvPr/>
        </p:nvSpPr>
        <p:spPr>
          <a:xfrm>
            <a:off x="3566160" y="4882896"/>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Clinical concept / code-set</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reference products</a:t>
            </a:r>
            <a:endParaRPr lang="en-US" sz="1320" dirty="0"/>
          </a:p>
        </p:txBody>
      </p:sp>
      <p:sp>
        <p:nvSpPr>
          <p:cNvPr id="43" name="Shape 41"/>
          <p:cNvSpPr/>
          <p:nvPr/>
        </p:nvSpPr>
        <p:spPr>
          <a:xfrm>
            <a:off x="3374136" y="5596128"/>
            <a:ext cx="2322576" cy="374904"/>
          </a:xfrm>
          <a:prstGeom prst="roundRect">
            <a:avLst>
              <a:gd name="adj" fmla="val 9756"/>
            </a:avLst>
          </a:prstGeom>
          <a:solidFill>
            <a:srgbClr val="315F9C"/>
          </a:solidFill>
          <a:ln w="5080">
            <a:solidFill>
              <a:srgbClr val="315F9C"/>
            </a:solidFill>
            <a:prstDash val="solid"/>
          </a:ln>
        </p:spPr>
        <p:txBody>
          <a:bodyPr/>
          <a:lstStyle/>
          <a:p>
            <a:endParaRPr lang="en-US"/>
          </a:p>
        </p:txBody>
      </p:sp>
      <p:sp>
        <p:nvSpPr>
          <p:cNvPr id="44" name="Text 42"/>
          <p:cNvSpPr/>
          <p:nvPr/>
        </p:nvSpPr>
        <p:spPr>
          <a:xfrm>
            <a:off x="3108961" y="5648706"/>
            <a:ext cx="2825495" cy="233172"/>
          </a:xfrm>
          <a:prstGeom prst="rect">
            <a:avLst/>
          </a:prstGeom>
          <a:noFill/>
          <a:ln/>
        </p:spPr>
        <p:txBody>
          <a:bodyPr wrap="square" lIns="0" tIns="0" rIns="0" bIns="0" rtlCol="0" anchor="ctr"/>
          <a:lstStyle/>
          <a:p>
            <a:pPr marL="0" indent="0" algn="ctr">
              <a:buNone/>
            </a:pPr>
            <a:r>
              <a:rPr lang="en-US" sz="1240" b="1" dirty="0">
                <a:solidFill>
                  <a:srgbClr val="FFFFFF"/>
                </a:solidFill>
                <a:latin typeface="Arial" pitchFamily="34" charset="0"/>
                <a:ea typeface="Arial" pitchFamily="34" charset="-122"/>
                <a:cs typeface="Arial" pitchFamily="34" charset="-120"/>
              </a:rPr>
              <a:t>Reusable domain records</a:t>
            </a:r>
          </a:p>
        </p:txBody>
      </p:sp>
      <p:sp>
        <p:nvSpPr>
          <p:cNvPr id="45" name="Shape 43"/>
          <p:cNvSpPr/>
          <p:nvPr/>
        </p:nvSpPr>
        <p:spPr>
          <a:xfrm>
            <a:off x="5989320" y="2368296"/>
            <a:ext cx="2651760" cy="3739896"/>
          </a:xfrm>
          <a:prstGeom prst="rect">
            <a:avLst/>
          </a:prstGeom>
          <a:solidFill>
            <a:srgbClr val="ECF6F5"/>
          </a:solidFill>
          <a:ln w="9525">
            <a:solidFill>
              <a:srgbClr val="CBD6DF"/>
            </a:solidFill>
            <a:prstDash val="solid"/>
          </a:ln>
        </p:spPr>
        <p:txBody>
          <a:bodyPr/>
          <a:lstStyle/>
          <a:p>
            <a:endParaRPr lang="en-US"/>
          </a:p>
        </p:txBody>
      </p:sp>
      <p:sp>
        <p:nvSpPr>
          <p:cNvPr id="46" name="Shape 44"/>
          <p:cNvSpPr/>
          <p:nvPr/>
        </p:nvSpPr>
        <p:spPr>
          <a:xfrm>
            <a:off x="5989320" y="2368296"/>
            <a:ext cx="86868" cy="3739896"/>
          </a:xfrm>
          <a:prstGeom prst="rect">
            <a:avLst/>
          </a:prstGeom>
          <a:solidFill>
            <a:srgbClr val="087F86"/>
          </a:solidFill>
          <a:ln w="10160">
            <a:solidFill>
              <a:srgbClr val="087F86"/>
            </a:solidFill>
            <a:prstDash val="solid"/>
          </a:ln>
        </p:spPr>
        <p:txBody>
          <a:bodyPr/>
          <a:lstStyle/>
          <a:p>
            <a:endParaRPr lang="en-US"/>
          </a:p>
        </p:txBody>
      </p:sp>
      <p:sp>
        <p:nvSpPr>
          <p:cNvPr id="47" name="Shape 45"/>
          <p:cNvSpPr/>
          <p:nvPr/>
        </p:nvSpPr>
        <p:spPr>
          <a:xfrm>
            <a:off x="5989320" y="2368296"/>
            <a:ext cx="2651760" cy="105156"/>
          </a:xfrm>
          <a:prstGeom prst="rect">
            <a:avLst/>
          </a:prstGeom>
          <a:solidFill>
            <a:srgbClr val="087F86"/>
          </a:solidFill>
          <a:ln w="10160">
            <a:solidFill>
              <a:srgbClr val="087F86"/>
            </a:solidFill>
            <a:prstDash val="solid"/>
          </a:ln>
        </p:spPr>
        <p:txBody>
          <a:bodyPr/>
          <a:lstStyle/>
          <a:p>
            <a:endParaRPr lang="en-US"/>
          </a:p>
        </p:txBody>
      </p:sp>
      <p:sp>
        <p:nvSpPr>
          <p:cNvPr id="48" name="Shape 46"/>
          <p:cNvSpPr/>
          <p:nvPr/>
        </p:nvSpPr>
        <p:spPr>
          <a:xfrm>
            <a:off x="6126480" y="2153412"/>
            <a:ext cx="438912" cy="438912"/>
          </a:xfrm>
          <a:prstGeom prst="ellipse">
            <a:avLst/>
          </a:prstGeom>
          <a:solidFill>
            <a:srgbClr val="087F86"/>
          </a:solidFill>
          <a:ln w="22860">
            <a:solidFill>
              <a:srgbClr val="FFFFFF"/>
            </a:solidFill>
            <a:prstDash val="solid"/>
          </a:ln>
        </p:spPr>
        <p:txBody>
          <a:bodyPr/>
          <a:lstStyle/>
          <a:p>
            <a:endParaRPr lang="en-US"/>
          </a:p>
        </p:txBody>
      </p:sp>
      <p:sp>
        <p:nvSpPr>
          <p:cNvPr id="49" name="Text 47"/>
          <p:cNvSpPr/>
          <p:nvPr/>
        </p:nvSpPr>
        <p:spPr>
          <a:xfrm>
            <a:off x="6126480" y="2153412"/>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50" name="Text 48"/>
          <p:cNvSpPr/>
          <p:nvPr/>
        </p:nvSpPr>
        <p:spPr>
          <a:xfrm>
            <a:off x="6227064" y="2660904"/>
            <a:ext cx="2267712" cy="557784"/>
          </a:xfrm>
          <a:prstGeom prst="rect">
            <a:avLst/>
          </a:prstGeom>
          <a:noFill/>
          <a:ln/>
        </p:spPr>
        <p:txBody>
          <a:bodyPr wrap="square" lIns="0" tIns="0" rIns="0" bIns="0" rtlCol="0" anchor="t"/>
          <a:lstStyle/>
          <a:p>
            <a:pPr marL="0" indent="0">
              <a:buNone/>
            </a:pPr>
            <a:r>
              <a:rPr lang="en-US" sz="1780" b="1" dirty="0">
                <a:solidFill>
                  <a:srgbClr val="087F86"/>
                </a:solidFill>
                <a:latin typeface="Arial" pitchFamily="34" charset="0"/>
                <a:ea typeface="Arial" pitchFamily="34" charset="-122"/>
                <a:cs typeface="Arial" pitchFamily="34" charset="-120"/>
              </a:rPr>
              <a:t>DISEASE / ASSET</a:t>
            </a:r>
            <a:endParaRPr lang="en-US" sz="1780" dirty="0"/>
          </a:p>
          <a:p>
            <a:pPr marL="0" indent="0">
              <a:buNone/>
            </a:pPr>
            <a:r>
              <a:rPr lang="en-US" sz="1780" b="1" dirty="0">
                <a:solidFill>
                  <a:srgbClr val="087F86"/>
                </a:solidFill>
                <a:latin typeface="Arial" pitchFamily="34" charset="0"/>
                <a:ea typeface="Arial" pitchFamily="34" charset="-122"/>
                <a:cs typeface="Arial" pitchFamily="34" charset="-120"/>
              </a:rPr>
              <a:t>DATA PRODUCTS</a:t>
            </a:r>
            <a:endParaRPr lang="en-US" sz="1780" dirty="0"/>
          </a:p>
        </p:txBody>
      </p:sp>
      <p:sp>
        <p:nvSpPr>
          <p:cNvPr id="51" name="Text 49"/>
          <p:cNvSpPr/>
          <p:nvPr/>
        </p:nvSpPr>
        <p:spPr>
          <a:xfrm>
            <a:off x="6227064" y="3282696"/>
            <a:ext cx="2258568" cy="256032"/>
          </a:xfrm>
          <a:prstGeom prst="rect">
            <a:avLst/>
          </a:prstGeom>
          <a:noFill/>
          <a:ln/>
        </p:spPr>
        <p:txBody>
          <a:bodyPr wrap="square" lIns="0" tIns="0" rIns="0" bIns="0" rtlCol="0" anchor="t"/>
          <a:lstStyle/>
          <a:p>
            <a:pPr marL="0" indent="0">
              <a:buNone/>
            </a:pPr>
            <a:r>
              <a:rPr lang="en-US" sz="1240" dirty="0">
                <a:solidFill>
                  <a:srgbClr val="52667A"/>
                </a:solidFill>
                <a:latin typeface="Arial" pitchFamily="34" charset="0"/>
                <a:ea typeface="Arial" pitchFamily="34" charset="-122"/>
                <a:cs typeface="Arial" pitchFamily="34" charset="-120"/>
              </a:rPr>
              <a:t>Specialise reusable content</a:t>
            </a:r>
            <a:endParaRPr lang="en-US" sz="1240" dirty="0"/>
          </a:p>
        </p:txBody>
      </p:sp>
      <p:sp>
        <p:nvSpPr>
          <p:cNvPr id="52" name="Shape 50"/>
          <p:cNvSpPr/>
          <p:nvPr/>
        </p:nvSpPr>
        <p:spPr>
          <a:xfrm>
            <a:off x="6236208" y="3758184"/>
            <a:ext cx="41148" cy="41148"/>
          </a:xfrm>
          <a:prstGeom prst="ellipse">
            <a:avLst/>
          </a:prstGeom>
          <a:solidFill>
            <a:srgbClr val="087F86"/>
          </a:solidFill>
          <a:ln w="12700">
            <a:solidFill>
              <a:srgbClr val="087F86"/>
            </a:solidFill>
            <a:prstDash val="solid"/>
          </a:ln>
        </p:spPr>
        <p:txBody>
          <a:bodyPr/>
          <a:lstStyle/>
          <a:p>
            <a:endParaRPr lang="en-US"/>
          </a:p>
        </p:txBody>
      </p:sp>
      <p:sp>
        <p:nvSpPr>
          <p:cNvPr id="53" name="Text 51"/>
          <p:cNvSpPr/>
          <p:nvPr/>
        </p:nvSpPr>
        <p:spPr>
          <a:xfrm>
            <a:off x="6355080" y="3666744"/>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Disease state, biomarkers,</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treatment journey / LOT</a:t>
            </a:r>
            <a:endParaRPr lang="en-US" sz="1320" dirty="0"/>
          </a:p>
        </p:txBody>
      </p:sp>
      <p:sp>
        <p:nvSpPr>
          <p:cNvPr id="54" name="Shape 52"/>
          <p:cNvSpPr/>
          <p:nvPr/>
        </p:nvSpPr>
        <p:spPr>
          <a:xfrm>
            <a:off x="6236208" y="4261104"/>
            <a:ext cx="41148" cy="41148"/>
          </a:xfrm>
          <a:prstGeom prst="ellipse">
            <a:avLst/>
          </a:prstGeom>
          <a:solidFill>
            <a:srgbClr val="087F86"/>
          </a:solidFill>
          <a:ln w="12700">
            <a:solidFill>
              <a:srgbClr val="087F86"/>
            </a:solidFill>
            <a:prstDash val="solid"/>
          </a:ln>
        </p:spPr>
        <p:txBody>
          <a:bodyPr/>
          <a:lstStyle/>
          <a:p>
            <a:endParaRPr lang="en-US"/>
          </a:p>
        </p:txBody>
      </p:sp>
      <p:sp>
        <p:nvSpPr>
          <p:cNvPr id="55" name="Text 53"/>
          <p:cNvSpPr/>
          <p:nvPr/>
        </p:nvSpPr>
        <p:spPr>
          <a:xfrm>
            <a:off x="6355080" y="4169664"/>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Progression / response;</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retain source and method</a:t>
            </a:r>
            <a:endParaRPr lang="en-US" sz="1320" dirty="0"/>
          </a:p>
        </p:txBody>
      </p:sp>
      <p:sp>
        <p:nvSpPr>
          <p:cNvPr id="56" name="Shape 54"/>
          <p:cNvSpPr/>
          <p:nvPr/>
        </p:nvSpPr>
        <p:spPr>
          <a:xfrm>
            <a:off x="6236208" y="4764024"/>
            <a:ext cx="41148" cy="41148"/>
          </a:xfrm>
          <a:prstGeom prst="ellipse">
            <a:avLst/>
          </a:prstGeom>
          <a:solidFill>
            <a:srgbClr val="087F86"/>
          </a:solidFill>
          <a:ln w="12700">
            <a:solidFill>
              <a:srgbClr val="087F86"/>
            </a:solidFill>
            <a:prstDash val="solid"/>
          </a:ln>
        </p:spPr>
        <p:txBody>
          <a:bodyPr/>
          <a:lstStyle/>
          <a:p>
            <a:endParaRPr lang="en-US"/>
          </a:p>
        </p:txBody>
      </p:sp>
      <p:sp>
        <p:nvSpPr>
          <p:cNvPr id="57" name="Text 55"/>
          <p:cNvSpPr/>
          <p:nvPr/>
        </p:nvSpPr>
        <p:spPr>
          <a:xfrm>
            <a:off x="6355080" y="4672584"/>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Derived views/endpoints with explicit assumptions</a:t>
            </a:r>
            <a:endParaRPr lang="en-US" sz="1320" dirty="0"/>
          </a:p>
        </p:txBody>
      </p:sp>
      <p:sp>
        <p:nvSpPr>
          <p:cNvPr id="58" name="Shape 56"/>
          <p:cNvSpPr/>
          <p:nvPr/>
        </p:nvSpPr>
        <p:spPr>
          <a:xfrm>
            <a:off x="6163056" y="5596128"/>
            <a:ext cx="2322576" cy="374904"/>
          </a:xfrm>
          <a:prstGeom prst="roundRect">
            <a:avLst>
              <a:gd name="adj" fmla="val 9756"/>
            </a:avLst>
          </a:prstGeom>
          <a:solidFill>
            <a:srgbClr val="087F86"/>
          </a:solidFill>
          <a:ln w="5080">
            <a:solidFill>
              <a:srgbClr val="087F86"/>
            </a:solidFill>
            <a:prstDash val="solid"/>
          </a:ln>
        </p:spPr>
        <p:txBody>
          <a:bodyPr/>
          <a:lstStyle/>
          <a:p>
            <a:endParaRPr lang="en-US"/>
          </a:p>
        </p:txBody>
      </p:sp>
      <p:sp>
        <p:nvSpPr>
          <p:cNvPr id="59" name="Text 57"/>
          <p:cNvSpPr/>
          <p:nvPr/>
        </p:nvSpPr>
        <p:spPr>
          <a:xfrm>
            <a:off x="6236208" y="5655564"/>
            <a:ext cx="2176272" cy="219456"/>
          </a:xfrm>
          <a:prstGeom prst="rect">
            <a:avLst/>
          </a:prstGeom>
          <a:noFill/>
          <a:ln/>
        </p:spPr>
        <p:txBody>
          <a:bodyPr wrap="square" lIns="0" tIns="0" rIns="0" bIns="0" rtlCol="0" anchor="ctr"/>
          <a:lstStyle/>
          <a:p>
            <a:pPr marL="0" indent="0" algn="ctr">
              <a:buNone/>
            </a:pPr>
            <a:r>
              <a:rPr lang="en-US" sz="1240" b="1" dirty="0">
                <a:solidFill>
                  <a:srgbClr val="FFFFFF"/>
                </a:solidFill>
                <a:latin typeface="Arial" pitchFamily="34" charset="0"/>
                <a:ea typeface="Arial" pitchFamily="34" charset="-122"/>
                <a:cs typeface="Arial" pitchFamily="34" charset="-120"/>
              </a:rPr>
              <a:t>Released domain product</a:t>
            </a:r>
            <a:endParaRPr lang="en-US" sz="1240" dirty="0"/>
          </a:p>
        </p:txBody>
      </p:sp>
      <p:sp>
        <p:nvSpPr>
          <p:cNvPr id="60" name="Shape 58"/>
          <p:cNvSpPr/>
          <p:nvPr/>
        </p:nvSpPr>
        <p:spPr>
          <a:xfrm>
            <a:off x="8778240" y="2157984"/>
            <a:ext cx="2651760" cy="3950208"/>
          </a:xfrm>
          <a:prstGeom prst="rect">
            <a:avLst/>
          </a:prstGeom>
          <a:solidFill>
            <a:srgbClr val="F0F6F2"/>
          </a:solidFill>
          <a:ln w="9525">
            <a:solidFill>
              <a:srgbClr val="CBD6DF"/>
            </a:solidFill>
            <a:prstDash val="solid"/>
          </a:ln>
        </p:spPr>
        <p:txBody>
          <a:bodyPr/>
          <a:lstStyle/>
          <a:p>
            <a:endParaRPr lang="en-US"/>
          </a:p>
        </p:txBody>
      </p:sp>
      <p:sp>
        <p:nvSpPr>
          <p:cNvPr id="61" name="Shape 59"/>
          <p:cNvSpPr/>
          <p:nvPr/>
        </p:nvSpPr>
        <p:spPr>
          <a:xfrm>
            <a:off x="8778240" y="2157984"/>
            <a:ext cx="86868" cy="3950208"/>
          </a:xfrm>
          <a:prstGeom prst="rect">
            <a:avLst/>
          </a:prstGeom>
          <a:solidFill>
            <a:srgbClr val="28745E"/>
          </a:solidFill>
          <a:ln w="10160">
            <a:solidFill>
              <a:srgbClr val="28745E"/>
            </a:solidFill>
            <a:prstDash val="solid"/>
          </a:ln>
        </p:spPr>
        <p:txBody>
          <a:bodyPr/>
          <a:lstStyle/>
          <a:p>
            <a:endParaRPr lang="en-US"/>
          </a:p>
        </p:txBody>
      </p:sp>
      <p:sp>
        <p:nvSpPr>
          <p:cNvPr id="62" name="Shape 60"/>
          <p:cNvSpPr/>
          <p:nvPr/>
        </p:nvSpPr>
        <p:spPr>
          <a:xfrm>
            <a:off x="8778240" y="2157984"/>
            <a:ext cx="2651760" cy="105156"/>
          </a:xfrm>
          <a:prstGeom prst="rect">
            <a:avLst/>
          </a:prstGeom>
          <a:solidFill>
            <a:srgbClr val="28745E"/>
          </a:solidFill>
          <a:ln w="10160">
            <a:solidFill>
              <a:srgbClr val="28745E"/>
            </a:solidFill>
            <a:prstDash val="solid"/>
          </a:ln>
        </p:spPr>
        <p:txBody>
          <a:bodyPr/>
          <a:lstStyle/>
          <a:p>
            <a:endParaRPr lang="en-US"/>
          </a:p>
        </p:txBody>
      </p:sp>
      <p:sp>
        <p:nvSpPr>
          <p:cNvPr id="63" name="Shape 61"/>
          <p:cNvSpPr/>
          <p:nvPr/>
        </p:nvSpPr>
        <p:spPr>
          <a:xfrm>
            <a:off x="8915400" y="1943100"/>
            <a:ext cx="438912" cy="438912"/>
          </a:xfrm>
          <a:prstGeom prst="ellipse">
            <a:avLst/>
          </a:prstGeom>
          <a:solidFill>
            <a:srgbClr val="28745E"/>
          </a:solidFill>
          <a:ln w="22860">
            <a:solidFill>
              <a:srgbClr val="FFFFFF"/>
            </a:solidFill>
            <a:prstDash val="solid"/>
          </a:ln>
        </p:spPr>
        <p:txBody>
          <a:bodyPr/>
          <a:lstStyle/>
          <a:p>
            <a:endParaRPr lang="en-US"/>
          </a:p>
        </p:txBody>
      </p:sp>
      <p:sp>
        <p:nvSpPr>
          <p:cNvPr id="64" name="Text 62"/>
          <p:cNvSpPr/>
          <p:nvPr/>
        </p:nvSpPr>
        <p:spPr>
          <a:xfrm>
            <a:off x="8915400" y="1943100"/>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65" name="Text 63"/>
          <p:cNvSpPr/>
          <p:nvPr/>
        </p:nvSpPr>
        <p:spPr>
          <a:xfrm>
            <a:off x="9015984" y="2450592"/>
            <a:ext cx="2267712" cy="557784"/>
          </a:xfrm>
          <a:prstGeom prst="rect">
            <a:avLst/>
          </a:prstGeom>
          <a:noFill/>
          <a:ln/>
        </p:spPr>
        <p:txBody>
          <a:bodyPr wrap="square" lIns="0" tIns="0" rIns="0" bIns="0" rtlCol="0" anchor="t"/>
          <a:lstStyle/>
          <a:p>
            <a:pPr marL="0" indent="0">
              <a:buNone/>
            </a:pPr>
            <a:r>
              <a:rPr lang="en-US" sz="1780" b="1" dirty="0">
                <a:solidFill>
                  <a:srgbClr val="28745E"/>
                </a:solidFill>
                <a:latin typeface="Arial" pitchFamily="34" charset="0"/>
                <a:ea typeface="Arial" pitchFamily="34" charset="-122"/>
                <a:cs typeface="Arial" pitchFamily="34" charset="-120"/>
              </a:rPr>
              <a:t>STUDY DATASET</a:t>
            </a:r>
            <a:endParaRPr lang="en-US" sz="1780" dirty="0"/>
          </a:p>
          <a:p>
            <a:pPr marL="0" indent="0">
              <a:buNone/>
            </a:pPr>
            <a:r>
              <a:rPr lang="en-US" sz="1780" b="1" dirty="0">
                <a:solidFill>
                  <a:srgbClr val="28745E"/>
                </a:solidFill>
                <a:latin typeface="Arial" pitchFamily="34" charset="0"/>
                <a:ea typeface="Arial" pitchFamily="34" charset="-122"/>
                <a:cs typeface="Arial" pitchFamily="34" charset="-120"/>
              </a:rPr>
              <a:t>ASSEMBLY</a:t>
            </a:r>
            <a:endParaRPr lang="en-US" sz="1780" dirty="0"/>
          </a:p>
        </p:txBody>
      </p:sp>
      <p:sp>
        <p:nvSpPr>
          <p:cNvPr id="66" name="Text 64"/>
          <p:cNvSpPr/>
          <p:nvPr/>
        </p:nvSpPr>
        <p:spPr>
          <a:xfrm>
            <a:off x="9015984" y="3072384"/>
            <a:ext cx="2258568" cy="256032"/>
          </a:xfrm>
          <a:prstGeom prst="rect">
            <a:avLst/>
          </a:prstGeom>
          <a:noFill/>
          <a:ln/>
        </p:spPr>
        <p:txBody>
          <a:bodyPr wrap="square" lIns="0" tIns="0" rIns="0" bIns="0" rtlCol="0" anchor="t"/>
          <a:lstStyle/>
          <a:p>
            <a:pPr marL="0" indent="0">
              <a:buNone/>
            </a:pPr>
            <a:r>
              <a:rPr lang="en-US" sz="1240" dirty="0">
                <a:solidFill>
                  <a:srgbClr val="52667A"/>
                </a:solidFill>
                <a:latin typeface="Arial" pitchFamily="34" charset="0"/>
                <a:ea typeface="Arial" pitchFamily="34" charset="-122"/>
                <a:cs typeface="Arial" pitchFamily="34" charset="-120"/>
              </a:rPr>
              <a:t>Apply approved study design</a:t>
            </a:r>
            <a:endParaRPr lang="en-US" sz="1240" dirty="0"/>
          </a:p>
        </p:txBody>
      </p:sp>
      <p:sp>
        <p:nvSpPr>
          <p:cNvPr id="67" name="Shape 65"/>
          <p:cNvSpPr/>
          <p:nvPr/>
        </p:nvSpPr>
        <p:spPr>
          <a:xfrm>
            <a:off x="9025128" y="3547872"/>
            <a:ext cx="41148" cy="41148"/>
          </a:xfrm>
          <a:prstGeom prst="ellipse">
            <a:avLst/>
          </a:prstGeom>
          <a:solidFill>
            <a:srgbClr val="28745E"/>
          </a:solidFill>
          <a:ln w="12700">
            <a:solidFill>
              <a:srgbClr val="28745E"/>
            </a:solidFill>
            <a:prstDash val="solid"/>
          </a:ln>
        </p:spPr>
        <p:txBody>
          <a:bodyPr/>
          <a:lstStyle/>
          <a:p>
            <a:endParaRPr lang="en-US"/>
          </a:p>
        </p:txBody>
      </p:sp>
      <p:sp>
        <p:nvSpPr>
          <p:cNvPr id="68" name="Text 66"/>
          <p:cNvSpPr/>
          <p:nvPr/>
        </p:nvSpPr>
        <p:spPr>
          <a:xfrm>
            <a:off x="9144000" y="3456432"/>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Confirm fitness for purpose</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and pin product versions</a:t>
            </a:r>
            <a:endParaRPr lang="en-US" sz="1320" dirty="0"/>
          </a:p>
        </p:txBody>
      </p:sp>
      <p:sp>
        <p:nvSpPr>
          <p:cNvPr id="69" name="Shape 67"/>
          <p:cNvSpPr/>
          <p:nvPr/>
        </p:nvSpPr>
        <p:spPr>
          <a:xfrm>
            <a:off x="9025128" y="4050792"/>
            <a:ext cx="41148" cy="41148"/>
          </a:xfrm>
          <a:prstGeom prst="ellipse">
            <a:avLst/>
          </a:prstGeom>
          <a:solidFill>
            <a:srgbClr val="28745E"/>
          </a:solidFill>
          <a:ln w="12700">
            <a:solidFill>
              <a:srgbClr val="28745E"/>
            </a:solidFill>
            <a:prstDash val="solid"/>
          </a:ln>
        </p:spPr>
        <p:txBody>
          <a:bodyPr/>
          <a:lstStyle/>
          <a:p>
            <a:endParaRPr lang="en-US"/>
          </a:p>
        </p:txBody>
      </p:sp>
      <p:sp>
        <p:nvSpPr>
          <p:cNvPr id="70" name="Text 68"/>
          <p:cNvSpPr/>
          <p:nvPr/>
        </p:nvSpPr>
        <p:spPr>
          <a:xfrm>
            <a:off x="9144000" y="3959352"/>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Population, index, baseline</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and covariates</a:t>
            </a:r>
            <a:endParaRPr lang="en-US" sz="1320" dirty="0"/>
          </a:p>
        </p:txBody>
      </p:sp>
      <p:sp>
        <p:nvSpPr>
          <p:cNvPr id="71" name="Shape 69"/>
          <p:cNvSpPr/>
          <p:nvPr/>
        </p:nvSpPr>
        <p:spPr>
          <a:xfrm>
            <a:off x="9025128" y="4553712"/>
            <a:ext cx="41148" cy="41148"/>
          </a:xfrm>
          <a:prstGeom prst="ellipse">
            <a:avLst/>
          </a:prstGeom>
          <a:solidFill>
            <a:srgbClr val="28745E"/>
          </a:solidFill>
          <a:ln w="12700">
            <a:solidFill>
              <a:srgbClr val="28745E"/>
            </a:solidFill>
            <a:prstDash val="solid"/>
          </a:ln>
        </p:spPr>
        <p:txBody>
          <a:bodyPr/>
          <a:lstStyle/>
          <a:p>
            <a:endParaRPr lang="en-US"/>
          </a:p>
        </p:txBody>
      </p:sp>
      <p:sp>
        <p:nvSpPr>
          <p:cNvPr id="72" name="Text 70"/>
          <p:cNvSpPr/>
          <p:nvPr/>
        </p:nvSpPr>
        <p:spPr>
          <a:xfrm>
            <a:off x="9144000" y="4462272"/>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Reuse matching endpoint</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views or derive per study</a:t>
            </a:r>
            <a:endParaRPr lang="en-US" sz="1320" dirty="0"/>
          </a:p>
        </p:txBody>
      </p:sp>
      <p:sp>
        <p:nvSpPr>
          <p:cNvPr id="73" name="Shape 71"/>
          <p:cNvSpPr/>
          <p:nvPr/>
        </p:nvSpPr>
        <p:spPr>
          <a:xfrm>
            <a:off x="8951976" y="5596128"/>
            <a:ext cx="2322576" cy="374904"/>
          </a:xfrm>
          <a:prstGeom prst="roundRect">
            <a:avLst>
              <a:gd name="adj" fmla="val 9756"/>
            </a:avLst>
          </a:prstGeom>
          <a:solidFill>
            <a:srgbClr val="28745E"/>
          </a:solidFill>
          <a:ln w="5080">
            <a:solidFill>
              <a:srgbClr val="28745E"/>
            </a:solidFill>
            <a:prstDash val="solid"/>
          </a:ln>
        </p:spPr>
        <p:txBody>
          <a:bodyPr/>
          <a:lstStyle/>
          <a:p>
            <a:endParaRPr lang="en-US"/>
          </a:p>
        </p:txBody>
      </p:sp>
      <p:sp>
        <p:nvSpPr>
          <p:cNvPr id="74" name="Text 72"/>
          <p:cNvSpPr/>
          <p:nvPr/>
        </p:nvSpPr>
        <p:spPr>
          <a:xfrm>
            <a:off x="9025128" y="5655564"/>
            <a:ext cx="2176272" cy="219456"/>
          </a:xfrm>
          <a:prstGeom prst="rect">
            <a:avLst/>
          </a:prstGeom>
          <a:noFill/>
          <a:ln/>
        </p:spPr>
        <p:txBody>
          <a:bodyPr wrap="square" lIns="0" tIns="0" rIns="0" bIns="0" rtlCol="0" anchor="ctr"/>
          <a:lstStyle/>
          <a:p>
            <a:pPr marL="0" indent="0" algn="ctr">
              <a:buNone/>
            </a:pPr>
            <a:r>
              <a:rPr lang="en-US" sz="1240" b="1" dirty="0">
                <a:solidFill>
                  <a:srgbClr val="FFFFFF"/>
                </a:solidFill>
                <a:latin typeface="Arial" pitchFamily="34" charset="0"/>
                <a:ea typeface="Arial" pitchFamily="34" charset="-122"/>
                <a:cs typeface="Arial" pitchFamily="34" charset="-120"/>
              </a:rPr>
              <a:t>Validated study datasets</a:t>
            </a:r>
            <a:endParaRPr lang="en-US" sz="1240" dirty="0"/>
          </a:p>
        </p:txBody>
      </p:sp>
      <p:sp>
        <p:nvSpPr>
          <p:cNvPr id="75" name="Shape 73"/>
          <p:cNvSpPr/>
          <p:nvPr/>
        </p:nvSpPr>
        <p:spPr>
          <a:xfrm>
            <a:off x="11567160" y="1947672"/>
            <a:ext cx="2651760" cy="4160520"/>
          </a:xfrm>
          <a:prstGeom prst="rect">
            <a:avLst/>
          </a:prstGeom>
          <a:solidFill>
            <a:srgbClr val="FCF2EF"/>
          </a:solidFill>
          <a:ln w="9525">
            <a:solidFill>
              <a:srgbClr val="CBD6DF"/>
            </a:solidFill>
            <a:prstDash val="solid"/>
          </a:ln>
        </p:spPr>
        <p:txBody>
          <a:bodyPr/>
          <a:lstStyle/>
          <a:p>
            <a:endParaRPr lang="en-US"/>
          </a:p>
        </p:txBody>
      </p:sp>
      <p:sp>
        <p:nvSpPr>
          <p:cNvPr id="76" name="Shape 74"/>
          <p:cNvSpPr/>
          <p:nvPr/>
        </p:nvSpPr>
        <p:spPr>
          <a:xfrm>
            <a:off x="11567160" y="1947672"/>
            <a:ext cx="86868" cy="4160520"/>
          </a:xfrm>
          <a:prstGeom prst="rect">
            <a:avLst/>
          </a:prstGeom>
          <a:solidFill>
            <a:srgbClr val="C4472D"/>
          </a:solidFill>
          <a:ln w="10160">
            <a:solidFill>
              <a:srgbClr val="C4472D"/>
            </a:solidFill>
            <a:prstDash val="solid"/>
          </a:ln>
        </p:spPr>
        <p:txBody>
          <a:bodyPr/>
          <a:lstStyle/>
          <a:p>
            <a:endParaRPr lang="en-US"/>
          </a:p>
        </p:txBody>
      </p:sp>
      <p:sp>
        <p:nvSpPr>
          <p:cNvPr id="77" name="Shape 75"/>
          <p:cNvSpPr/>
          <p:nvPr/>
        </p:nvSpPr>
        <p:spPr>
          <a:xfrm>
            <a:off x="11567160" y="1947672"/>
            <a:ext cx="2651760" cy="105156"/>
          </a:xfrm>
          <a:prstGeom prst="rect">
            <a:avLst/>
          </a:prstGeom>
          <a:solidFill>
            <a:srgbClr val="C4472D"/>
          </a:solidFill>
          <a:ln w="10160">
            <a:solidFill>
              <a:srgbClr val="C4472D"/>
            </a:solidFill>
            <a:prstDash val="solid"/>
          </a:ln>
        </p:spPr>
        <p:txBody>
          <a:bodyPr/>
          <a:lstStyle/>
          <a:p>
            <a:endParaRPr lang="en-US"/>
          </a:p>
        </p:txBody>
      </p:sp>
      <p:sp>
        <p:nvSpPr>
          <p:cNvPr id="78" name="Shape 76"/>
          <p:cNvSpPr/>
          <p:nvPr/>
        </p:nvSpPr>
        <p:spPr>
          <a:xfrm>
            <a:off x="11704320" y="1732788"/>
            <a:ext cx="438912" cy="438912"/>
          </a:xfrm>
          <a:prstGeom prst="ellipse">
            <a:avLst/>
          </a:prstGeom>
          <a:solidFill>
            <a:srgbClr val="C4472D"/>
          </a:solidFill>
          <a:ln w="22860">
            <a:solidFill>
              <a:srgbClr val="FFFFFF"/>
            </a:solidFill>
            <a:prstDash val="solid"/>
          </a:ln>
        </p:spPr>
        <p:txBody>
          <a:bodyPr/>
          <a:lstStyle/>
          <a:p>
            <a:endParaRPr lang="en-US"/>
          </a:p>
        </p:txBody>
      </p:sp>
      <p:sp>
        <p:nvSpPr>
          <p:cNvPr id="79" name="Text 77"/>
          <p:cNvSpPr/>
          <p:nvPr/>
        </p:nvSpPr>
        <p:spPr>
          <a:xfrm>
            <a:off x="11704320" y="1732788"/>
            <a:ext cx="438912" cy="438912"/>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80" name="Text 78"/>
          <p:cNvSpPr/>
          <p:nvPr/>
        </p:nvSpPr>
        <p:spPr>
          <a:xfrm>
            <a:off x="11804904" y="2240280"/>
            <a:ext cx="2267712" cy="557784"/>
          </a:xfrm>
          <a:prstGeom prst="rect">
            <a:avLst/>
          </a:prstGeom>
          <a:noFill/>
          <a:ln/>
        </p:spPr>
        <p:txBody>
          <a:bodyPr wrap="square" lIns="0" tIns="0" rIns="0" bIns="0" rtlCol="0" anchor="t"/>
          <a:lstStyle/>
          <a:p>
            <a:pPr marL="0" indent="0">
              <a:buNone/>
            </a:pPr>
            <a:r>
              <a:rPr lang="en-US" sz="1780" b="1" dirty="0">
                <a:solidFill>
                  <a:srgbClr val="C4472D"/>
                </a:solidFill>
                <a:latin typeface="Arial" pitchFamily="34" charset="0"/>
                <a:ea typeface="Arial" pitchFamily="34" charset="-122"/>
                <a:cs typeface="Arial" pitchFamily="34" charset="-120"/>
              </a:rPr>
              <a:t>ANALYSIS &amp;</a:t>
            </a:r>
            <a:endParaRPr lang="en-US" sz="1780" dirty="0"/>
          </a:p>
          <a:p>
            <a:pPr marL="0" indent="0">
              <a:buNone/>
            </a:pPr>
            <a:r>
              <a:rPr lang="en-US" sz="1780" b="1" dirty="0">
                <a:solidFill>
                  <a:srgbClr val="C4472D"/>
                </a:solidFill>
                <a:latin typeface="Arial" pitchFamily="34" charset="0"/>
                <a:ea typeface="Arial" pitchFamily="34" charset="-122"/>
                <a:cs typeface="Arial" pitchFamily="34" charset="-120"/>
              </a:rPr>
              <a:t>EVIDENCE</a:t>
            </a:r>
            <a:endParaRPr lang="en-US" sz="1780" dirty="0"/>
          </a:p>
        </p:txBody>
      </p:sp>
      <p:sp>
        <p:nvSpPr>
          <p:cNvPr id="81" name="Text 79"/>
          <p:cNvSpPr/>
          <p:nvPr/>
        </p:nvSpPr>
        <p:spPr>
          <a:xfrm>
            <a:off x="11804904" y="2862072"/>
            <a:ext cx="2258568" cy="256032"/>
          </a:xfrm>
          <a:prstGeom prst="rect">
            <a:avLst/>
          </a:prstGeom>
          <a:noFill/>
          <a:ln/>
        </p:spPr>
        <p:txBody>
          <a:bodyPr wrap="square" lIns="0" tIns="0" rIns="0" bIns="0" rtlCol="0" anchor="t"/>
          <a:lstStyle/>
          <a:p>
            <a:pPr marL="0" indent="0">
              <a:buNone/>
            </a:pPr>
            <a:r>
              <a:rPr lang="en-US" sz="1240" dirty="0">
                <a:solidFill>
                  <a:srgbClr val="52667A"/>
                </a:solidFill>
                <a:latin typeface="Arial" pitchFamily="34" charset="0"/>
                <a:ea typeface="Arial" pitchFamily="34" charset="-122"/>
                <a:cs typeface="Arial" pitchFamily="34" charset="-120"/>
              </a:rPr>
              <a:t>Execute the analysis plan</a:t>
            </a:r>
            <a:endParaRPr lang="en-US" sz="1240" dirty="0"/>
          </a:p>
        </p:txBody>
      </p:sp>
      <p:sp>
        <p:nvSpPr>
          <p:cNvPr id="82" name="Shape 80"/>
          <p:cNvSpPr/>
          <p:nvPr/>
        </p:nvSpPr>
        <p:spPr>
          <a:xfrm>
            <a:off x="11814048" y="3337560"/>
            <a:ext cx="41148" cy="41148"/>
          </a:xfrm>
          <a:prstGeom prst="ellipse">
            <a:avLst/>
          </a:prstGeom>
          <a:solidFill>
            <a:srgbClr val="C4472D"/>
          </a:solidFill>
          <a:ln w="12700">
            <a:solidFill>
              <a:srgbClr val="C4472D"/>
            </a:solidFill>
            <a:prstDash val="solid"/>
          </a:ln>
        </p:spPr>
        <p:txBody>
          <a:bodyPr/>
          <a:lstStyle/>
          <a:p>
            <a:endParaRPr lang="en-US"/>
          </a:p>
        </p:txBody>
      </p:sp>
      <p:sp>
        <p:nvSpPr>
          <p:cNvPr id="83" name="Text 81"/>
          <p:cNvSpPr/>
          <p:nvPr/>
        </p:nvSpPr>
        <p:spPr>
          <a:xfrm>
            <a:off x="11932920" y="3246120"/>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Descriptive / comparative</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analyses, as specified</a:t>
            </a:r>
            <a:endParaRPr lang="en-US" sz="1320" dirty="0"/>
          </a:p>
        </p:txBody>
      </p:sp>
      <p:sp>
        <p:nvSpPr>
          <p:cNvPr id="84" name="Shape 82"/>
          <p:cNvSpPr/>
          <p:nvPr/>
        </p:nvSpPr>
        <p:spPr>
          <a:xfrm>
            <a:off x="11814048" y="3840480"/>
            <a:ext cx="41148" cy="41148"/>
          </a:xfrm>
          <a:prstGeom prst="ellipse">
            <a:avLst/>
          </a:prstGeom>
          <a:solidFill>
            <a:srgbClr val="C4472D"/>
          </a:solidFill>
          <a:ln w="12700">
            <a:solidFill>
              <a:srgbClr val="C4472D"/>
            </a:solidFill>
            <a:prstDash val="solid"/>
          </a:ln>
        </p:spPr>
        <p:txBody>
          <a:bodyPr/>
          <a:lstStyle/>
          <a:p>
            <a:endParaRPr lang="en-US"/>
          </a:p>
        </p:txBody>
      </p:sp>
      <p:sp>
        <p:nvSpPr>
          <p:cNvPr id="85" name="Text 83"/>
          <p:cNvSpPr/>
          <p:nvPr/>
        </p:nvSpPr>
        <p:spPr>
          <a:xfrm>
            <a:off x="11932920" y="3749040"/>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Diagnostics / sensitivity;</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independent QC</a:t>
            </a:r>
            <a:endParaRPr lang="en-US" sz="1320" dirty="0"/>
          </a:p>
        </p:txBody>
      </p:sp>
      <p:sp>
        <p:nvSpPr>
          <p:cNvPr id="86" name="Shape 84"/>
          <p:cNvSpPr/>
          <p:nvPr/>
        </p:nvSpPr>
        <p:spPr>
          <a:xfrm>
            <a:off x="11814048" y="4343400"/>
            <a:ext cx="41148" cy="41148"/>
          </a:xfrm>
          <a:prstGeom prst="ellipse">
            <a:avLst/>
          </a:prstGeom>
          <a:solidFill>
            <a:srgbClr val="C4472D"/>
          </a:solidFill>
          <a:ln w="12700">
            <a:solidFill>
              <a:srgbClr val="C4472D"/>
            </a:solidFill>
            <a:prstDash val="solid"/>
          </a:ln>
        </p:spPr>
        <p:txBody>
          <a:bodyPr/>
          <a:lstStyle/>
          <a:p>
            <a:endParaRPr lang="en-US"/>
          </a:p>
        </p:txBody>
      </p:sp>
      <p:sp>
        <p:nvSpPr>
          <p:cNvPr id="87" name="Text 85"/>
          <p:cNvSpPr/>
          <p:nvPr/>
        </p:nvSpPr>
        <p:spPr>
          <a:xfrm>
            <a:off x="11932920" y="4251960"/>
            <a:ext cx="2139696" cy="411480"/>
          </a:xfrm>
          <a:prstGeom prst="rect">
            <a:avLst/>
          </a:prstGeom>
          <a:noFill/>
          <a:ln/>
        </p:spPr>
        <p:txBody>
          <a:bodyPr wrap="square" lIns="0" tIns="0" rIns="0" bIns="0" rtlCol="0" anchor="t"/>
          <a:lstStyle/>
          <a:p>
            <a:pPr marL="0" indent="0">
              <a:buNone/>
            </a:pPr>
            <a:r>
              <a:rPr lang="en-US" sz="1320" dirty="0">
                <a:solidFill>
                  <a:srgbClr val="15334D"/>
                </a:solidFill>
                <a:latin typeface="Arial" pitchFamily="34" charset="0"/>
                <a:ea typeface="Arial" pitchFamily="34" charset="-122"/>
                <a:cs typeface="Arial" pitchFamily="34" charset="-120"/>
              </a:rPr>
              <a:t>Results, uncertainty and</a:t>
            </a:r>
            <a:endParaRPr lang="en-US" sz="1320" dirty="0"/>
          </a:p>
          <a:p>
            <a:pPr marL="0" indent="0">
              <a:buNone/>
            </a:pPr>
            <a:r>
              <a:rPr lang="en-US" sz="1320" dirty="0">
                <a:solidFill>
                  <a:srgbClr val="15334D"/>
                </a:solidFill>
                <a:latin typeface="Arial" pitchFamily="34" charset="0"/>
                <a:ea typeface="Arial" pitchFamily="34" charset="-122"/>
                <a:cs typeface="Arial" pitchFamily="34" charset="-120"/>
              </a:rPr>
              <a:t>reviewed interpretation</a:t>
            </a:r>
            <a:endParaRPr lang="en-US" sz="1320" dirty="0"/>
          </a:p>
        </p:txBody>
      </p:sp>
      <p:sp>
        <p:nvSpPr>
          <p:cNvPr id="88" name="Shape 86"/>
          <p:cNvSpPr/>
          <p:nvPr/>
        </p:nvSpPr>
        <p:spPr>
          <a:xfrm>
            <a:off x="11740896" y="5596128"/>
            <a:ext cx="2322576" cy="374904"/>
          </a:xfrm>
          <a:prstGeom prst="roundRect">
            <a:avLst>
              <a:gd name="adj" fmla="val 9756"/>
            </a:avLst>
          </a:prstGeom>
          <a:solidFill>
            <a:srgbClr val="C4472D"/>
          </a:solidFill>
          <a:ln w="5080">
            <a:solidFill>
              <a:srgbClr val="C4472D"/>
            </a:solidFill>
            <a:prstDash val="solid"/>
          </a:ln>
        </p:spPr>
        <p:txBody>
          <a:bodyPr/>
          <a:lstStyle/>
          <a:p>
            <a:endParaRPr lang="en-US"/>
          </a:p>
        </p:txBody>
      </p:sp>
      <p:sp>
        <p:nvSpPr>
          <p:cNvPr id="89" name="Text 87"/>
          <p:cNvSpPr/>
          <p:nvPr/>
        </p:nvSpPr>
        <p:spPr>
          <a:xfrm>
            <a:off x="11814048" y="5655564"/>
            <a:ext cx="2176272" cy="219456"/>
          </a:xfrm>
          <a:prstGeom prst="rect">
            <a:avLst/>
          </a:prstGeom>
          <a:noFill/>
          <a:ln/>
        </p:spPr>
        <p:txBody>
          <a:bodyPr wrap="square" lIns="0" tIns="0" rIns="0" bIns="0" rtlCol="0" anchor="ctr"/>
          <a:lstStyle/>
          <a:p>
            <a:pPr marL="0" indent="0" algn="ctr">
              <a:buNone/>
            </a:pPr>
            <a:r>
              <a:rPr lang="en-US" sz="1240" b="1" dirty="0">
                <a:solidFill>
                  <a:srgbClr val="FFFFFF"/>
                </a:solidFill>
                <a:latin typeface="Arial" pitchFamily="34" charset="0"/>
                <a:ea typeface="Arial" pitchFamily="34" charset="-122"/>
                <a:cs typeface="Arial" pitchFamily="34" charset="-120"/>
              </a:rPr>
              <a:t>Reviewed evidence package</a:t>
            </a:r>
            <a:endParaRPr lang="en-US" sz="1240" dirty="0"/>
          </a:p>
        </p:txBody>
      </p:sp>
      <p:sp>
        <p:nvSpPr>
          <p:cNvPr id="90" name="Shape 88"/>
          <p:cNvSpPr/>
          <p:nvPr/>
        </p:nvSpPr>
        <p:spPr>
          <a:xfrm>
            <a:off x="3383280" y="6217920"/>
            <a:ext cx="5102352" cy="0"/>
          </a:xfrm>
          <a:prstGeom prst="line">
            <a:avLst/>
          </a:prstGeom>
          <a:noFill/>
          <a:ln w="12700">
            <a:solidFill>
              <a:srgbClr val="315F9C"/>
            </a:solidFill>
            <a:prstDash val="solid"/>
            <a:headEnd type="none"/>
            <a:tailEnd type="none"/>
          </a:ln>
        </p:spPr>
        <p:txBody>
          <a:bodyPr/>
          <a:lstStyle/>
          <a:p>
            <a:endParaRPr lang="en-US"/>
          </a:p>
        </p:txBody>
      </p:sp>
      <p:sp>
        <p:nvSpPr>
          <p:cNvPr id="91" name="Shape 89"/>
          <p:cNvSpPr/>
          <p:nvPr/>
        </p:nvSpPr>
        <p:spPr>
          <a:xfrm>
            <a:off x="3383280" y="6126480"/>
            <a:ext cx="0" cy="91440"/>
          </a:xfrm>
          <a:prstGeom prst="line">
            <a:avLst/>
          </a:prstGeom>
          <a:noFill/>
          <a:ln w="12700">
            <a:solidFill>
              <a:srgbClr val="315F9C"/>
            </a:solidFill>
            <a:prstDash val="solid"/>
            <a:headEnd type="none"/>
            <a:tailEnd type="none"/>
          </a:ln>
        </p:spPr>
        <p:txBody>
          <a:bodyPr/>
          <a:lstStyle/>
          <a:p>
            <a:endParaRPr lang="en-US"/>
          </a:p>
        </p:txBody>
      </p:sp>
      <p:sp>
        <p:nvSpPr>
          <p:cNvPr id="92" name="Shape 90"/>
          <p:cNvSpPr/>
          <p:nvPr/>
        </p:nvSpPr>
        <p:spPr>
          <a:xfrm>
            <a:off x="8485632" y="6126480"/>
            <a:ext cx="0" cy="91440"/>
          </a:xfrm>
          <a:prstGeom prst="line">
            <a:avLst/>
          </a:prstGeom>
          <a:noFill/>
          <a:ln w="12700">
            <a:solidFill>
              <a:srgbClr val="315F9C"/>
            </a:solidFill>
            <a:prstDash val="solid"/>
            <a:headEnd type="none"/>
            <a:tailEnd type="none"/>
          </a:ln>
        </p:spPr>
        <p:txBody>
          <a:bodyPr/>
          <a:lstStyle/>
          <a:p>
            <a:endParaRPr lang="en-US"/>
          </a:p>
        </p:txBody>
      </p:sp>
      <p:sp>
        <p:nvSpPr>
          <p:cNvPr id="93" name="Shape 91"/>
          <p:cNvSpPr/>
          <p:nvPr/>
        </p:nvSpPr>
        <p:spPr>
          <a:xfrm>
            <a:off x="5934456" y="6217920"/>
            <a:ext cx="0" cy="173736"/>
          </a:xfrm>
          <a:prstGeom prst="line">
            <a:avLst/>
          </a:prstGeom>
          <a:noFill/>
          <a:ln w="12700">
            <a:solidFill>
              <a:srgbClr val="315F9C"/>
            </a:solidFill>
            <a:prstDash val="solid"/>
            <a:headEnd type="none"/>
            <a:tailEnd type="triangle"/>
          </a:ln>
        </p:spPr>
        <p:txBody>
          <a:bodyPr/>
          <a:lstStyle/>
          <a:p>
            <a:endParaRPr lang="en-US"/>
          </a:p>
        </p:txBody>
      </p:sp>
      <p:sp>
        <p:nvSpPr>
          <p:cNvPr id="94" name="Shape 92"/>
          <p:cNvSpPr/>
          <p:nvPr/>
        </p:nvSpPr>
        <p:spPr>
          <a:xfrm>
            <a:off x="411480" y="6400800"/>
            <a:ext cx="13807440" cy="402336"/>
          </a:xfrm>
          <a:prstGeom prst="roundRect">
            <a:avLst>
              <a:gd name="adj" fmla="val 9091"/>
            </a:avLst>
          </a:prstGeom>
          <a:solidFill>
            <a:srgbClr val="F3F6F9"/>
          </a:solidFill>
          <a:ln w="2540">
            <a:solidFill>
              <a:srgbClr val="F3F6F9"/>
            </a:solidFill>
            <a:prstDash val="solid"/>
          </a:ln>
        </p:spPr>
        <p:txBody>
          <a:bodyPr/>
          <a:lstStyle/>
          <a:p>
            <a:endParaRPr lang="en-US"/>
          </a:p>
        </p:txBody>
      </p:sp>
      <p:sp>
        <p:nvSpPr>
          <p:cNvPr id="95" name="Text 93"/>
          <p:cNvSpPr/>
          <p:nvPr/>
        </p:nvSpPr>
        <p:spPr>
          <a:xfrm>
            <a:off x="603504" y="6492240"/>
            <a:ext cx="1097280" cy="173736"/>
          </a:xfrm>
          <a:prstGeom prst="rect">
            <a:avLst/>
          </a:prstGeom>
          <a:noFill/>
          <a:ln/>
        </p:spPr>
        <p:txBody>
          <a:bodyPr wrap="square" lIns="0" tIns="0" rIns="0" bIns="0" rtlCol="0" anchor="ctr"/>
          <a:lstStyle/>
          <a:p>
            <a:pPr marL="0" indent="0">
              <a:buNone/>
            </a:pPr>
            <a:r>
              <a:rPr lang="en-US" sz="1060" b="1" dirty="0">
                <a:solidFill>
                  <a:srgbClr val="315F9C"/>
                </a:solidFill>
                <a:latin typeface="Arial" pitchFamily="34" charset="0"/>
                <a:ea typeface="Arial" pitchFamily="34" charset="-122"/>
                <a:cs typeface="Arial" pitchFamily="34" charset="-120"/>
              </a:rPr>
              <a:t>DIRECT USE</a:t>
            </a:r>
            <a:endParaRPr lang="en-US" sz="1060" dirty="0"/>
          </a:p>
        </p:txBody>
      </p:sp>
      <p:sp>
        <p:nvSpPr>
          <p:cNvPr id="96" name="Text 94"/>
          <p:cNvSpPr/>
          <p:nvPr/>
        </p:nvSpPr>
        <p:spPr>
          <a:xfrm>
            <a:off x="1847088" y="6483096"/>
            <a:ext cx="11978640" cy="201168"/>
          </a:xfrm>
          <a:prstGeom prst="rect">
            <a:avLst/>
          </a:prstGeom>
          <a:noFill/>
          <a:ln/>
        </p:spPr>
        <p:txBody>
          <a:bodyPr wrap="square" lIns="0" tIns="0" rIns="0" bIns="0" rtlCol="0" anchor="ctr"/>
          <a:lstStyle/>
          <a:p>
            <a:pPr marL="0" indent="0">
              <a:buNone/>
            </a:pPr>
            <a:r>
              <a:rPr lang="en-US" sz="1250" dirty="0">
                <a:solidFill>
                  <a:srgbClr val="15334D"/>
                </a:solidFill>
                <a:latin typeface="Arial" pitchFamily="34" charset="0"/>
                <a:ea typeface="Arial" pitchFamily="34" charset="-122"/>
                <a:cs typeface="Arial" pitchFamily="34" charset="-120"/>
              </a:rPr>
              <a:t>Stages 2–3 also support feasibility, exploration and RDQs. Study needs feed back into product design.</a:t>
            </a:r>
            <a:endParaRPr lang="en-US" sz="1250" dirty="0"/>
          </a:p>
        </p:txBody>
      </p:sp>
      <p:sp>
        <p:nvSpPr>
          <p:cNvPr id="97" name="Shape 95"/>
          <p:cNvSpPr/>
          <p:nvPr/>
        </p:nvSpPr>
        <p:spPr>
          <a:xfrm>
            <a:off x="411480" y="6940296"/>
            <a:ext cx="13807440" cy="521208"/>
          </a:xfrm>
          <a:prstGeom prst="roundRect">
            <a:avLst>
              <a:gd name="adj" fmla="val 8772"/>
            </a:avLst>
          </a:prstGeom>
          <a:solidFill>
            <a:srgbClr val="102E48"/>
          </a:solidFill>
          <a:ln w="6350">
            <a:solidFill>
              <a:srgbClr val="102E48"/>
            </a:solidFill>
            <a:prstDash val="solid"/>
          </a:ln>
        </p:spPr>
        <p:txBody>
          <a:bodyPr/>
          <a:lstStyle/>
          <a:p>
            <a:endParaRPr lang="en-US"/>
          </a:p>
        </p:txBody>
      </p:sp>
      <p:sp>
        <p:nvSpPr>
          <p:cNvPr id="98" name="Text 96"/>
          <p:cNvSpPr/>
          <p:nvPr/>
        </p:nvSpPr>
        <p:spPr>
          <a:xfrm>
            <a:off x="612648" y="7059168"/>
            <a:ext cx="2331720" cy="210312"/>
          </a:xfrm>
          <a:prstGeom prst="rect">
            <a:avLst/>
          </a:prstGeom>
          <a:noFill/>
          <a:ln/>
        </p:spPr>
        <p:txBody>
          <a:bodyPr wrap="square" lIns="0" tIns="0" rIns="0" bIns="0" rtlCol="0" anchor="ctr"/>
          <a:lstStyle/>
          <a:p>
            <a:pPr marL="0" indent="0">
              <a:buNone/>
            </a:pPr>
            <a:r>
              <a:rPr lang="en-US" sz="1160" b="1" dirty="0">
                <a:solidFill>
                  <a:srgbClr val="FFFFFF"/>
                </a:solidFill>
                <a:latin typeface="Arial" pitchFamily="34" charset="0"/>
                <a:ea typeface="Arial" pitchFamily="34" charset="-122"/>
                <a:cs typeface="Arial" pitchFamily="34" charset="-120"/>
              </a:rPr>
              <a:t>GOVERNANCE THROUGHOUT</a:t>
            </a:r>
            <a:endParaRPr lang="en-US" sz="1160" dirty="0"/>
          </a:p>
        </p:txBody>
      </p:sp>
      <p:sp>
        <p:nvSpPr>
          <p:cNvPr id="99" name="Shape 97"/>
          <p:cNvSpPr/>
          <p:nvPr/>
        </p:nvSpPr>
        <p:spPr>
          <a:xfrm>
            <a:off x="3127248" y="7040880"/>
            <a:ext cx="0" cy="310896"/>
          </a:xfrm>
          <a:prstGeom prst="line">
            <a:avLst/>
          </a:prstGeom>
          <a:noFill/>
          <a:ln w="10160">
            <a:solidFill>
              <a:srgbClr val="7790A5"/>
            </a:solidFill>
            <a:prstDash val="solid"/>
            <a:headEnd type="none"/>
            <a:tailEnd type="none"/>
          </a:ln>
        </p:spPr>
        <p:txBody>
          <a:bodyPr/>
          <a:lstStyle/>
          <a:p>
            <a:endParaRPr lang="en-US"/>
          </a:p>
        </p:txBody>
      </p:sp>
      <p:sp>
        <p:nvSpPr>
          <p:cNvPr id="100" name="Text 98"/>
          <p:cNvSpPr/>
          <p:nvPr/>
        </p:nvSpPr>
        <p:spPr>
          <a:xfrm>
            <a:off x="3310128" y="7059168"/>
            <a:ext cx="10716768" cy="210312"/>
          </a:xfrm>
          <a:prstGeom prst="rect">
            <a:avLst/>
          </a:prstGeom>
          <a:noFill/>
          <a:ln/>
        </p:spPr>
        <p:txBody>
          <a:bodyPr wrap="square" lIns="0" tIns="0" rIns="0" bIns="0" rtlCol="0" anchor="ctr"/>
          <a:lstStyle/>
          <a:p>
            <a:pPr marL="0" indent="0">
              <a:buNone/>
            </a:pPr>
            <a:r>
              <a:rPr lang="en-US" sz="1230" dirty="0">
                <a:solidFill>
                  <a:srgbClr val="FFFFFF"/>
                </a:solidFill>
                <a:latin typeface="Arial" pitchFamily="34" charset="0"/>
                <a:ea typeface="Arial" pitchFamily="34" charset="-122"/>
                <a:cs typeface="Arial" pitchFamily="34" charset="-120"/>
              </a:rPr>
              <a:t>Ownership • scope &amp; grain • concepts • spec / QC versions • access • validation • lineage • release &amp; refresh</a:t>
            </a:r>
            <a:endParaRPr lang="en-US" sz="1230" dirty="0"/>
          </a:p>
        </p:txBody>
      </p:sp>
      <p:sp>
        <p:nvSpPr>
          <p:cNvPr id="101" name="Text 99"/>
          <p:cNvSpPr/>
          <p:nvPr/>
        </p:nvSpPr>
        <p:spPr>
          <a:xfrm>
            <a:off x="438912" y="7626096"/>
            <a:ext cx="1837944" cy="192024"/>
          </a:xfrm>
          <a:prstGeom prst="rect">
            <a:avLst/>
          </a:prstGeom>
          <a:noFill/>
          <a:ln/>
        </p:spPr>
        <p:txBody>
          <a:bodyPr wrap="square" lIns="0" tIns="0" rIns="0" bIns="0" rtlCol="0" anchor="ctr"/>
          <a:lstStyle/>
          <a:p>
            <a:pPr marL="0" indent="0">
              <a:buNone/>
            </a:pPr>
            <a:r>
              <a:rPr lang="en-US" sz="1030" b="1" dirty="0">
                <a:solidFill>
                  <a:srgbClr val="C4472D"/>
                </a:solidFill>
                <a:latin typeface="Arial" pitchFamily="34" charset="0"/>
                <a:ea typeface="Arial" pitchFamily="34" charset="-122"/>
                <a:cs typeface="Arial" pitchFamily="34" charset="-120"/>
              </a:rPr>
              <a:t>REUSABLE ENDPOINTS</a:t>
            </a:r>
            <a:endParaRPr lang="en-US" sz="1030" dirty="0"/>
          </a:p>
        </p:txBody>
      </p:sp>
      <p:sp>
        <p:nvSpPr>
          <p:cNvPr id="102" name="Text 100"/>
          <p:cNvSpPr/>
          <p:nvPr/>
        </p:nvSpPr>
        <p:spPr>
          <a:xfrm>
            <a:off x="2386584" y="7589520"/>
            <a:ext cx="11667744" cy="283464"/>
          </a:xfrm>
          <a:prstGeom prst="rect">
            <a:avLst/>
          </a:prstGeom>
          <a:noFill/>
          <a:ln/>
        </p:spPr>
        <p:txBody>
          <a:bodyPr wrap="square" lIns="0" tIns="0" rIns="0" bIns="0" rtlCol="0" anchor="ctr"/>
          <a:lstStyle/>
          <a:p>
            <a:pPr marL="0" indent="0">
              <a:buNone/>
            </a:pPr>
            <a:r>
              <a:rPr lang="en-US" sz="1150" dirty="0">
                <a:solidFill>
                  <a:srgbClr val="15334D"/>
                </a:solidFill>
                <a:latin typeface="Arial" pitchFamily="34" charset="0"/>
                <a:ea typeface="Arial" pitchFamily="34" charset="-122"/>
                <a:cs typeface="Arial" pitchFamily="34" charset="-120"/>
              </a:rPr>
              <a:t>A fixed view must declare index, event, follow-up, censoring and data-cut rules; every study checks compatibility. [2]</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65176"/>
            <a:ext cx="13807440" cy="41148"/>
          </a:xfrm>
          <a:prstGeom prst="rect">
            <a:avLst/>
          </a:prstGeom>
          <a:solidFill>
            <a:srgbClr val="C4472D"/>
          </a:solidFill>
          <a:ln w="10160">
            <a:solidFill>
              <a:srgbClr val="C4472D"/>
            </a:solidFill>
            <a:prstDash val="solid"/>
          </a:ln>
        </p:spPr>
        <p:txBody>
          <a:bodyPr/>
          <a:lstStyle/>
          <a:p>
            <a:endParaRPr lang="en-US"/>
          </a:p>
        </p:txBody>
      </p:sp>
      <p:sp>
        <p:nvSpPr>
          <p:cNvPr id="3" name="Text 1"/>
          <p:cNvSpPr/>
          <p:nvPr/>
        </p:nvSpPr>
        <p:spPr>
          <a:xfrm>
            <a:off x="411480" y="448056"/>
            <a:ext cx="10789920" cy="182880"/>
          </a:xfrm>
          <a:prstGeom prst="rect">
            <a:avLst/>
          </a:prstGeom>
          <a:noFill/>
          <a:ln/>
        </p:spPr>
        <p:txBody>
          <a:bodyPr wrap="square" lIns="0" tIns="0" rIns="0" bIns="0" rtlCol="0" anchor="ctr"/>
          <a:lstStyle/>
          <a:p>
            <a:pPr marL="0" indent="0">
              <a:buNone/>
            </a:pPr>
            <a:r>
              <a:rPr lang="en-US" sz="940" b="1" kern="0" spc="110" dirty="0">
                <a:solidFill>
                  <a:srgbClr val="C4472D"/>
                </a:solidFill>
                <a:latin typeface="Arial" pitchFamily="34" charset="0"/>
                <a:ea typeface="Arial" pitchFamily="34" charset="-122"/>
                <a:cs typeface="Arial" pitchFamily="34" charset="-120"/>
              </a:rPr>
              <a:t>NSCLC EXAMPLE  /  SAME FIVE-STAGE MODEL</a:t>
            </a:r>
            <a:endParaRPr lang="en-US" sz="940" dirty="0"/>
          </a:p>
        </p:txBody>
      </p:sp>
      <p:sp>
        <p:nvSpPr>
          <p:cNvPr id="4" name="Text 2"/>
          <p:cNvSpPr/>
          <p:nvPr/>
        </p:nvSpPr>
        <p:spPr>
          <a:xfrm>
            <a:off x="11045952" y="448056"/>
            <a:ext cx="3163824" cy="182880"/>
          </a:xfrm>
          <a:prstGeom prst="rect">
            <a:avLst/>
          </a:prstGeom>
          <a:noFill/>
          <a:ln/>
        </p:spPr>
        <p:txBody>
          <a:bodyPr wrap="square" lIns="0" tIns="0" rIns="0" bIns="0" rtlCol="0" anchor="ctr"/>
          <a:lstStyle/>
          <a:p>
            <a:pPr marL="0" indent="0" algn="r">
              <a:buNone/>
            </a:pPr>
            <a:r>
              <a:rPr lang="en-US" sz="900" kern="0" spc="50" dirty="0">
                <a:solidFill>
                  <a:srgbClr val="52667A"/>
                </a:solidFill>
                <a:latin typeface="Arial" pitchFamily="34" charset="0"/>
                <a:ea typeface="Arial" pitchFamily="34" charset="-122"/>
                <a:cs typeface="Arial" pitchFamily="34" charset="-120"/>
              </a:rPr>
              <a:t>ILLUSTRATIVE TARGET MODEL</a:t>
            </a:r>
            <a:endParaRPr lang="en-US" sz="900" dirty="0"/>
          </a:p>
        </p:txBody>
      </p:sp>
      <p:sp>
        <p:nvSpPr>
          <p:cNvPr id="5" name="Text 3"/>
          <p:cNvSpPr/>
          <p:nvPr/>
        </p:nvSpPr>
        <p:spPr>
          <a:xfrm>
            <a:off x="411480" y="758952"/>
            <a:ext cx="13807440" cy="420624"/>
          </a:xfrm>
          <a:prstGeom prst="rect">
            <a:avLst/>
          </a:prstGeom>
          <a:noFill/>
          <a:ln/>
        </p:spPr>
        <p:txBody>
          <a:bodyPr wrap="square" lIns="0" tIns="0" rIns="0" bIns="0" rtlCol="0" anchor="ctr"/>
          <a:lstStyle/>
          <a:p>
            <a:pPr marL="0" indent="0">
              <a:buNone/>
            </a:pPr>
            <a:r>
              <a:rPr lang="en-US" sz="2850" b="1" dirty="0">
                <a:solidFill>
                  <a:srgbClr val="102E48"/>
                </a:solidFill>
                <a:latin typeface="Arial" pitchFamily="34" charset="0"/>
                <a:ea typeface="Arial" pitchFamily="34" charset="-122"/>
                <a:cs typeface="Arial" pitchFamily="34" charset="-120"/>
              </a:rPr>
              <a:t>NSCLC disease-specific data product | A worked example</a:t>
            </a:r>
            <a:endParaRPr lang="en-US" sz="2850" dirty="0"/>
          </a:p>
        </p:txBody>
      </p:sp>
      <p:sp>
        <p:nvSpPr>
          <p:cNvPr id="6" name="Text 4"/>
          <p:cNvSpPr/>
          <p:nvPr/>
        </p:nvSpPr>
        <p:spPr>
          <a:xfrm>
            <a:off x="420624" y="1243584"/>
            <a:ext cx="13716000" cy="310896"/>
          </a:xfrm>
          <a:prstGeom prst="rect">
            <a:avLst/>
          </a:prstGeom>
          <a:noFill/>
          <a:ln/>
        </p:spPr>
        <p:txBody>
          <a:bodyPr wrap="square" lIns="0" tIns="0" rIns="0" bIns="0" rtlCol="0" anchor="ctr"/>
          <a:lstStyle/>
          <a:p>
            <a:pPr marL="0" indent="0">
              <a:buNone/>
            </a:pPr>
            <a:r>
              <a:rPr lang="en-US" sz="1520" dirty="0">
                <a:solidFill>
                  <a:srgbClr val="52667A"/>
                </a:solidFill>
                <a:latin typeface="Arial" pitchFamily="34" charset="0"/>
                <a:ea typeface="Arial" pitchFamily="34" charset="-122"/>
                <a:cs typeface="Arial" pitchFamily="34" charset="-120"/>
              </a:rPr>
              <a:t>One Stage 3 product: linked clinical data and defined views, released for reuse against each study’s requirements.</a:t>
            </a:r>
            <a:endParaRPr lang="en-US" sz="1520" dirty="0"/>
          </a:p>
        </p:txBody>
      </p:sp>
      <p:sp>
        <p:nvSpPr>
          <p:cNvPr id="7" name="Text 5"/>
          <p:cNvSpPr/>
          <p:nvPr/>
        </p:nvSpPr>
        <p:spPr>
          <a:xfrm>
            <a:off x="411480" y="7973568"/>
            <a:ext cx="12984480" cy="164592"/>
          </a:xfrm>
          <a:prstGeom prst="rect">
            <a:avLst/>
          </a:prstGeom>
          <a:noFill/>
          <a:ln/>
        </p:spPr>
        <p:txBody>
          <a:bodyPr wrap="square" lIns="0" tIns="0" rIns="0" bIns="0" rtlCol="0" anchor="ctr"/>
          <a:lstStyle/>
          <a:p>
            <a:pPr marL="0" indent="0">
              <a:buNone/>
            </a:pPr>
            <a:r>
              <a:rPr lang="en-US" sz="860" dirty="0">
                <a:solidFill>
                  <a:srgbClr val="52667A"/>
                </a:solidFill>
                <a:latin typeface="Arial" pitchFamily="34" charset="0"/>
                <a:ea typeface="Arial" pitchFamily="34" charset="-122"/>
                <a:cs typeface="Arial" pitchFamily="34" charset="-120"/>
              </a:rPr>
              <a:t>Basis: agreed design feedback. Technical checks: [1] OMOP CDM v5.4; [2] FDA EHR / claims guidance (2024). See speaker notes.</a:t>
            </a:r>
            <a:endParaRPr lang="en-US" sz="860" dirty="0"/>
          </a:p>
        </p:txBody>
      </p:sp>
      <p:sp>
        <p:nvSpPr>
          <p:cNvPr id="8" name="Text 6"/>
          <p:cNvSpPr/>
          <p:nvPr/>
        </p:nvSpPr>
        <p:spPr>
          <a:xfrm>
            <a:off x="13761720" y="7936992"/>
            <a:ext cx="457200" cy="228600"/>
          </a:xfrm>
          <a:prstGeom prst="rect">
            <a:avLst/>
          </a:prstGeom>
          <a:noFill/>
          <a:ln/>
        </p:spPr>
        <p:txBody>
          <a:bodyPr wrap="square" lIns="0" tIns="0" rIns="0" bIns="0" rtlCol="0" anchor="ctr"/>
          <a:lstStyle/>
          <a:p>
            <a:pPr marL="0" indent="0" algn="r">
              <a:buNone/>
            </a:pPr>
            <a:r>
              <a:rPr lang="en-US" sz="1050" b="1" dirty="0">
                <a:solidFill>
                  <a:srgbClr val="102E48"/>
                </a:solidFill>
                <a:latin typeface="Arial" pitchFamily="34" charset="0"/>
                <a:ea typeface="Arial" pitchFamily="34" charset="-122"/>
                <a:cs typeface="Arial" pitchFamily="34" charset="-120"/>
              </a:rPr>
              <a:t>02</a:t>
            </a:r>
            <a:endParaRPr lang="en-US" sz="1050" dirty="0"/>
          </a:p>
        </p:txBody>
      </p:sp>
      <p:sp>
        <p:nvSpPr>
          <p:cNvPr id="9" name="Shape 7"/>
          <p:cNvSpPr/>
          <p:nvPr/>
        </p:nvSpPr>
        <p:spPr>
          <a:xfrm>
            <a:off x="411480" y="1792224"/>
            <a:ext cx="2871216" cy="4965192"/>
          </a:xfrm>
          <a:prstGeom prst="rect">
            <a:avLst/>
          </a:prstGeom>
          <a:solidFill>
            <a:srgbClr val="EDF3F7"/>
          </a:solidFill>
          <a:ln w="10160">
            <a:solidFill>
              <a:srgbClr val="CBD6DF"/>
            </a:solidFill>
            <a:prstDash val="solid"/>
          </a:ln>
        </p:spPr>
        <p:txBody>
          <a:bodyPr/>
          <a:lstStyle/>
          <a:p>
            <a:endParaRPr lang="en-US"/>
          </a:p>
        </p:txBody>
      </p:sp>
      <p:sp>
        <p:nvSpPr>
          <p:cNvPr id="10" name="Shape 8"/>
          <p:cNvSpPr/>
          <p:nvPr/>
        </p:nvSpPr>
        <p:spPr>
          <a:xfrm>
            <a:off x="3657600" y="1792224"/>
            <a:ext cx="5961888" cy="4965192"/>
          </a:xfrm>
          <a:prstGeom prst="rect">
            <a:avLst/>
          </a:prstGeom>
          <a:solidFill>
            <a:srgbClr val="F8FBFA"/>
          </a:solidFill>
          <a:ln w="10160">
            <a:solidFill>
              <a:srgbClr val="B6D5CF"/>
            </a:solidFill>
            <a:prstDash val="solid"/>
          </a:ln>
        </p:spPr>
        <p:txBody>
          <a:bodyPr/>
          <a:lstStyle/>
          <a:p>
            <a:endParaRPr lang="en-US"/>
          </a:p>
        </p:txBody>
      </p:sp>
      <p:sp>
        <p:nvSpPr>
          <p:cNvPr id="11" name="Shape 9"/>
          <p:cNvSpPr/>
          <p:nvPr/>
        </p:nvSpPr>
        <p:spPr>
          <a:xfrm>
            <a:off x="10131552" y="1792224"/>
            <a:ext cx="4087368" cy="3995928"/>
          </a:xfrm>
          <a:prstGeom prst="rect">
            <a:avLst/>
          </a:prstGeom>
          <a:solidFill>
            <a:srgbClr val="FBFCFA"/>
          </a:solidFill>
          <a:ln w="10160">
            <a:solidFill>
              <a:srgbClr val="B7CEC3"/>
            </a:solidFill>
            <a:prstDash val="solid"/>
          </a:ln>
        </p:spPr>
        <p:txBody>
          <a:bodyPr/>
          <a:lstStyle/>
          <a:p>
            <a:endParaRPr lang="en-US"/>
          </a:p>
        </p:txBody>
      </p:sp>
      <p:sp>
        <p:nvSpPr>
          <p:cNvPr id="12" name="Shape 10"/>
          <p:cNvSpPr/>
          <p:nvPr/>
        </p:nvSpPr>
        <p:spPr>
          <a:xfrm>
            <a:off x="411480" y="1792224"/>
            <a:ext cx="2871216" cy="630936"/>
          </a:xfrm>
          <a:prstGeom prst="rect">
            <a:avLst/>
          </a:prstGeom>
          <a:solidFill>
            <a:srgbClr val="102E48"/>
          </a:solidFill>
          <a:ln w="10160">
            <a:solidFill>
              <a:srgbClr val="102E48"/>
            </a:solidFill>
            <a:prstDash val="solid"/>
          </a:ln>
        </p:spPr>
        <p:txBody>
          <a:bodyPr/>
          <a:lstStyle/>
          <a:p>
            <a:endParaRPr lang="en-US"/>
          </a:p>
        </p:txBody>
      </p:sp>
      <p:sp>
        <p:nvSpPr>
          <p:cNvPr id="13" name="Shape 11"/>
          <p:cNvSpPr/>
          <p:nvPr/>
        </p:nvSpPr>
        <p:spPr>
          <a:xfrm>
            <a:off x="521208" y="1906524"/>
            <a:ext cx="402336" cy="402336"/>
          </a:xfrm>
          <a:prstGeom prst="ellipse">
            <a:avLst/>
          </a:prstGeom>
          <a:solidFill>
            <a:srgbClr val="102E48"/>
          </a:solidFill>
          <a:ln w="22860">
            <a:solidFill>
              <a:srgbClr val="FFFFFF"/>
            </a:solidFill>
            <a:prstDash val="solid"/>
          </a:ln>
        </p:spPr>
        <p:txBody>
          <a:bodyPr/>
          <a:lstStyle/>
          <a:p>
            <a:endParaRPr lang="en-US"/>
          </a:p>
        </p:txBody>
      </p:sp>
      <p:sp>
        <p:nvSpPr>
          <p:cNvPr id="14" name="Text 12"/>
          <p:cNvSpPr/>
          <p:nvPr/>
        </p:nvSpPr>
        <p:spPr>
          <a:xfrm>
            <a:off x="521208" y="1906524"/>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1–2</a:t>
            </a:r>
            <a:endParaRPr lang="en-US" sz="1800" dirty="0"/>
          </a:p>
        </p:txBody>
      </p:sp>
      <p:sp>
        <p:nvSpPr>
          <p:cNvPr id="15" name="Text 13"/>
          <p:cNvSpPr/>
          <p:nvPr/>
        </p:nvSpPr>
        <p:spPr>
          <a:xfrm>
            <a:off x="1014984" y="1938528"/>
            <a:ext cx="2139696" cy="356616"/>
          </a:xfrm>
          <a:prstGeom prst="rect">
            <a:avLst/>
          </a:prstGeom>
          <a:noFill/>
          <a:ln/>
        </p:spPr>
        <p:txBody>
          <a:bodyPr wrap="square" lIns="0" tIns="0" rIns="0" bIns="0" rtlCol="0" anchor="t"/>
          <a:lstStyle/>
          <a:p>
            <a:pPr marL="0" indent="0">
              <a:buNone/>
            </a:pPr>
            <a:r>
              <a:rPr lang="en-US" sz="1340" b="1" dirty="0">
                <a:solidFill>
                  <a:srgbClr val="FFFFFF"/>
                </a:solidFill>
                <a:latin typeface="Arial" pitchFamily="34" charset="0"/>
                <a:ea typeface="Arial" pitchFamily="34" charset="-122"/>
                <a:cs typeface="Arial" pitchFamily="34" charset="-120"/>
              </a:rPr>
              <a:t>QUALIFIED INPUTS &amp;</a:t>
            </a:r>
            <a:endParaRPr lang="en-US" sz="1340" dirty="0"/>
          </a:p>
          <a:p>
            <a:pPr marL="0" indent="0">
              <a:buNone/>
            </a:pPr>
            <a:r>
              <a:rPr lang="en-US" sz="1340" b="1" dirty="0">
                <a:solidFill>
                  <a:srgbClr val="FFFFFF"/>
                </a:solidFill>
                <a:latin typeface="Arial" pitchFamily="34" charset="0"/>
                <a:ea typeface="Arial" pitchFamily="34" charset="-122"/>
                <a:cs typeface="Arial" pitchFamily="34" charset="-120"/>
              </a:rPr>
              <a:t>SHARED PRODUCTS</a:t>
            </a:r>
            <a:endParaRPr lang="en-US" sz="1340" dirty="0"/>
          </a:p>
        </p:txBody>
      </p:sp>
      <p:sp>
        <p:nvSpPr>
          <p:cNvPr id="16" name="Shape 14"/>
          <p:cNvSpPr/>
          <p:nvPr/>
        </p:nvSpPr>
        <p:spPr>
          <a:xfrm>
            <a:off x="3657600" y="1792224"/>
            <a:ext cx="5961888" cy="630936"/>
          </a:xfrm>
          <a:prstGeom prst="rect">
            <a:avLst/>
          </a:prstGeom>
          <a:solidFill>
            <a:srgbClr val="087F86"/>
          </a:solidFill>
          <a:ln w="10160">
            <a:solidFill>
              <a:srgbClr val="087F86"/>
            </a:solidFill>
            <a:prstDash val="solid"/>
          </a:ln>
        </p:spPr>
        <p:txBody>
          <a:bodyPr/>
          <a:lstStyle/>
          <a:p>
            <a:endParaRPr lang="en-US"/>
          </a:p>
        </p:txBody>
      </p:sp>
      <p:sp>
        <p:nvSpPr>
          <p:cNvPr id="17" name="Shape 15"/>
          <p:cNvSpPr/>
          <p:nvPr/>
        </p:nvSpPr>
        <p:spPr>
          <a:xfrm>
            <a:off x="3785616" y="1906524"/>
            <a:ext cx="402336" cy="402336"/>
          </a:xfrm>
          <a:prstGeom prst="ellipse">
            <a:avLst/>
          </a:prstGeom>
          <a:solidFill>
            <a:srgbClr val="087F86"/>
          </a:solidFill>
          <a:ln w="22860">
            <a:solidFill>
              <a:srgbClr val="FFFFFF"/>
            </a:solidFill>
            <a:prstDash val="solid"/>
          </a:ln>
        </p:spPr>
        <p:txBody>
          <a:bodyPr/>
          <a:lstStyle/>
          <a:p>
            <a:endParaRPr lang="en-US"/>
          </a:p>
        </p:txBody>
      </p:sp>
      <p:sp>
        <p:nvSpPr>
          <p:cNvPr id="18" name="Text 16"/>
          <p:cNvSpPr/>
          <p:nvPr/>
        </p:nvSpPr>
        <p:spPr>
          <a:xfrm>
            <a:off x="3785616" y="1906524"/>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9" name="Text 17"/>
          <p:cNvSpPr/>
          <p:nvPr/>
        </p:nvSpPr>
        <p:spPr>
          <a:xfrm>
            <a:off x="4343400" y="1997964"/>
            <a:ext cx="5084064" cy="246888"/>
          </a:xfrm>
          <a:prstGeom prst="rect">
            <a:avLst/>
          </a:prstGeom>
          <a:noFill/>
          <a:ln/>
        </p:spPr>
        <p:txBody>
          <a:bodyPr wrap="square" lIns="0" tIns="0" rIns="0" bIns="0" rtlCol="0" anchor="ctr"/>
          <a:lstStyle/>
          <a:p>
            <a:pPr marL="0" indent="0">
              <a:buNone/>
            </a:pPr>
            <a:r>
              <a:rPr lang="en-US" sz="1680" b="1" dirty="0">
                <a:solidFill>
                  <a:srgbClr val="FFFFFF"/>
                </a:solidFill>
                <a:latin typeface="Arial" pitchFamily="34" charset="0"/>
                <a:ea typeface="Arial" pitchFamily="34" charset="-122"/>
                <a:cs typeface="Arial" pitchFamily="34" charset="-120"/>
              </a:rPr>
              <a:t>NSCLC DISEASE-SPECIFIC DATA PRODUCT</a:t>
            </a:r>
            <a:endParaRPr lang="en-US" sz="1680" dirty="0"/>
          </a:p>
        </p:txBody>
      </p:sp>
      <p:sp>
        <p:nvSpPr>
          <p:cNvPr id="20" name="Shape 18"/>
          <p:cNvSpPr/>
          <p:nvPr/>
        </p:nvSpPr>
        <p:spPr>
          <a:xfrm>
            <a:off x="10131552" y="1792224"/>
            <a:ext cx="4087368" cy="630936"/>
          </a:xfrm>
          <a:prstGeom prst="rect">
            <a:avLst/>
          </a:prstGeom>
          <a:solidFill>
            <a:srgbClr val="28745E"/>
          </a:solidFill>
          <a:ln w="10160">
            <a:solidFill>
              <a:srgbClr val="28745E"/>
            </a:solidFill>
            <a:prstDash val="solid"/>
          </a:ln>
        </p:spPr>
        <p:txBody>
          <a:bodyPr/>
          <a:lstStyle/>
          <a:p>
            <a:endParaRPr lang="en-US"/>
          </a:p>
        </p:txBody>
      </p:sp>
      <p:sp>
        <p:nvSpPr>
          <p:cNvPr id="21" name="Shape 19"/>
          <p:cNvSpPr/>
          <p:nvPr/>
        </p:nvSpPr>
        <p:spPr>
          <a:xfrm>
            <a:off x="10250424" y="1906524"/>
            <a:ext cx="402336" cy="402336"/>
          </a:xfrm>
          <a:prstGeom prst="ellipse">
            <a:avLst/>
          </a:prstGeom>
          <a:solidFill>
            <a:srgbClr val="28745E"/>
          </a:solidFill>
          <a:ln w="22860">
            <a:solidFill>
              <a:srgbClr val="FFFFFF"/>
            </a:solidFill>
            <a:prstDash val="solid"/>
          </a:ln>
        </p:spPr>
        <p:txBody>
          <a:bodyPr/>
          <a:lstStyle/>
          <a:p>
            <a:endParaRPr lang="en-US"/>
          </a:p>
        </p:txBody>
      </p:sp>
      <p:sp>
        <p:nvSpPr>
          <p:cNvPr id="22" name="Text 20"/>
          <p:cNvSpPr/>
          <p:nvPr/>
        </p:nvSpPr>
        <p:spPr>
          <a:xfrm>
            <a:off x="10250424" y="1906524"/>
            <a:ext cx="402336" cy="40233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10789920" y="1997964"/>
            <a:ext cx="3264408" cy="246888"/>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STUDY DATASET ASSEMBLY</a:t>
            </a:r>
            <a:endParaRPr lang="en-US" sz="1550" dirty="0"/>
          </a:p>
        </p:txBody>
      </p:sp>
      <p:sp>
        <p:nvSpPr>
          <p:cNvPr id="24" name="Shape 22"/>
          <p:cNvSpPr/>
          <p:nvPr/>
        </p:nvSpPr>
        <p:spPr>
          <a:xfrm>
            <a:off x="3364992" y="4133088"/>
            <a:ext cx="210312" cy="393192"/>
          </a:xfrm>
          <a:prstGeom prst="chevron">
            <a:avLst/>
          </a:prstGeom>
          <a:solidFill>
            <a:srgbClr val="92A5B2"/>
          </a:solidFill>
          <a:ln w="3810">
            <a:solidFill>
              <a:srgbClr val="92A5B2"/>
            </a:solidFill>
            <a:prstDash val="solid"/>
          </a:ln>
        </p:spPr>
        <p:txBody>
          <a:bodyPr/>
          <a:lstStyle/>
          <a:p>
            <a:endParaRPr lang="en-US"/>
          </a:p>
        </p:txBody>
      </p:sp>
      <p:sp>
        <p:nvSpPr>
          <p:cNvPr id="25" name="Shape 23"/>
          <p:cNvSpPr/>
          <p:nvPr/>
        </p:nvSpPr>
        <p:spPr>
          <a:xfrm>
            <a:off x="9756648" y="4133088"/>
            <a:ext cx="210312" cy="393192"/>
          </a:xfrm>
          <a:prstGeom prst="chevron">
            <a:avLst/>
          </a:prstGeom>
          <a:solidFill>
            <a:srgbClr val="92A5B2"/>
          </a:solidFill>
          <a:ln w="3810">
            <a:solidFill>
              <a:srgbClr val="92A5B2"/>
            </a:solidFill>
            <a:prstDash val="solid"/>
          </a:ln>
        </p:spPr>
        <p:txBody>
          <a:bodyPr/>
          <a:lstStyle/>
          <a:p>
            <a:endParaRPr lang="en-US"/>
          </a:p>
        </p:txBody>
      </p:sp>
      <p:sp>
        <p:nvSpPr>
          <p:cNvPr id="26" name="Text 24"/>
          <p:cNvSpPr/>
          <p:nvPr/>
        </p:nvSpPr>
        <p:spPr>
          <a:xfrm>
            <a:off x="594360" y="2615184"/>
            <a:ext cx="2523744" cy="228600"/>
          </a:xfrm>
          <a:prstGeom prst="rect">
            <a:avLst/>
          </a:prstGeom>
          <a:noFill/>
          <a:ln/>
        </p:spPr>
        <p:txBody>
          <a:bodyPr wrap="square" lIns="0" tIns="0" rIns="0" bIns="0" rtlCol="0" anchor="ctr"/>
          <a:lstStyle/>
          <a:p>
            <a:pPr marL="0" indent="0">
              <a:buNone/>
            </a:pPr>
            <a:r>
              <a:rPr lang="en-US" sz="1190" b="1" dirty="0">
                <a:solidFill>
                  <a:srgbClr val="102E48"/>
                </a:solidFill>
                <a:latin typeface="Arial" pitchFamily="34" charset="0"/>
                <a:ea typeface="Arial" pitchFamily="34" charset="-122"/>
                <a:cs typeface="Arial" pitchFamily="34" charset="-120"/>
              </a:rPr>
              <a:t>OMOP / SOURCE RELEASE [1]</a:t>
            </a:r>
            <a:endParaRPr lang="en-US" sz="1190" dirty="0"/>
          </a:p>
        </p:txBody>
      </p:sp>
      <p:sp>
        <p:nvSpPr>
          <p:cNvPr id="27" name="Text 25"/>
          <p:cNvSpPr/>
          <p:nvPr/>
        </p:nvSpPr>
        <p:spPr>
          <a:xfrm>
            <a:off x="594360" y="2971800"/>
            <a:ext cx="2505456" cy="777240"/>
          </a:xfrm>
          <a:prstGeom prst="rect">
            <a:avLst/>
          </a:prstGeom>
          <a:noFill/>
          <a:ln/>
        </p:spPr>
        <p:txBody>
          <a:bodyPr wrap="square" lIns="0" tIns="0" rIns="0" bIns="0" rtlCol="0" anchor="t"/>
          <a:lstStyle/>
          <a:p>
            <a:pPr marL="0" indent="0">
              <a:buNone/>
            </a:pPr>
            <a:r>
              <a:rPr lang="en-US" sz="1410" dirty="0">
                <a:solidFill>
                  <a:srgbClr val="15334D"/>
                </a:solidFill>
                <a:latin typeface="Arial" pitchFamily="34" charset="0"/>
                <a:ea typeface="Arial" pitchFamily="34" charset="-122"/>
                <a:cs typeface="Arial" pitchFamily="34" charset="-120"/>
              </a:rPr>
              <a:t>Person, conditions, exposures,</a:t>
            </a:r>
            <a:endParaRPr lang="en-US" sz="1410" dirty="0"/>
          </a:p>
          <a:p>
            <a:pPr marL="0" indent="0">
              <a:buNone/>
            </a:pPr>
            <a:r>
              <a:rPr lang="en-US" sz="1410" dirty="0">
                <a:solidFill>
                  <a:srgbClr val="15334D"/>
                </a:solidFill>
                <a:latin typeface="Arial" pitchFamily="34" charset="0"/>
                <a:ea typeface="Arial" pitchFamily="34" charset="-122"/>
                <a:cs typeface="Arial" pitchFamily="34" charset="-120"/>
              </a:rPr>
              <a:t>measurements, observations,</a:t>
            </a:r>
            <a:endParaRPr lang="en-US" sz="1410" dirty="0"/>
          </a:p>
          <a:p>
            <a:pPr marL="0" indent="0">
              <a:buNone/>
            </a:pPr>
            <a:r>
              <a:rPr lang="en-US" sz="1410" dirty="0">
                <a:solidFill>
                  <a:srgbClr val="15334D"/>
                </a:solidFill>
                <a:latin typeface="Arial" pitchFamily="34" charset="0"/>
                <a:ea typeface="Arial" pitchFamily="34" charset="-122"/>
                <a:cs typeface="Arial" pitchFamily="34" charset="-120"/>
              </a:rPr>
              <a:t>visits / procedures and death</a:t>
            </a:r>
            <a:endParaRPr lang="en-US" sz="1410" dirty="0"/>
          </a:p>
        </p:txBody>
      </p:sp>
      <p:sp>
        <p:nvSpPr>
          <p:cNvPr id="28" name="Text 26"/>
          <p:cNvSpPr/>
          <p:nvPr/>
        </p:nvSpPr>
        <p:spPr>
          <a:xfrm>
            <a:off x="594360" y="3813048"/>
            <a:ext cx="2505456" cy="466344"/>
          </a:xfrm>
          <a:prstGeom prst="rect">
            <a:avLst/>
          </a:prstGeom>
          <a:noFill/>
          <a:ln/>
        </p:spPr>
        <p:txBody>
          <a:bodyPr wrap="square" lIns="0" tIns="0" rIns="0" bIns="0" rtlCol="0" anchor="t"/>
          <a:lstStyle/>
          <a:p>
            <a:pPr marL="0" indent="0">
              <a:buNone/>
            </a:pPr>
            <a:r>
              <a:rPr lang="en-US" sz="1330" dirty="0">
                <a:solidFill>
                  <a:srgbClr val="15334D"/>
                </a:solidFill>
                <a:latin typeface="Arial" pitchFamily="34" charset="0"/>
                <a:ea typeface="Arial" pitchFamily="34" charset="-122"/>
                <a:cs typeface="Arial" pitchFamily="34" charset="-120"/>
              </a:rPr>
              <a:t>Observation periods; disease /</a:t>
            </a:r>
            <a:endParaRPr lang="en-US" sz="1330" dirty="0"/>
          </a:p>
          <a:p>
            <a:pPr marL="0" indent="0">
              <a:buNone/>
            </a:pPr>
            <a:r>
              <a:rPr lang="en-US" sz="1330" dirty="0">
                <a:solidFill>
                  <a:srgbClr val="15334D"/>
                </a:solidFill>
                <a:latin typeface="Arial" pitchFamily="34" charset="0"/>
                <a:ea typeface="Arial" pitchFamily="34" charset="-122"/>
                <a:cs typeface="Arial" pitchFamily="34" charset="-120"/>
              </a:rPr>
              <a:t>treatment episodes when available</a:t>
            </a:r>
            <a:endParaRPr lang="en-US" sz="1330" dirty="0"/>
          </a:p>
        </p:txBody>
      </p:sp>
      <p:sp>
        <p:nvSpPr>
          <p:cNvPr id="29" name="Shape 27"/>
          <p:cNvSpPr/>
          <p:nvPr/>
        </p:nvSpPr>
        <p:spPr>
          <a:xfrm>
            <a:off x="594360" y="4471416"/>
            <a:ext cx="2505456" cy="0"/>
          </a:xfrm>
          <a:prstGeom prst="line">
            <a:avLst/>
          </a:prstGeom>
          <a:noFill/>
          <a:ln w="11430">
            <a:solidFill>
              <a:srgbClr val="BDCCD8"/>
            </a:solidFill>
            <a:prstDash val="solid"/>
            <a:headEnd type="none"/>
            <a:tailEnd type="none"/>
          </a:ln>
        </p:spPr>
        <p:txBody>
          <a:bodyPr/>
          <a:lstStyle/>
          <a:p>
            <a:endParaRPr lang="en-US"/>
          </a:p>
        </p:txBody>
      </p:sp>
      <p:sp>
        <p:nvSpPr>
          <p:cNvPr id="30" name="Text 28"/>
          <p:cNvSpPr/>
          <p:nvPr/>
        </p:nvSpPr>
        <p:spPr>
          <a:xfrm>
            <a:off x="594360" y="4663440"/>
            <a:ext cx="2505456" cy="228600"/>
          </a:xfrm>
          <a:prstGeom prst="rect">
            <a:avLst/>
          </a:prstGeom>
          <a:noFill/>
          <a:ln/>
        </p:spPr>
        <p:txBody>
          <a:bodyPr wrap="square" lIns="0" tIns="0" rIns="0" bIns="0" rtlCol="0" anchor="ctr"/>
          <a:lstStyle/>
          <a:p>
            <a:pPr marL="0" indent="0">
              <a:buNone/>
            </a:pPr>
            <a:r>
              <a:rPr lang="en-US" sz="1190" b="1" dirty="0">
                <a:solidFill>
                  <a:srgbClr val="315F9C"/>
                </a:solidFill>
                <a:latin typeface="Arial" pitchFamily="34" charset="0"/>
                <a:ea typeface="Arial" pitchFamily="34" charset="-122"/>
                <a:cs typeface="Arial" pitchFamily="34" charset="-120"/>
              </a:rPr>
              <a:t>RELEASED SHARED PRODUCTS</a:t>
            </a:r>
            <a:endParaRPr lang="en-US" sz="1190" dirty="0"/>
          </a:p>
        </p:txBody>
      </p:sp>
      <p:sp>
        <p:nvSpPr>
          <p:cNvPr id="31" name="Shape 29"/>
          <p:cNvSpPr/>
          <p:nvPr/>
        </p:nvSpPr>
        <p:spPr>
          <a:xfrm>
            <a:off x="603504" y="5120640"/>
            <a:ext cx="41148" cy="41148"/>
          </a:xfrm>
          <a:prstGeom prst="ellipse">
            <a:avLst/>
          </a:prstGeom>
          <a:solidFill>
            <a:srgbClr val="315F9C"/>
          </a:solidFill>
          <a:ln w="12700">
            <a:solidFill>
              <a:srgbClr val="315F9C"/>
            </a:solidFill>
            <a:prstDash val="solid"/>
          </a:ln>
        </p:spPr>
        <p:txBody>
          <a:bodyPr/>
          <a:lstStyle/>
          <a:p>
            <a:endParaRPr lang="en-US"/>
          </a:p>
        </p:txBody>
      </p:sp>
      <p:sp>
        <p:nvSpPr>
          <p:cNvPr id="32" name="Text 30"/>
          <p:cNvSpPr/>
          <p:nvPr/>
        </p:nvSpPr>
        <p:spPr>
          <a:xfrm>
            <a:off x="722376" y="5029200"/>
            <a:ext cx="2377440" cy="283464"/>
          </a:xfrm>
          <a:prstGeom prst="rect">
            <a:avLst/>
          </a:prstGeom>
          <a:noFill/>
          <a:ln/>
        </p:spPr>
        <p:txBody>
          <a:bodyPr wrap="square" lIns="0" tIns="0" rIns="0" bIns="0" rtlCol="0" anchor="t"/>
          <a:lstStyle/>
          <a:p>
            <a:pPr marL="0" indent="0">
              <a:buNone/>
            </a:pPr>
            <a:r>
              <a:rPr lang="en-US" sz="1290" dirty="0">
                <a:solidFill>
                  <a:srgbClr val="15334D"/>
                </a:solidFill>
                <a:latin typeface="Arial" pitchFamily="34" charset="0"/>
                <a:ea typeface="Arial" pitchFamily="34" charset="-122"/>
                <a:cs typeface="Arial" pitchFamily="34" charset="-120"/>
              </a:rPr>
              <a:t>Patient / observation profiles</a:t>
            </a:r>
            <a:endParaRPr lang="en-US" sz="1290" dirty="0"/>
          </a:p>
        </p:txBody>
      </p:sp>
      <p:sp>
        <p:nvSpPr>
          <p:cNvPr id="33" name="Shape 31"/>
          <p:cNvSpPr/>
          <p:nvPr/>
        </p:nvSpPr>
        <p:spPr>
          <a:xfrm>
            <a:off x="603504" y="5550408"/>
            <a:ext cx="41148" cy="41148"/>
          </a:xfrm>
          <a:prstGeom prst="ellipse">
            <a:avLst/>
          </a:prstGeom>
          <a:solidFill>
            <a:srgbClr val="315F9C"/>
          </a:solidFill>
          <a:ln w="12700">
            <a:solidFill>
              <a:srgbClr val="315F9C"/>
            </a:solidFill>
            <a:prstDash val="solid"/>
          </a:ln>
        </p:spPr>
        <p:txBody>
          <a:bodyPr/>
          <a:lstStyle/>
          <a:p>
            <a:endParaRPr lang="en-US"/>
          </a:p>
        </p:txBody>
      </p:sp>
      <p:sp>
        <p:nvSpPr>
          <p:cNvPr id="34" name="Text 32"/>
          <p:cNvSpPr/>
          <p:nvPr/>
        </p:nvSpPr>
        <p:spPr>
          <a:xfrm>
            <a:off x="722376" y="5458968"/>
            <a:ext cx="2377440" cy="429768"/>
          </a:xfrm>
          <a:prstGeom prst="rect">
            <a:avLst/>
          </a:prstGeom>
          <a:noFill/>
          <a:ln/>
        </p:spPr>
        <p:txBody>
          <a:bodyPr wrap="square" lIns="0" tIns="0" rIns="0" bIns="0" rtlCol="0" anchor="t"/>
          <a:lstStyle/>
          <a:p>
            <a:pPr marL="0" indent="0">
              <a:buNone/>
            </a:pPr>
            <a:r>
              <a:rPr lang="en-US" sz="1290" dirty="0">
                <a:solidFill>
                  <a:srgbClr val="15334D"/>
                </a:solidFill>
                <a:latin typeface="Arial" pitchFamily="34" charset="0"/>
                <a:ea typeface="Arial" pitchFamily="34" charset="-122"/>
                <a:cs typeface="Arial" pitchFamily="34" charset="-120"/>
              </a:rPr>
              <a:t>Dated measurement and</a:t>
            </a:r>
            <a:endParaRPr lang="en-US" sz="1290" dirty="0"/>
          </a:p>
          <a:p>
            <a:pPr marL="0" indent="0">
              <a:buNone/>
            </a:pPr>
            <a:r>
              <a:rPr lang="en-US" sz="1290" dirty="0">
                <a:solidFill>
                  <a:srgbClr val="15334D"/>
                </a:solidFill>
                <a:latin typeface="Arial" pitchFamily="34" charset="0"/>
                <a:ea typeface="Arial" pitchFamily="34" charset="-122"/>
                <a:cs typeface="Arial" pitchFamily="34" charset="-120"/>
              </a:rPr>
              <a:t>treatment-event datasets</a:t>
            </a:r>
            <a:endParaRPr lang="en-US" sz="1290" dirty="0"/>
          </a:p>
        </p:txBody>
      </p:sp>
      <p:sp>
        <p:nvSpPr>
          <p:cNvPr id="35" name="Shape 33"/>
          <p:cNvSpPr/>
          <p:nvPr/>
        </p:nvSpPr>
        <p:spPr>
          <a:xfrm>
            <a:off x="603504" y="6099048"/>
            <a:ext cx="41148" cy="41148"/>
          </a:xfrm>
          <a:prstGeom prst="ellipse">
            <a:avLst/>
          </a:prstGeom>
          <a:solidFill>
            <a:srgbClr val="315F9C"/>
          </a:solidFill>
          <a:ln w="12700">
            <a:solidFill>
              <a:srgbClr val="315F9C"/>
            </a:solidFill>
            <a:prstDash val="solid"/>
          </a:ln>
        </p:spPr>
        <p:txBody>
          <a:bodyPr/>
          <a:lstStyle/>
          <a:p>
            <a:endParaRPr lang="en-US"/>
          </a:p>
        </p:txBody>
      </p:sp>
      <p:sp>
        <p:nvSpPr>
          <p:cNvPr id="36" name="Text 34"/>
          <p:cNvSpPr/>
          <p:nvPr/>
        </p:nvSpPr>
        <p:spPr>
          <a:xfrm>
            <a:off x="722376" y="6007608"/>
            <a:ext cx="2377440" cy="283464"/>
          </a:xfrm>
          <a:prstGeom prst="rect">
            <a:avLst/>
          </a:prstGeom>
          <a:noFill/>
          <a:ln/>
        </p:spPr>
        <p:txBody>
          <a:bodyPr wrap="square" lIns="0" tIns="0" rIns="0" bIns="0" rtlCol="0" anchor="t"/>
          <a:lstStyle/>
          <a:p>
            <a:pPr marL="0" indent="0">
              <a:buNone/>
            </a:pPr>
            <a:r>
              <a:rPr lang="en-US" sz="1290" dirty="0">
                <a:solidFill>
                  <a:srgbClr val="15334D"/>
                </a:solidFill>
                <a:latin typeface="Arial" pitchFamily="34" charset="0"/>
                <a:ea typeface="Arial" pitchFamily="34" charset="-122"/>
                <a:cs typeface="Arial" pitchFamily="34" charset="-120"/>
              </a:rPr>
              <a:t>Concept / code-set references</a:t>
            </a:r>
            <a:endParaRPr lang="en-US" sz="1290" dirty="0"/>
          </a:p>
        </p:txBody>
      </p:sp>
      <p:sp>
        <p:nvSpPr>
          <p:cNvPr id="37" name="Text 35"/>
          <p:cNvSpPr/>
          <p:nvPr/>
        </p:nvSpPr>
        <p:spPr>
          <a:xfrm>
            <a:off x="3840480" y="2606040"/>
            <a:ext cx="5596128" cy="210312"/>
          </a:xfrm>
          <a:prstGeom prst="rect">
            <a:avLst/>
          </a:prstGeom>
          <a:noFill/>
          <a:ln/>
        </p:spPr>
        <p:txBody>
          <a:bodyPr wrap="square" lIns="0" tIns="0" rIns="0" bIns="0" rtlCol="0" anchor="ctr"/>
          <a:lstStyle/>
          <a:p>
            <a:pPr marL="0" indent="0">
              <a:buNone/>
            </a:pPr>
            <a:r>
              <a:rPr lang="en-US" sz="1090" b="1" dirty="0">
                <a:solidFill>
                  <a:srgbClr val="087F86"/>
                </a:solidFill>
                <a:latin typeface="Arial" pitchFamily="34" charset="0"/>
                <a:ea typeface="Arial" pitchFamily="34" charset="-122"/>
                <a:cs typeface="Arial" pitchFamily="34" charset="-120"/>
              </a:rPr>
              <a:t>CORE COMPONENTS  •  WHERE SUPPORTED BY THE SOURCE</a:t>
            </a:r>
            <a:endParaRPr lang="en-US" sz="1090" dirty="0"/>
          </a:p>
        </p:txBody>
      </p:sp>
      <p:sp>
        <p:nvSpPr>
          <p:cNvPr id="38" name="Shape 36"/>
          <p:cNvSpPr/>
          <p:nvPr/>
        </p:nvSpPr>
        <p:spPr>
          <a:xfrm>
            <a:off x="3840480" y="2935224"/>
            <a:ext cx="2729484" cy="841248"/>
          </a:xfrm>
          <a:prstGeom prst="roundRect">
            <a:avLst>
              <a:gd name="adj" fmla="val 3804"/>
            </a:avLst>
          </a:prstGeom>
          <a:solidFill>
            <a:srgbClr val="EAF3F1"/>
          </a:solidFill>
          <a:ln w="7620">
            <a:solidFill>
              <a:srgbClr val="CFDFDA"/>
            </a:solidFill>
            <a:prstDash val="solid"/>
          </a:ln>
        </p:spPr>
        <p:txBody>
          <a:bodyPr/>
          <a:lstStyle/>
          <a:p>
            <a:endParaRPr lang="en-US"/>
          </a:p>
        </p:txBody>
      </p:sp>
      <p:sp>
        <p:nvSpPr>
          <p:cNvPr id="39" name="Text 37"/>
          <p:cNvSpPr/>
          <p:nvPr/>
        </p:nvSpPr>
        <p:spPr>
          <a:xfrm>
            <a:off x="3968496" y="3054096"/>
            <a:ext cx="2473452" cy="210312"/>
          </a:xfrm>
          <a:prstGeom prst="rect">
            <a:avLst/>
          </a:prstGeom>
          <a:noFill/>
          <a:ln/>
        </p:spPr>
        <p:txBody>
          <a:bodyPr wrap="square" lIns="0" tIns="0" rIns="0" bIns="0" rtlCol="0" anchor="ctr"/>
          <a:lstStyle/>
          <a:p>
            <a:pPr marL="0" indent="0">
              <a:buNone/>
            </a:pPr>
            <a:r>
              <a:rPr lang="en-US" sz="1440" b="1" dirty="0">
                <a:solidFill>
                  <a:srgbClr val="087F86"/>
                </a:solidFill>
                <a:latin typeface="Arial" pitchFamily="34" charset="0"/>
                <a:ea typeface="Arial" pitchFamily="34" charset="-122"/>
                <a:cs typeface="Arial" pitchFamily="34" charset="-120"/>
              </a:rPr>
              <a:t>Patient &amp; disease</a:t>
            </a:r>
            <a:endParaRPr lang="en-US" sz="1440" dirty="0"/>
          </a:p>
        </p:txBody>
      </p:sp>
      <p:sp>
        <p:nvSpPr>
          <p:cNvPr id="40" name="Text 38"/>
          <p:cNvSpPr/>
          <p:nvPr/>
        </p:nvSpPr>
        <p:spPr>
          <a:xfrm>
            <a:off x="3968496" y="3346704"/>
            <a:ext cx="2473452" cy="356616"/>
          </a:xfrm>
          <a:prstGeom prst="rect">
            <a:avLst/>
          </a:prstGeom>
          <a:noFill/>
          <a:ln/>
        </p:spPr>
        <p:txBody>
          <a:bodyPr wrap="square" lIns="0" tIns="0" rIns="0" bIns="0" rtlCol="0" anchor="t"/>
          <a:lstStyle/>
          <a:p>
            <a:pPr marL="0" indent="0">
              <a:buNone/>
            </a:pPr>
            <a:r>
              <a:rPr lang="en-US" sz="1280" dirty="0">
                <a:solidFill>
                  <a:srgbClr val="15334D"/>
                </a:solidFill>
                <a:latin typeface="Arial" pitchFamily="34" charset="0"/>
                <a:ea typeface="Arial" pitchFamily="34" charset="-122"/>
                <a:cs typeface="Arial" pitchFamily="34" charset="-120"/>
              </a:rPr>
              <a:t>Diagnosis, histology, stage;</a:t>
            </a:r>
            <a:endParaRPr lang="en-US" sz="1280" dirty="0"/>
          </a:p>
          <a:p>
            <a:pPr marL="0" indent="0">
              <a:buNone/>
            </a:pPr>
            <a:r>
              <a:rPr lang="en-US" sz="1280" dirty="0">
                <a:solidFill>
                  <a:srgbClr val="15334D"/>
                </a:solidFill>
                <a:latin typeface="Arial" pitchFamily="34" charset="0"/>
                <a:ea typeface="Arial" pitchFamily="34" charset="-122"/>
                <a:cs typeface="Arial" pitchFamily="34" charset="-120"/>
              </a:rPr>
              <a:t>disease setting and dated history</a:t>
            </a:r>
            <a:endParaRPr lang="en-US" sz="1280" dirty="0"/>
          </a:p>
        </p:txBody>
      </p:sp>
      <p:sp>
        <p:nvSpPr>
          <p:cNvPr id="41" name="Shape 39"/>
          <p:cNvSpPr/>
          <p:nvPr/>
        </p:nvSpPr>
        <p:spPr>
          <a:xfrm>
            <a:off x="6707124" y="2935224"/>
            <a:ext cx="2729484" cy="841248"/>
          </a:xfrm>
          <a:prstGeom prst="roundRect">
            <a:avLst>
              <a:gd name="adj" fmla="val 3804"/>
            </a:avLst>
          </a:prstGeom>
          <a:solidFill>
            <a:srgbClr val="EAF3F1"/>
          </a:solidFill>
          <a:ln w="7620">
            <a:solidFill>
              <a:srgbClr val="CFDFDA"/>
            </a:solidFill>
            <a:prstDash val="solid"/>
          </a:ln>
        </p:spPr>
        <p:txBody>
          <a:bodyPr/>
          <a:lstStyle/>
          <a:p>
            <a:endParaRPr lang="en-US"/>
          </a:p>
        </p:txBody>
      </p:sp>
      <p:sp>
        <p:nvSpPr>
          <p:cNvPr id="42" name="Text 40"/>
          <p:cNvSpPr/>
          <p:nvPr/>
        </p:nvSpPr>
        <p:spPr>
          <a:xfrm>
            <a:off x="6835140" y="3054096"/>
            <a:ext cx="2473452" cy="210312"/>
          </a:xfrm>
          <a:prstGeom prst="rect">
            <a:avLst/>
          </a:prstGeom>
          <a:noFill/>
          <a:ln/>
        </p:spPr>
        <p:txBody>
          <a:bodyPr wrap="square" lIns="0" tIns="0" rIns="0" bIns="0" rtlCol="0" anchor="ctr"/>
          <a:lstStyle/>
          <a:p>
            <a:pPr marL="0" indent="0">
              <a:buNone/>
            </a:pPr>
            <a:r>
              <a:rPr lang="en-US" sz="1440" b="1" dirty="0">
                <a:solidFill>
                  <a:srgbClr val="087F86"/>
                </a:solidFill>
                <a:latin typeface="Arial" pitchFamily="34" charset="0"/>
                <a:ea typeface="Arial" pitchFamily="34" charset="-122"/>
                <a:cs typeface="Arial" pitchFamily="34" charset="-120"/>
              </a:rPr>
              <a:t>Biomarkers &amp; clinical state</a:t>
            </a:r>
            <a:endParaRPr lang="en-US" sz="1440" dirty="0"/>
          </a:p>
        </p:txBody>
      </p:sp>
      <p:sp>
        <p:nvSpPr>
          <p:cNvPr id="43" name="Text 41"/>
          <p:cNvSpPr/>
          <p:nvPr/>
        </p:nvSpPr>
        <p:spPr>
          <a:xfrm>
            <a:off x="6835140" y="3346704"/>
            <a:ext cx="2473452" cy="356616"/>
          </a:xfrm>
          <a:prstGeom prst="rect">
            <a:avLst/>
          </a:prstGeom>
          <a:noFill/>
          <a:ln/>
        </p:spPr>
        <p:txBody>
          <a:bodyPr wrap="square" lIns="0" tIns="0" rIns="0" bIns="0" rtlCol="0" anchor="t"/>
          <a:lstStyle/>
          <a:p>
            <a:pPr marL="0" indent="0">
              <a:buNone/>
            </a:pPr>
            <a:r>
              <a:rPr lang="en-US" sz="1280" dirty="0">
                <a:solidFill>
                  <a:srgbClr val="15334D"/>
                </a:solidFill>
                <a:latin typeface="Arial" pitchFamily="34" charset="0"/>
                <a:ea typeface="Arial" pitchFamily="34" charset="-122"/>
                <a:cs typeface="Arial" pitchFamily="34" charset="-120"/>
              </a:rPr>
              <a:t>Dated test results, methods;</a:t>
            </a:r>
            <a:endParaRPr lang="en-US" sz="1280" dirty="0"/>
          </a:p>
          <a:p>
            <a:pPr marL="0" indent="0">
              <a:buNone/>
            </a:pPr>
            <a:r>
              <a:rPr lang="en-US" sz="1280" dirty="0">
                <a:solidFill>
                  <a:srgbClr val="15334D"/>
                </a:solidFill>
                <a:latin typeface="Arial" pitchFamily="34" charset="0"/>
                <a:ea typeface="Arial" pitchFamily="34" charset="-122"/>
                <a:cs typeface="Arial" pitchFamily="34" charset="-120"/>
              </a:rPr>
              <a:t>ECOG and assessments</a:t>
            </a:r>
            <a:endParaRPr lang="en-US" sz="1280" dirty="0"/>
          </a:p>
        </p:txBody>
      </p:sp>
      <p:sp>
        <p:nvSpPr>
          <p:cNvPr id="44" name="Shape 42"/>
          <p:cNvSpPr/>
          <p:nvPr/>
        </p:nvSpPr>
        <p:spPr>
          <a:xfrm>
            <a:off x="3840480" y="3904488"/>
            <a:ext cx="2729484" cy="841248"/>
          </a:xfrm>
          <a:prstGeom prst="roundRect">
            <a:avLst>
              <a:gd name="adj" fmla="val 3804"/>
            </a:avLst>
          </a:prstGeom>
          <a:solidFill>
            <a:srgbClr val="EAF3F1"/>
          </a:solidFill>
          <a:ln w="7620">
            <a:solidFill>
              <a:srgbClr val="CFDFDA"/>
            </a:solidFill>
            <a:prstDash val="solid"/>
          </a:ln>
        </p:spPr>
        <p:txBody>
          <a:bodyPr/>
          <a:lstStyle/>
          <a:p>
            <a:endParaRPr lang="en-US"/>
          </a:p>
        </p:txBody>
      </p:sp>
      <p:sp>
        <p:nvSpPr>
          <p:cNvPr id="45" name="Text 43"/>
          <p:cNvSpPr/>
          <p:nvPr/>
        </p:nvSpPr>
        <p:spPr>
          <a:xfrm>
            <a:off x="3968496" y="4023360"/>
            <a:ext cx="2473452" cy="210312"/>
          </a:xfrm>
          <a:prstGeom prst="rect">
            <a:avLst/>
          </a:prstGeom>
          <a:noFill/>
          <a:ln/>
        </p:spPr>
        <p:txBody>
          <a:bodyPr wrap="square" lIns="0" tIns="0" rIns="0" bIns="0" rtlCol="0" anchor="ctr"/>
          <a:lstStyle/>
          <a:p>
            <a:pPr marL="0" indent="0">
              <a:buNone/>
            </a:pPr>
            <a:r>
              <a:rPr lang="en-US" sz="1440" b="1" dirty="0">
                <a:solidFill>
                  <a:srgbClr val="087F86"/>
                </a:solidFill>
                <a:latin typeface="Arial" pitchFamily="34" charset="0"/>
                <a:ea typeface="Arial" pitchFamily="34" charset="-122"/>
                <a:cs typeface="Arial" pitchFamily="34" charset="-120"/>
              </a:rPr>
              <a:t>Treatment journey</a:t>
            </a:r>
            <a:endParaRPr lang="en-US" sz="1440" dirty="0"/>
          </a:p>
        </p:txBody>
      </p:sp>
      <p:sp>
        <p:nvSpPr>
          <p:cNvPr id="46" name="Text 44"/>
          <p:cNvSpPr/>
          <p:nvPr/>
        </p:nvSpPr>
        <p:spPr>
          <a:xfrm>
            <a:off x="3968496" y="4315968"/>
            <a:ext cx="2473452" cy="356616"/>
          </a:xfrm>
          <a:prstGeom prst="rect">
            <a:avLst/>
          </a:prstGeom>
          <a:noFill/>
          <a:ln/>
        </p:spPr>
        <p:txBody>
          <a:bodyPr wrap="square" lIns="0" tIns="0" rIns="0" bIns="0" rtlCol="0" anchor="t"/>
          <a:lstStyle/>
          <a:p>
            <a:pPr marL="0" indent="0">
              <a:buNone/>
            </a:pPr>
            <a:r>
              <a:rPr lang="en-US" sz="1280" dirty="0">
                <a:solidFill>
                  <a:srgbClr val="15334D"/>
                </a:solidFill>
                <a:latin typeface="Arial" pitchFamily="34" charset="0"/>
                <a:ea typeface="Arial" pitchFamily="34" charset="-122"/>
                <a:cs typeface="Arial" pitchFamily="34" charset="-120"/>
              </a:rPr>
              <a:t>Regimens, episodes and LOT;</a:t>
            </a:r>
            <a:endParaRPr lang="en-US" sz="1280" dirty="0"/>
          </a:p>
          <a:p>
            <a:pPr marL="0" indent="0">
              <a:buNone/>
            </a:pPr>
            <a:r>
              <a:rPr lang="en-US" sz="1280" dirty="0">
                <a:solidFill>
                  <a:srgbClr val="15334D"/>
                </a:solidFill>
                <a:latin typeface="Arial" pitchFamily="34" charset="0"/>
                <a:ea typeface="Arial" pitchFamily="34" charset="-122"/>
                <a:cs typeface="Arial" pitchFamily="34" charset="-120"/>
              </a:rPr>
              <a:t>algorithm, setting and version</a:t>
            </a:r>
            <a:endParaRPr lang="en-US" sz="1280" dirty="0"/>
          </a:p>
        </p:txBody>
      </p:sp>
      <p:sp>
        <p:nvSpPr>
          <p:cNvPr id="47" name="Shape 45"/>
          <p:cNvSpPr/>
          <p:nvPr/>
        </p:nvSpPr>
        <p:spPr>
          <a:xfrm>
            <a:off x="6707124" y="3904488"/>
            <a:ext cx="2729484" cy="841248"/>
          </a:xfrm>
          <a:prstGeom prst="roundRect">
            <a:avLst>
              <a:gd name="adj" fmla="val 3804"/>
            </a:avLst>
          </a:prstGeom>
          <a:solidFill>
            <a:srgbClr val="EAF3F1"/>
          </a:solidFill>
          <a:ln w="7620">
            <a:solidFill>
              <a:srgbClr val="CFDFDA"/>
            </a:solidFill>
            <a:prstDash val="solid"/>
          </a:ln>
        </p:spPr>
        <p:txBody>
          <a:bodyPr/>
          <a:lstStyle/>
          <a:p>
            <a:endParaRPr lang="en-US"/>
          </a:p>
        </p:txBody>
      </p:sp>
      <p:sp>
        <p:nvSpPr>
          <p:cNvPr id="48" name="Text 46"/>
          <p:cNvSpPr/>
          <p:nvPr/>
        </p:nvSpPr>
        <p:spPr>
          <a:xfrm>
            <a:off x="6835140" y="4023360"/>
            <a:ext cx="2473452" cy="210312"/>
          </a:xfrm>
          <a:prstGeom prst="rect">
            <a:avLst/>
          </a:prstGeom>
          <a:noFill/>
          <a:ln/>
        </p:spPr>
        <p:txBody>
          <a:bodyPr wrap="square" lIns="0" tIns="0" rIns="0" bIns="0" rtlCol="0" anchor="ctr"/>
          <a:lstStyle/>
          <a:p>
            <a:pPr marL="0" indent="0">
              <a:buNone/>
            </a:pPr>
            <a:r>
              <a:rPr lang="en-US" sz="1440" b="1" dirty="0">
                <a:solidFill>
                  <a:srgbClr val="087F86"/>
                </a:solidFill>
                <a:latin typeface="Arial" pitchFamily="34" charset="0"/>
                <a:ea typeface="Arial" pitchFamily="34" charset="-122"/>
                <a:cs typeface="Arial" pitchFamily="34" charset="-120"/>
              </a:rPr>
              <a:t>Events &amp; observation</a:t>
            </a:r>
            <a:endParaRPr lang="en-US" sz="1440" dirty="0"/>
          </a:p>
        </p:txBody>
      </p:sp>
      <p:sp>
        <p:nvSpPr>
          <p:cNvPr id="49" name="Text 47"/>
          <p:cNvSpPr/>
          <p:nvPr/>
        </p:nvSpPr>
        <p:spPr>
          <a:xfrm>
            <a:off x="6835140" y="4315968"/>
            <a:ext cx="2473452" cy="356616"/>
          </a:xfrm>
          <a:prstGeom prst="rect">
            <a:avLst/>
          </a:prstGeom>
          <a:noFill/>
          <a:ln/>
        </p:spPr>
        <p:txBody>
          <a:bodyPr wrap="square" lIns="0" tIns="0" rIns="0" bIns="0" rtlCol="0" anchor="t"/>
          <a:lstStyle/>
          <a:p>
            <a:pPr marL="0" indent="0">
              <a:buNone/>
            </a:pPr>
            <a:r>
              <a:rPr lang="en-US" sz="1280" dirty="0">
                <a:solidFill>
                  <a:srgbClr val="15334D"/>
                </a:solidFill>
                <a:latin typeface="Arial" pitchFamily="34" charset="0"/>
                <a:ea typeface="Arial" pitchFamily="34" charset="-122"/>
                <a:cs typeface="Arial" pitchFamily="34" charset="-120"/>
              </a:rPr>
              <a:t>Progression, response and death;</a:t>
            </a:r>
            <a:endParaRPr lang="en-US" sz="1280" dirty="0"/>
          </a:p>
          <a:p>
            <a:pPr marL="0" indent="0">
              <a:buNone/>
            </a:pPr>
            <a:r>
              <a:rPr lang="en-US" sz="1280" dirty="0">
                <a:solidFill>
                  <a:srgbClr val="15334D"/>
                </a:solidFill>
                <a:latin typeface="Arial" pitchFamily="34" charset="0"/>
                <a:ea typeface="Arial" pitchFamily="34" charset="-122"/>
                <a:cs typeface="Arial" pitchFamily="34" charset="-120"/>
              </a:rPr>
              <a:t>assessment method / activity</a:t>
            </a:r>
            <a:endParaRPr lang="en-US" sz="1280" dirty="0"/>
          </a:p>
        </p:txBody>
      </p:sp>
      <p:sp>
        <p:nvSpPr>
          <p:cNvPr id="50" name="Text 48"/>
          <p:cNvSpPr/>
          <p:nvPr/>
        </p:nvSpPr>
        <p:spPr>
          <a:xfrm>
            <a:off x="3840480" y="4956048"/>
            <a:ext cx="5596128" cy="210312"/>
          </a:xfrm>
          <a:prstGeom prst="rect">
            <a:avLst/>
          </a:prstGeom>
          <a:noFill/>
          <a:ln/>
        </p:spPr>
        <p:txBody>
          <a:bodyPr wrap="square" lIns="0" tIns="0" rIns="0" bIns="0" rtlCol="0" anchor="ctr"/>
          <a:lstStyle/>
          <a:p>
            <a:pPr marL="0" indent="0">
              <a:buNone/>
            </a:pPr>
            <a:r>
              <a:rPr lang="en-US" sz="1170" b="1" dirty="0">
                <a:solidFill>
                  <a:srgbClr val="087F86"/>
                </a:solidFill>
                <a:latin typeface="Arial" pitchFamily="34" charset="0"/>
                <a:ea typeface="Arial" pitchFamily="34" charset="-122"/>
                <a:cs typeface="Arial" pitchFamily="34" charset="-120"/>
              </a:rPr>
              <a:t>DERIVED VIEWS — EXPLICIT DEFINITIONS</a:t>
            </a:r>
            <a:endParaRPr lang="en-US" sz="1170" dirty="0"/>
          </a:p>
        </p:txBody>
      </p:sp>
      <p:sp>
        <p:nvSpPr>
          <p:cNvPr id="51" name="Text 49"/>
          <p:cNvSpPr/>
          <p:nvPr/>
        </p:nvSpPr>
        <p:spPr>
          <a:xfrm>
            <a:off x="3840480" y="5276088"/>
            <a:ext cx="5596128" cy="237744"/>
          </a:xfrm>
          <a:prstGeom prst="rect">
            <a:avLst/>
          </a:prstGeom>
          <a:noFill/>
          <a:ln/>
        </p:spPr>
        <p:txBody>
          <a:bodyPr wrap="square" lIns="0" tIns="0" rIns="0" bIns="0" rtlCol="0" anchor="ctr"/>
          <a:lstStyle/>
          <a:p>
            <a:pPr marL="0" indent="0">
              <a:buNone/>
            </a:pPr>
            <a:r>
              <a:rPr lang="en-US" sz="1320" dirty="0">
                <a:solidFill>
                  <a:srgbClr val="15334D"/>
                </a:solidFill>
                <a:latin typeface="Arial" pitchFamily="34" charset="0"/>
                <a:ea typeface="Arial" pitchFamily="34" charset="-122"/>
                <a:cs typeface="Arial" pitchFamily="34" charset="-120"/>
              </a:rPr>
              <a:t>Line summary • biomarker status at a declared treatment anchor</a:t>
            </a:r>
            <a:endParaRPr lang="en-US" sz="1320" dirty="0"/>
          </a:p>
        </p:txBody>
      </p:sp>
      <p:sp>
        <p:nvSpPr>
          <p:cNvPr id="52" name="Text 50"/>
          <p:cNvSpPr/>
          <p:nvPr/>
        </p:nvSpPr>
        <p:spPr>
          <a:xfrm>
            <a:off x="3840480" y="5596128"/>
            <a:ext cx="5596128" cy="411480"/>
          </a:xfrm>
          <a:prstGeom prst="rect">
            <a:avLst/>
          </a:prstGeom>
          <a:noFill/>
          <a:ln/>
        </p:spPr>
        <p:txBody>
          <a:bodyPr wrap="square" lIns="0" tIns="0" rIns="0" bIns="0" rtlCol="0" anchor="t"/>
          <a:lstStyle/>
          <a:p>
            <a:pPr marL="0" indent="0">
              <a:buNone/>
            </a:pPr>
            <a:r>
              <a:rPr lang="en-US" sz="1280" dirty="0">
                <a:solidFill>
                  <a:srgbClr val="15334D"/>
                </a:solidFill>
                <a:latin typeface="Arial" pitchFamily="34" charset="0"/>
                <a:ea typeface="Arial" pitchFamily="34" charset="-122"/>
                <a:cs typeface="Arial" pitchFamily="34" charset="-120"/>
              </a:rPr>
              <a:t>Optional OS-from-2L view: fixed index, death, observation,</a:t>
            </a:r>
            <a:endParaRPr lang="en-US" sz="1280" dirty="0"/>
          </a:p>
          <a:p>
            <a:pPr marL="0" indent="0">
              <a:buNone/>
            </a:pPr>
            <a:r>
              <a:rPr lang="en-US" sz="1280" dirty="0">
                <a:solidFill>
                  <a:srgbClr val="15334D"/>
                </a:solidFill>
                <a:latin typeface="Arial" pitchFamily="34" charset="0"/>
                <a:ea typeface="Arial" pitchFamily="34" charset="-122"/>
                <a:cs typeface="Arial" pitchFamily="34" charset="-120"/>
              </a:rPr>
              <a:t>censoring and data-cut rules; check study compatibility. [2]</a:t>
            </a:r>
            <a:endParaRPr lang="en-US" sz="1280" dirty="0"/>
          </a:p>
        </p:txBody>
      </p:sp>
      <p:sp>
        <p:nvSpPr>
          <p:cNvPr id="53" name="Shape 51"/>
          <p:cNvSpPr/>
          <p:nvPr/>
        </p:nvSpPr>
        <p:spPr>
          <a:xfrm>
            <a:off x="3831336" y="6208776"/>
            <a:ext cx="5614416" cy="384048"/>
          </a:xfrm>
          <a:prstGeom prst="roundRect">
            <a:avLst>
              <a:gd name="adj" fmla="val 7143"/>
            </a:avLst>
          </a:prstGeom>
          <a:solidFill>
            <a:srgbClr val="ECF6F5"/>
          </a:solidFill>
          <a:ln w="8255">
            <a:solidFill>
              <a:srgbClr val="9FBEB7"/>
            </a:solidFill>
            <a:prstDash val="solid"/>
          </a:ln>
        </p:spPr>
        <p:txBody>
          <a:bodyPr/>
          <a:lstStyle/>
          <a:p>
            <a:endParaRPr lang="en-US"/>
          </a:p>
        </p:txBody>
      </p:sp>
      <p:sp>
        <p:nvSpPr>
          <p:cNvPr id="54" name="Text 52"/>
          <p:cNvSpPr/>
          <p:nvPr/>
        </p:nvSpPr>
        <p:spPr>
          <a:xfrm>
            <a:off x="3950208" y="6309360"/>
            <a:ext cx="640080" cy="146304"/>
          </a:xfrm>
          <a:prstGeom prst="rect">
            <a:avLst/>
          </a:prstGeom>
          <a:noFill/>
          <a:ln/>
        </p:spPr>
        <p:txBody>
          <a:bodyPr wrap="square" lIns="0" tIns="0" rIns="0" bIns="0" rtlCol="0" anchor="ctr"/>
          <a:lstStyle/>
          <a:p>
            <a:pPr marL="0" indent="0">
              <a:buNone/>
            </a:pPr>
            <a:r>
              <a:rPr lang="en-US" sz="970" b="1" dirty="0">
                <a:solidFill>
                  <a:srgbClr val="087F86"/>
                </a:solidFill>
                <a:latin typeface="Arial" pitchFamily="34" charset="0"/>
                <a:ea typeface="Arial" pitchFamily="34" charset="-122"/>
                <a:cs typeface="Arial" pitchFamily="34" charset="-120"/>
              </a:rPr>
              <a:t>RELEASE</a:t>
            </a:r>
            <a:endParaRPr lang="en-US" sz="970" dirty="0"/>
          </a:p>
        </p:txBody>
      </p:sp>
      <p:sp>
        <p:nvSpPr>
          <p:cNvPr id="55" name="Text 53"/>
          <p:cNvSpPr/>
          <p:nvPr/>
        </p:nvSpPr>
        <p:spPr>
          <a:xfrm>
            <a:off x="4663440" y="6281928"/>
            <a:ext cx="4681728" cy="210312"/>
          </a:xfrm>
          <a:prstGeom prst="rect">
            <a:avLst/>
          </a:prstGeom>
          <a:noFill/>
          <a:ln/>
        </p:spPr>
        <p:txBody>
          <a:bodyPr wrap="square" lIns="0" tIns="0" rIns="0" bIns="0" rtlCol="0" anchor="ctr"/>
          <a:lstStyle/>
          <a:p>
            <a:pPr marL="0" indent="0">
              <a:buNone/>
            </a:pPr>
            <a:r>
              <a:rPr lang="en-US" sz="1170" dirty="0">
                <a:solidFill>
                  <a:srgbClr val="15334D"/>
                </a:solidFill>
                <a:latin typeface="Arial" pitchFamily="34" charset="0"/>
                <a:ea typeface="Arial" pitchFamily="34" charset="-122"/>
                <a:cs typeface="Arial" pitchFamily="34" charset="-120"/>
              </a:rPr>
              <a:t>Scope / grain • versions • QC evidence • owner • limitations</a:t>
            </a:r>
            <a:endParaRPr lang="en-US" sz="1170" dirty="0"/>
          </a:p>
        </p:txBody>
      </p:sp>
      <p:sp>
        <p:nvSpPr>
          <p:cNvPr id="56" name="Shape 54"/>
          <p:cNvSpPr/>
          <p:nvPr/>
        </p:nvSpPr>
        <p:spPr>
          <a:xfrm>
            <a:off x="10296144" y="2596896"/>
            <a:ext cx="3758184" cy="658368"/>
          </a:xfrm>
          <a:prstGeom prst="roundRect">
            <a:avLst>
              <a:gd name="adj" fmla="val 5556"/>
            </a:avLst>
          </a:prstGeom>
          <a:solidFill>
            <a:srgbClr val="F0F6F2"/>
          </a:solidFill>
          <a:ln w="7620">
            <a:solidFill>
              <a:srgbClr val="CADFD4"/>
            </a:solidFill>
            <a:prstDash val="solid"/>
          </a:ln>
        </p:spPr>
        <p:txBody>
          <a:bodyPr/>
          <a:lstStyle/>
          <a:p>
            <a:endParaRPr lang="en-US"/>
          </a:p>
        </p:txBody>
      </p:sp>
      <p:sp>
        <p:nvSpPr>
          <p:cNvPr id="57" name="Text 55"/>
          <p:cNvSpPr/>
          <p:nvPr/>
        </p:nvSpPr>
        <p:spPr>
          <a:xfrm>
            <a:off x="10424160" y="2706624"/>
            <a:ext cx="3502152" cy="164592"/>
          </a:xfrm>
          <a:prstGeom prst="rect">
            <a:avLst/>
          </a:prstGeom>
          <a:noFill/>
          <a:ln/>
        </p:spPr>
        <p:txBody>
          <a:bodyPr wrap="square" lIns="0" tIns="0" rIns="0" bIns="0" rtlCol="0" anchor="ctr"/>
          <a:lstStyle/>
          <a:p>
            <a:pPr marL="0" indent="0">
              <a:buNone/>
            </a:pPr>
            <a:r>
              <a:rPr lang="en-US" sz="1020" b="1" dirty="0">
                <a:solidFill>
                  <a:srgbClr val="28745E"/>
                </a:solidFill>
                <a:latin typeface="Arial" pitchFamily="34" charset="0"/>
                <a:ea typeface="Arial" pitchFamily="34" charset="-122"/>
                <a:cs typeface="Arial" pitchFamily="34" charset="-120"/>
              </a:rPr>
              <a:t>APPROVED STUDY SPECIFICATION + QC PLAN</a:t>
            </a:r>
            <a:endParaRPr lang="en-US" sz="1020" dirty="0"/>
          </a:p>
        </p:txBody>
      </p:sp>
      <p:sp>
        <p:nvSpPr>
          <p:cNvPr id="58" name="Text 56"/>
          <p:cNvSpPr/>
          <p:nvPr/>
        </p:nvSpPr>
        <p:spPr>
          <a:xfrm>
            <a:off x="10424160" y="2926080"/>
            <a:ext cx="3502152" cy="274320"/>
          </a:xfrm>
          <a:prstGeom prst="rect">
            <a:avLst/>
          </a:prstGeom>
          <a:noFill/>
          <a:ln/>
        </p:spPr>
        <p:txBody>
          <a:bodyPr wrap="square" lIns="0" tIns="0" rIns="0" bIns="0" rtlCol="0" anchor="t"/>
          <a:lstStyle/>
          <a:p>
            <a:pPr marL="0" indent="0">
              <a:buNone/>
            </a:pPr>
            <a:r>
              <a:rPr lang="en-US" sz="1140" dirty="0">
                <a:solidFill>
                  <a:srgbClr val="15334D"/>
                </a:solidFill>
                <a:latin typeface="Arial" pitchFamily="34" charset="0"/>
                <a:ea typeface="Arial" pitchFamily="34" charset="-122"/>
                <a:cs typeface="Arial" pitchFamily="34" charset="-120"/>
              </a:rPr>
              <a:t>Example: 2L NSCLC; qualifying EGFR mutation;</a:t>
            </a:r>
            <a:endParaRPr lang="en-US" sz="1140" dirty="0"/>
          </a:p>
          <a:p>
            <a:pPr marL="0" indent="0">
              <a:buNone/>
            </a:pPr>
            <a:r>
              <a:rPr lang="en-US" sz="1140" dirty="0">
                <a:solidFill>
                  <a:srgbClr val="15334D"/>
                </a:solidFill>
                <a:latin typeface="Arial" pitchFamily="34" charset="0"/>
                <a:ea typeface="Arial" pitchFamily="34" charset="-122"/>
                <a:cs typeface="Arial" pitchFamily="34" charset="-120"/>
              </a:rPr>
              <a:t>age 18–75 at the study index</a:t>
            </a:r>
            <a:endParaRPr lang="en-US" sz="1140" dirty="0"/>
          </a:p>
        </p:txBody>
      </p:sp>
      <p:sp>
        <p:nvSpPr>
          <p:cNvPr id="59" name="Shape 57"/>
          <p:cNvSpPr/>
          <p:nvPr/>
        </p:nvSpPr>
        <p:spPr>
          <a:xfrm>
            <a:off x="10305288" y="3493008"/>
            <a:ext cx="283464" cy="283464"/>
          </a:xfrm>
          <a:prstGeom prst="ellipse">
            <a:avLst/>
          </a:prstGeom>
          <a:solidFill>
            <a:srgbClr val="28745E"/>
          </a:solidFill>
          <a:ln w="22860">
            <a:solidFill>
              <a:srgbClr val="FFFFFF"/>
            </a:solidFill>
            <a:prstDash val="solid"/>
          </a:ln>
        </p:spPr>
        <p:txBody>
          <a:bodyPr/>
          <a:lstStyle/>
          <a:p>
            <a:endParaRPr lang="en-US"/>
          </a:p>
        </p:txBody>
      </p:sp>
      <p:sp>
        <p:nvSpPr>
          <p:cNvPr id="60" name="Text 58"/>
          <p:cNvSpPr/>
          <p:nvPr/>
        </p:nvSpPr>
        <p:spPr>
          <a:xfrm>
            <a:off x="10305288" y="3493008"/>
            <a:ext cx="283464" cy="2834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1" name="Text 59"/>
          <p:cNvSpPr/>
          <p:nvPr/>
        </p:nvSpPr>
        <p:spPr>
          <a:xfrm>
            <a:off x="10707624" y="3474720"/>
            <a:ext cx="3300984" cy="219456"/>
          </a:xfrm>
          <a:prstGeom prst="rect">
            <a:avLst/>
          </a:prstGeom>
          <a:noFill/>
          <a:ln/>
        </p:spPr>
        <p:txBody>
          <a:bodyPr wrap="square" lIns="0" tIns="0" rIns="0" bIns="0" rtlCol="0" anchor="ctr"/>
          <a:lstStyle/>
          <a:p>
            <a:pPr marL="0" indent="0">
              <a:buNone/>
            </a:pPr>
            <a:r>
              <a:rPr lang="en-US" sz="1350" b="1" dirty="0">
                <a:solidFill>
                  <a:srgbClr val="28745E"/>
                </a:solidFill>
                <a:latin typeface="Arial" pitchFamily="34" charset="0"/>
                <a:ea typeface="Arial" pitchFamily="34" charset="-122"/>
                <a:cs typeface="Arial" pitchFamily="34" charset="-120"/>
              </a:rPr>
              <a:t>Assess fit and pin releases</a:t>
            </a:r>
            <a:endParaRPr lang="en-US" sz="1350" dirty="0"/>
          </a:p>
        </p:txBody>
      </p:sp>
      <p:sp>
        <p:nvSpPr>
          <p:cNvPr id="62" name="Text 60"/>
          <p:cNvSpPr/>
          <p:nvPr/>
        </p:nvSpPr>
        <p:spPr>
          <a:xfrm>
            <a:off x="10707624" y="3767328"/>
            <a:ext cx="3300984" cy="329184"/>
          </a:xfrm>
          <a:prstGeom prst="rect">
            <a:avLst/>
          </a:prstGeom>
          <a:noFill/>
          <a:ln/>
        </p:spPr>
        <p:txBody>
          <a:bodyPr wrap="square" lIns="0" tIns="0" rIns="0" bIns="0" rtlCol="0" anchor="t"/>
          <a:lstStyle/>
          <a:p>
            <a:pPr marL="0" indent="0">
              <a:buNone/>
            </a:pPr>
            <a:r>
              <a:rPr lang="en-US" sz="1150" dirty="0">
                <a:solidFill>
                  <a:srgbClr val="15334D"/>
                </a:solidFill>
                <a:latin typeface="Arial" pitchFamily="34" charset="0"/>
                <a:ea typeface="Arial" pitchFamily="34" charset="-122"/>
                <a:cs typeface="Arial" pitchFamily="34" charset="-120"/>
              </a:rPr>
              <a:t>Population, source coverage and</a:t>
            </a:r>
            <a:endParaRPr lang="en-US" sz="1150" dirty="0"/>
          </a:p>
          <a:p>
            <a:pPr marL="0" indent="0">
              <a:buNone/>
            </a:pPr>
            <a:r>
              <a:rPr lang="en-US" sz="1150" dirty="0">
                <a:solidFill>
                  <a:srgbClr val="15334D"/>
                </a:solidFill>
                <a:latin typeface="Arial" pitchFamily="34" charset="0"/>
                <a:ea typeface="Arial" pitchFamily="34" charset="-122"/>
                <a:cs typeface="Arial" pitchFamily="34" charset="-120"/>
              </a:rPr>
              <a:t>product / definition versions</a:t>
            </a:r>
            <a:endParaRPr lang="en-US" sz="1150" dirty="0"/>
          </a:p>
        </p:txBody>
      </p:sp>
      <p:sp>
        <p:nvSpPr>
          <p:cNvPr id="63" name="Shape 61"/>
          <p:cNvSpPr/>
          <p:nvPr/>
        </p:nvSpPr>
        <p:spPr>
          <a:xfrm>
            <a:off x="10305288" y="4151376"/>
            <a:ext cx="283464" cy="283464"/>
          </a:xfrm>
          <a:prstGeom prst="ellipse">
            <a:avLst/>
          </a:prstGeom>
          <a:solidFill>
            <a:srgbClr val="28745E"/>
          </a:solidFill>
          <a:ln w="22860">
            <a:solidFill>
              <a:srgbClr val="FFFFFF"/>
            </a:solidFill>
            <a:prstDash val="solid"/>
          </a:ln>
        </p:spPr>
        <p:txBody>
          <a:bodyPr/>
          <a:lstStyle/>
          <a:p>
            <a:endParaRPr lang="en-US"/>
          </a:p>
        </p:txBody>
      </p:sp>
      <p:sp>
        <p:nvSpPr>
          <p:cNvPr id="64" name="Text 62"/>
          <p:cNvSpPr/>
          <p:nvPr/>
        </p:nvSpPr>
        <p:spPr>
          <a:xfrm>
            <a:off x="10305288" y="4151376"/>
            <a:ext cx="283464" cy="2834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65" name="Text 63"/>
          <p:cNvSpPr/>
          <p:nvPr/>
        </p:nvSpPr>
        <p:spPr>
          <a:xfrm>
            <a:off x="10707624" y="4133088"/>
            <a:ext cx="3300984" cy="219456"/>
          </a:xfrm>
          <a:prstGeom prst="rect">
            <a:avLst/>
          </a:prstGeom>
          <a:noFill/>
          <a:ln/>
        </p:spPr>
        <p:txBody>
          <a:bodyPr wrap="square" lIns="0" tIns="0" rIns="0" bIns="0" rtlCol="0" anchor="ctr"/>
          <a:lstStyle/>
          <a:p>
            <a:pPr marL="0" indent="0">
              <a:buNone/>
            </a:pPr>
            <a:r>
              <a:rPr lang="en-US" sz="1350" b="1" dirty="0">
                <a:solidFill>
                  <a:srgbClr val="28745E"/>
                </a:solidFill>
                <a:latin typeface="Arial" pitchFamily="34" charset="0"/>
                <a:ea typeface="Arial" pitchFamily="34" charset="-122"/>
                <a:cs typeface="Arial" pitchFamily="34" charset="-120"/>
              </a:rPr>
              <a:t>Set population and time rules</a:t>
            </a:r>
            <a:endParaRPr lang="en-US" sz="1350" dirty="0"/>
          </a:p>
        </p:txBody>
      </p:sp>
      <p:sp>
        <p:nvSpPr>
          <p:cNvPr id="66" name="Text 64"/>
          <p:cNvSpPr/>
          <p:nvPr/>
        </p:nvSpPr>
        <p:spPr>
          <a:xfrm>
            <a:off x="10707624" y="4425696"/>
            <a:ext cx="3300984" cy="329184"/>
          </a:xfrm>
          <a:prstGeom prst="rect">
            <a:avLst/>
          </a:prstGeom>
          <a:noFill/>
          <a:ln/>
        </p:spPr>
        <p:txBody>
          <a:bodyPr wrap="square" lIns="0" tIns="0" rIns="0" bIns="0" rtlCol="0" anchor="t"/>
          <a:lstStyle/>
          <a:p>
            <a:pPr marL="0" indent="0">
              <a:buNone/>
            </a:pPr>
            <a:r>
              <a:rPr lang="en-US" sz="1150" dirty="0">
                <a:solidFill>
                  <a:srgbClr val="15334D"/>
                </a:solidFill>
                <a:latin typeface="Arial" pitchFamily="34" charset="0"/>
                <a:ea typeface="Arial" pitchFamily="34" charset="-122"/>
                <a:cs typeface="Arial" pitchFamily="34" charset="-120"/>
              </a:rPr>
              <a:t>Index, baseline, covariates,</a:t>
            </a:r>
            <a:endParaRPr lang="en-US" sz="1150" dirty="0"/>
          </a:p>
          <a:p>
            <a:pPr marL="0" indent="0">
              <a:buNone/>
            </a:pPr>
            <a:r>
              <a:rPr lang="en-US" sz="1150" dirty="0">
                <a:solidFill>
                  <a:srgbClr val="15334D"/>
                </a:solidFill>
                <a:latin typeface="Arial" pitchFamily="34" charset="0"/>
                <a:ea typeface="Arial" pitchFamily="34" charset="-122"/>
                <a:cs typeface="Arial" pitchFamily="34" charset="-120"/>
              </a:rPr>
              <a:t>follow-up and censoring</a:t>
            </a:r>
            <a:endParaRPr lang="en-US" sz="1150" dirty="0"/>
          </a:p>
        </p:txBody>
      </p:sp>
      <p:sp>
        <p:nvSpPr>
          <p:cNvPr id="67" name="Shape 65"/>
          <p:cNvSpPr/>
          <p:nvPr/>
        </p:nvSpPr>
        <p:spPr>
          <a:xfrm>
            <a:off x="10305288" y="4809744"/>
            <a:ext cx="283464" cy="283464"/>
          </a:xfrm>
          <a:prstGeom prst="ellipse">
            <a:avLst/>
          </a:prstGeom>
          <a:solidFill>
            <a:srgbClr val="28745E"/>
          </a:solidFill>
          <a:ln w="22860">
            <a:solidFill>
              <a:srgbClr val="FFFFFF"/>
            </a:solidFill>
            <a:prstDash val="solid"/>
          </a:ln>
        </p:spPr>
        <p:txBody>
          <a:bodyPr/>
          <a:lstStyle/>
          <a:p>
            <a:endParaRPr lang="en-US"/>
          </a:p>
        </p:txBody>
      </p:sp>
      <p:sp>
        <p:nvSpPr>
          <p:cNvPr id="68" name="Text 66"/>
          <p:cNvSpPr/>
          <p:nvPr/>
        </p:nvSpPr>
        <p:spPr>
          <a:xfrm>
            <a:off x="10305288" y="4809744"/>
            <a:ext cx="283464" cy="283464"/>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69" name="Text 67"/>
          <p:cNvSpPr/>
          <p:nvPr/>
        </p:nvSpPr>
        <p:spPr>
          <a:xfrm>
            <a:off x="10707624" y="4791456"/>
            <a:ext cx="3300984" cy="219456"/>
          </a:xfrm>
          <a:prstGeom prst="rect">
            <a:avLst/>
          </a:prstGeom>
          <a:noFill/>
          <a:ln/>
        </p:spPr>
        <p:txBody>
          <a:bodyPr wrap="square" lIns="0" tIns="0" rIns="0" bIns="0" rtlCol="0" anchor="ctr"/>
          <a:lstStyle/>
          <a:p>
            <a:pPr marL="0" indent="0">
              <a:buNone/>
            </a:pPr>
            <a:r>
              <a:rPr lang="en-US" sz="1350" b="1" dirty="0">
                <a:solidFill>
                  <a:srgbClr val="28745E"/>
                </a:solidFill>
                <a:latin typeface="Arial" pitchFamily="34" charset="0"/>
                <a:ea typeface="Arial" pitchFamily="34" charset="-122"/>
                <a:cs typeface="Arial" pitchFamily="34" charset="-120"/>
              </a:rPr>
              <a:t>Reuse or derive; validate</a:t>
            </a:r>
            <a:endParaRPr lang="en-US" sz="1350" dirty="0"/>
          </a:p>
        </p:txBody>
      </p:sp>
      <p:sp>
        <p:nvSpPr>
          <p:cNvPr id="70" name="Text 68"/>
          <p:cNvSpPr/>
          <p:nvPr/>
        </p:nvSpPr>
        <p:spPr>
          <a:xfrm>
            <a:off x="10707624" y="5084064"/>
            <a:ext cx="3300984" cy="329184"/>
          </a:xfrm>
          <a:prstGeom prst="rect">
            <a:avLst/>
          </a:prstGeom>
          <a:noFill/>
          <a:ln/>
        </p:spPr>
        <p:txBody>
          <a:bodyPr wrap="square" lIns="0" tIns="0" rIns="0" bIns="0" rtlCol="0" anchor="t"/>
          <a:lstStyle/>
          <a:p>
            <a:pPr marL="0" indent="0">
              <a:buNone/>
            </a:pPr>
            <a:r>
              <a:rPr lang="en-US" sz="1150" dirty="0">
                <a:solidFill>
                  <a:srgbClr val="15334D"/>
                </a:solidFill>
                <a:latin typeface="Arial" pitchFamily="34" charset="0"/>
                <a:ea typeface="Arial" pitchFamily="34" charset="-122"/>
                <a:cs typeface="Arial" pitchFamily="34" charset="-120"/>
              </a:rPr>
              <a:t>Use compatible views or derive endpoints</a:t>
            </a:r>
            <a:endParaRPr lang="en-US" sz="1150" dirty="0"/>
          </a:p>
          <a:p>
            <a:pPr marL="0" indent="0">
              <a:buNone/>
            </a:pPr>
            <a:r>
              <a:rPr lang="en-US" sz="1150" dirty="0">
                <a:solidFill>
                  <a:srgbClr val="15334D"/>
                </a:solidFill>
                <a:latin typeface="Arial" pitchFamily="34" charset="0"/>
                <a:ea typeface="Arial" pitchFamily="34" charset="-122"/>
                <a:cs typeface="Arial" pitchFamily="34" charset="-120"/>
              </a:rPr>
              <a:t>under the study contract</a:t>
            </a:r>
            <a:endParaRPr lang="en-US" sz="1150" dirty="0"/>
          </a:p>
        </p:txBody>
      </p:sp>
      <p:sp>
        <p:nvSpPr>
          <p:cNvPr id="71" name="Shape 69"/>
          <p:cNvSpPr/>
          <p:nvPr/>
        </p:nvSpPr>
        <p:spPr>
          <a:xfrm>
            <a:off x="10305288" y="5504688"/>
            <a:ext cx="3739896" cy="283464"/>
          </a:xfrm>
          <a:prstGeom prst="roundRect">
            <a:avLst>
              <a:gd name="adj" fmla="val 6452"/>
            </a:avLst>
          </a:prstGeom>
          <a:solidFill>
            <a:srgbClr val="28745E"/>
          </a:solidFill>
          <a:ln w="3810">
            <a:solidFill>
              <a:srgbClr val="28745E"/>
            </a:solidFill>
            <a:prstDash val="solid"/>
          </a:ln>
        </p:spPr>
        <p:txBody>
          <a:bodyPr/>
          <a:lstStyle/>
          <a:p>
            <a:endParaRPr lang="en-US"/>
          </a:p>
        </p:txBody>
      </p:sp>
      <p:sp>
        <p:nvSpPr>
          <p:cNvPr id="72" name="Text 70"/>
          <p:cNvSpPr/>
          <p:nvPr/>
        </p:nvSpPr>
        <p:spPr>
          <a:xfrm>
            <a:off x="10424160" y="5559552"/>
            <a:ext cx="3502152" cy="16459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VERSIONED STUDY DATASETS</a:t>
            </a:r>
            <a:endParaRPr lang="en-US" sz="1100" dirty="0"/>
          </a:p>
        </p:txBody>
      </p:sp>
      <p:sp>
        <p:nvSpPr>
          <p:cNvPr id="73" name="Shape 71"/>
          <p:cNvSpPr/>
          <p:nvPr/>
        </p:nvSpPr>
        <p:spPr>
          <a:xfrm>
            <a:off x="10131552" y="5998464"/>
            <a:ext cx="4087368" cy="758952"/>
          </a:xfrm>
          <a:prstGeom prst="rect">
            <a:avLst/>
          </a:prstGeom>
          <a:solidFill>
            <a:srgbClr val="FCF2EF"/>
          </a:solidFill>
          <a:ln w="10160">
            <a:solidFill>
              <a:srgbClr val="E4BDB2"/>
            </a:solidFill>
            <a:prstDash val="solid"/>
          </a:ln>
        </p:spPr>
        <p:txBody>
          <a:bodyPr/>
          <a:lstStyle/>
          <a:p>
            <a:endParaRPr lang="en-US"/>
          </a:p>
        </p:txBody>
      </p:sp>
      <p:sp>
        <p:nvSpPr>
          <p:cNvPr id="74" name="Shape 72"/>
          <p:cNvSpPr/>
          <p:nvPr/>
        </p:nvSpPr>
        <p:spPr>
          <a:xfrm>
            <a:off x="10250424" y="6135624"/>
            <a:ext cx="356616" cy="356616"/>
          </a:xfrm>
          <a:prstGeom prst="ellipse">
            <a:avLst/>
          </a:prstGeom>
          <a:solidFill>
            <a:srgbClr val="C4472D"/>
          </a:solidFill>
          <a:ln w="22860">
            <a:solidFill>
              <a:srgbClr val="FFFFFF"/>
            </a:solidFill>
            <a:prstDash val="solid"/>
          </a:ln>
        </p:spPr>
        <p:txBody>
          <a:bodyPr/>
          <a:lstStyle/>
          <a:p>
            <a:endParaRPr lang="en-US"/>
          </a:p>
        </p:txBody>
      </p:sp>
      <p:sp>
        <p:nvSpPr>
          <p:cNvPr id="75" name="Text 73"/>
          <p:cNvSpPr/>
          <p:nvPr/>
        </p:nvSpPr>
        <p:spPr>
          <a:xfrm>
            <a:off x="10250424" y="6135624"/>
            <a:ext cx="356616" cy="3566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76" name="Text 74"/>
          <p:cNvSpPr/>
          <p:nvPr/>
        </p:nvSpPr>
        <p:spPr>
          <a:xfrm>
            <a:off x="10753344" y="6117336"/>
            <a:ext cx="3273552" cy="210312"/>
          </a:xfrm>
          <a:prstGeom prst="rect">
            <a:avLst/>
          </a:prstGeom>
          <a:noFill/>
          <a:ln/>
        </p:spPr>
        <p:txBody>
          <a:bodyPr wrap="square" lIns="0" tIns="0" rIns="0" bIns="0" rtlCol="0" anchor="ctr"/>
          <a:lstStyle/>
          <a:p>
            <a:pPr marL="0" indent="0">
              <a:buNone/>
            </a:pPr>
            <a:r>
              <a:rPr lang="en-US" sz="1380" b="1" dirty="0">
                <a:solidFill>
                  <a:srgbClr val="C4472D"/>
                </a:solidFill>
                <a:latin typeface="Arial" pitchFamily="34" charset="0"/>
                <a:ea typeface="Arial" pitchFamily="34" charset="-122"/>
                <a:cs typeface="Arial" pitchFamily="34" charset="-120"/>
              </a:rPr>
              <a:t>ANALYSIS &amp; EVIDENCE</a:t>
            </a:r>
            <a:endParaRPr lang="en-US" sz="1380" dirty="0"/>
          </a:p>
        </p:txBody>
      </p:sp>
      <p:sp>
        <p:nvSpPr>
          <p:cNvPr id="77" name="Text 75"/>
          <p:cNvSpPr/>
          <p:nvPr/>
        </p:nvSpPr>
        <p:spPr>
          <a:xfrm>
            <a:off x="10753344" y="6400800"/>
            <a:ext cx="3273552" cy="274320"/>
          </a:xfrm>
          <a:prstGeom prst="rect">
            <a:avLst/>
          </a:prstGeom>
          <a:noFill/>
          <a:ln/>
        </p:spPr>
        <p:txBody>
          <a:bodyPr wrap="square" lIns="0" tIns="0" rIns="0" bIns="0" rtlCol="0" anchor="t"/>
          <a:lstStyle/>
          <a:p>
            <a:pPr marL="0" indent="0">
              <a:buNone/>
            </a:pPr>
            <a:r>
              <a:rPr lang="en-US" sz="1140" dirty="0">
                <a:solidFill>
                  <a:srgbClr val="15334D"/>
                </a:solidFill>
                <a:latin typeface="Arial" pitchFamily="34" charset="0"/>
                <a:ea typeface="Arial" pitchFamily="34" charset="-122"/>
                <a:cs typeface="Arial" pitchFamily="34" charset="-120"/>
              </a:rPr>
              <a:t>Analysis plan • diagnostics • QC</a:t>
            </a:r>
            <a:endParaRPr lang="en-US" sz="1140" dirty="0"/>
          </a:p>
          <a:p>
            <a:pPr marL="0" indent="0">
              <a:buNone/>
            </a:pPr>
            <a:r>
              <a:rPr lang="en-US" sz="1140" dirty="0">
                <a:solidFill>
                  <a:srgbClr val="15334D"/>
                </a:solidFill>
                <a:latin typeface="Arial" pitchFamily="34" charset="0"/>
                <a:ea typeface="Arial" pitchFamily="34" charset="-122"/>
                <a:cs typeface="Arial" pitchFamily="34" charset="-120"/>
              </a:rPr>
              <a:t>Results • uncertainty • reviewed interpretation</a:t>
            </a:r>
            <a:endParaRPr lang="en-US" sz="1140" dirty="0"/>
          </a:p>
        </p:txBody>
      </p:sp>
      <p:sp>
        <p:nvSpPr>
          <p:cNvPr id="78" name="Shape 76"/>
          <p:cNvSpPr/>
          <p:nvPr/>
        </p:nvSpPr>
        <p:spPr>
          <a:xfrm>
            <a:off x="411480" y="7004304"/>
            <a:ext cx="13807440" cy="594360"/>
          </a:xfrm>
          <a:prstGeom prst="roundRect">
            <a:avLst>
              <a:gd name="adj" fmla="val 6154"/>
            </a:avLst>
          </a:prstGeom>
          <a:solidFill>
            <a:srgbClr val="102E48"/>
          </a:solidFill>
          <a:ln w="3810">
            <a:solidFill>
              <a:srgbClr val="102E48"/>
            </a:solidFill>
            <a:prstDash val="solid"/>
          </a:ln>
        </p:spPr>
        <p:txBody>
          <a:bodyPr/>
          <a:lstStyle/>
          <a:p>
            <a:endParaRPr lang="en-US"/>
          </a:p>
        </p:txBody>
      </p:sp>
      <p:sp>
        <p:nvSpPr>
          <p:cNvPr id="79" name="Text 77"/>
          <p:cNvSpPr/>
          <p:nvPr/>
        </p:nvSpPr>
        <p:spPr>
          <a:xfrm>
            <a:off x="594360" y="7132320"/>
            <a:ext cx="1554480" cy="329184"/>
          </a:xfrm>
          <a:prstGeom prst="rect">
            <a:avLst/>
          </a:prstGeom>
          <a:noFill/>
          <a:ln/>
        </p:spPr>
        <p:txBody>
          <a:bodyPr wrap="square" lIns="0" tIns="0" rIns="0" bIns="0" rtlCol="0" anchor="t"/>
          <a:lstStyle/>
          <a:p>
            <a:pPr marL="0" indent="0">
              <a:buNone/>
            </a:pPr>
            <a:r>
              <a:rPr lang="en-US" sz="1080" b="1" dirty="0">
                <a:solidFill>
                  <a:srgbClr val="FFFFFF"/>
                </a:solidFill>
                <a:latin typeface="Arial" pitchFamily="34" charset="0"/>
                <a:ea typeface="Arial" pitchFamily="34" charset="-122"/>
                <a:cs typeface="Arial" pitchFamily="34" charset="-120"/>
              </a:rPr>
              <a:t>KEEP THREE</a:t>
            </a:r>
            <a:endParaRPr lang="en-US" sz="1080" dirty="0"/>
          </a:p>
          <a:p>
            <a:pPr marL="0" indent="0">
              <a:buNone/>
            </a:pPr>
            <a:r>
              <a:rPr lang="en-US" sz="1080" b="1" dirty="0">
                <a:solidFill>
                  <a:srgbClr val="FFFFFF"/>
                </a:solidFill>
                <a:latin typeface="Arial" pitchFamily="34" charset="0"/>
                <a:ea typeface="Arial" pitchFamily="34" charset="-122"/>
                <a:cs typeface="Arial" pitchFamily="34" charset="-120"/>
              </a:rPr>
              <a:t>OBJECTS DISTINCT</a:t>
            </a:r>
            <a:endParaRPr lang="en-US" sz="1080" dirty="0"/>
          </a:p>
        </p:txBody>
      </p:sp>
      <p:sp>
        <p:nvSpPr>
          <p:cNvPr id="80" name="Shape 78"/>
          <p:cNvSpPr/>
          <p:nvPr/>
        </p:nvSpPr>
        <p:spPr>
          <a:xfrm>
            <a:off x="2322576" y="7114032"/>
            <a:ext cx="0" cy="374904"/>
          </a:xfrm>
          <a:prstGeom prst="line">
            <a:avLst/>
          </a:prstGeom>
          <a:noFill/>
          <a:ln w="10160">
            <a:solidFill>
              <a:srgbClr val="6C8296"/>
            </a:solidFill>
            <a:prstDash val="solid"/>
            <a:headEnd type="none"/>
            <a:tailEnd type="none"/>
          </a:ln>
        </p:spPr>
        <p:txBody>
          <a:bodyPr/>
          <a:lstStyle/>
          <a:p>
            <a:endParaRPr lang="en-US"/>
          </a:p>
        </p:txBody>
      </p:sp>
      <p:sp>
        <p:nvSpPr>
          <p:cNvPr id="81" name="Text 79"/>
          <p:cNvSpPr/>
          <p:nvPr/>
        </p:nvSpPr>
        <p:spPr>
          <a:xfrm>
            <a:off x="2560320" y="7095744"/>
            <a:ext cx="2331720" cy="155448"/>
          </a:xfrm>
          <a:prstGeom prst="rect">
            <a:avLst/>
          </a:prstGeom>
          <a:noFill/>
          <a:ln/>
        </p:spPr>
        <p:txBody>
          <a:bodyPr wrap="square" lIns="0" tIns="0" rIns="0" bIns="0" rtlCol="0" anchor="ctr"/>
          <a:lstStyle/>
          <a:p>
            <a:pPr marL="0" indent="0">
              <a:buNone/>
            </a:pPr>
            <a:r>
              <a:rPr lang="en-US" sz="900" b="1" kern="0" spc="50" dirty="0">
                <a:solidFill>
                  <a:srgbClr val="BCD3E2"/>
                </a:solidFill>
                <a:latin typeface="Arial" pitchFamily="34" charset="0"/>
                <a:ea typeface="Arial" pitchFamily="34" charset="-122"/>
                <a:cs typeface="Arial" pitchFamily="34" charset="-120"/>
              </a:rPr>
              <a:t>EVENT</a:t>
            </a:r>
            <a:endParaRPr lang="en-US" sz="900" dirty="0"/>
          </a:p>
        </p:txBody>
      </p:sp>
      <p:sp>
        <p:nvSpPr>
          <p:cNvPr id="82" name="Text 80"/>
          <p:cNvSpPr/>
          <p:nvPr/>
        </p:nvSpPr>
        <p:spPr>
          <a:xfrm>
            <a:off x="2560320" y="7324344"/>
            <a:ext cx="2331720" cy="192024"/>
          </a:xfrm>
          <a:prstGeom prst="rect">
            <a:avLst/>
          </a:prstGeom>
          <a:noFill/>
          <a:ln/>
        </p:spPr>
        <p:txBody>
          <a:bodyPr wrap="square" lIns="0" tIns="0" rIns="0" bIns="0" rtlCol="0" anchor="ctr"/>
          <a:lstStyle/>
          <a:p>
            <a:pPr marL="0" indent="0">
              <a:buNone/>
            </a:pPr>
            <a:r>
              <a:rPr lang="en-US" sz="1240" b="1" dirty="0">
                <a:solidFill>
                  <a:srgbClr val="FFFFFF"/>
                </a:solidFill>
                <a:latin typeface="Arial" pitchFamily="34" charset="0"/>
                <a:ea typeface="Arial" pitchFamily="34" charset="-122"/>
                <a:cs typeface="Arial" pitchFamily="34" charset="-120"/>
              </a:rPr>
              <a:t>Death record</a:t>
            </a:r>
            <a:endParaRPr lang="en-US" sz="1240" dirty="0"/>
          </a:p>
        </p:txBody>
      </p:sp>
      <p:sp>
        <p:nvSpPr>
          <p:cNvPr id="83" name="Text 81"/>
          <p:cNvSpPr/>
          <p:nvPr/>
        </p:nvSpPr>
        <p:spPr>
          <a:xfrm>
            <a:off x="5733288" y="7095744"/>
            <a:ext cx="3502152" cy="155448"/>
          </a:xfrm>
          <a:prstGeom prst="rect">
            <a:avLst/>
          </a:prstGeom>
          <a:noFill/>
          <a:ln/>
        </p:spPr>
        <p:txBody>
          <a:bodyPr wrap="square" lIns="0" tIns="0" rIns="0" bIns="0" rtlCol="0" anchor="ctr"/>
          <a:lstStyle/>
          <a:p>
            <a:pPr marL="0" indent="0">
              <a:buNone/>
            </a:pPr>
            <a:r>
              <a:rPr lang="en-US" sz="900" b="1" kern="0" spc="50" dirty="0">
                <a:solidFill>
                  <a:srgbClr val="BCD3E2"/>
                </a:solidFill>
                <a:latin typeface="Arial" pitchFamily="34" charset="0"/>
                <a:ea typeface="Arial" pitchFamily="34" charset="-122"/>
                <a:cs typeface="Arial" pitchFamily="34" charset="-120"/>
              </a:rPr>
              <a:t>ENDPOINT VARIABLE</a:t>
            </a:r>
            <a:endParaRPr lang="en-US" sz="900" dirty="0"/>
          </a:p>
        </p:txBody>
      </p:sp>
      <p:sp>
        <p:nvSpPr>
          <p:cNvPr id="84" name="Text 82"/>
          <p:cNvSpPr/>
          <p:nvPr/>
        </p:nvSpPr>
        <p:spPr>
          <a:xfrm>
            <a:off x="5733288" y="7324344"/>
            <a:ext cx="3502152" cy="192024"/>
          </a:xfrm>
          <a:prstGeom prst="rect">
            <a:avLst/>
          </a:prstGeom>
          <a:noFill/>
          <a:ln/>
        </p:spPr>
        <p:txBody>
          <a:bodyPr wrap="square" lIns="0" tIns="0" rIns="0" bIns="0" rtlCol="0" anchor="ctr"/>
          <a:lstStyle/>
          <a:p>
            <a:pPr marL="0" indent="0">
              <a:buNone/>
            </a:pPr>
            <a:r>
              <a:rPr lang="en-US" sz="1240" b="1" dirty="0">
                <a:solidFill>
                  <a:srgbClr val="FFFFFF"/>
                </a:solidFill>
                <a:latin typeface="Arial" pitchFamily="34" charset="0"/>
                <a:ea typeface="Arial" pitchFamily="34" charset="-122"/>
                <a:cs typeface="Arial" pitchFamily="34" charset="-120"/>
              </a:rPr>
              <a:t>OS from 2L start + censoring</a:t>
            </a:r>
            <a:endParaRPr lang="en-US" sz="1240" dirty="0"/>
          </a:p>
        </p:txBody>
      </p:sp>
      <p:sp>
        <p:nvSpPr>
          <p:cNvPr id="85" name="Text 83"/>
          <p:cNvSpPr/>
          <p:nvPr/>
        </p:nvSpPr>
        <p:spPr>
          <a:xfrm>
            <a:off x="10158984" y="7095744"/>
            <a:ext cx="3794760" cy="155448"/>
          </a:xfrm>
          <a:prstGeom prst="rect">
            <a:avLst/>
          </a:prstGeom>
          <a:noFill/>
          <a:ln/>
        </p:spPr>
        <p:txBody>
          <a:bodyPr wrap="square" lIns="0" tIns="0" rIns="0" bIns="0" rtlCol="0" anchor="ctr"/>
          <a:lstStyle/>
          <a:p>
            <a:pPr marL="0" indent="0">
              <a:buNone/>
            </a:pPr>
            <a:r>
              <a:rPr lang="en-US" sz="900" b="1" kern="0" spc="50" dirty="0">
                <a:solidFill>
                  <a:srgbClr val="BCD3E2"/>
                </a:solidFill>
                <a:latin typeface="Arial" pitchFamily="34" charset="0"/>
                <a:ea typeface="Arial" pitchFamily="34" charset="-122"/>
                <a:cs typeface="Arial" pitchFamily="34" charset="-120"/>
              </a:rPr>
              <a:t>ANALYTICAL RESULT</a:t>
            </a:r>
            <a:endParaRPr lang="en-US" sz="900" dirty="0"/>
          </a:p>
        </p:txBody>
      </p:sp>
      <p:sp>
        <p:nvSpPr>
          <p:cNvPr id="86" name="Text 84"/>
          <p:cNvSpPr/>
          <p:nvPr/>
        </p:nvSpPr>
        <p:spPr>
          <a:xfrm>
            <a:off x="10158984" y="7324344"/>
            <a:ext cx="3794760" cy="192024"/>
          </a:xfrm>
          <a:prstGeom prst="rect">
            <a:avLst/>
          </a:prstGeom>
          <a:noFill/>
          <a:ln/>
        </p:spPr>
        <p:txBody>
          <a:bodyPr wrap="square" lIns="0" tIns="0" rIns="0" bIns="0" rtlCol="0" anchor="ctr"/>
          <a:lstStyle/>
          <a:p>
            <a:pPr marL="0" indent="0">
              <a:buNone/>
            </a:pPr>
            <a:r>
              <a:rPr lang="en-US" sz="1240" b="1" dirty="0">
                <a:solidFill>
                  <a:srgbClr val="FFFFFF"/>
                </a:solidFill>
                <a:latin typeface="Arial" pitchFamily="34" charset="0"/>
                <a:ea typeface="Arial" pitchFamily="34" charset="-122"/>
                <a:cs typeface="Arial" pitchFamily="34" charset="-120"/>
              </a:rPr>
              <a:t>Median OS for the study cohort</a:t>
            </a:r>
            <a:endParaRPr lang="en-US" sz="1240" dirty="0"/>
          </a:p>
        </p:txBody>
      </p:sp>
      <p:sp>
        <p:nvSpPr>
          <p:cNvPr id="87" name="Shape 85"/>
          <p:cNvSpPr/>
          <p:nvPr/>
        </p:nvSpPr>
        <p:spPr>
          <a:xfrm>
            <a:off x="4928616" y="7310628"/>
            <a:ext cx="457200" cy="0"/>
          </a:xfrm>
          <a:prstGeom prst="line">
            <a:avLst/>
          </a:prstGeom>
          <a:noFill/>
          <a:ln w="14605">
            <a:solidFill>
              <a:srgbClr val="B0C6D5"/>
            </a:solidFill>
            <a:prstDash val="solid"/>
            <a:headEnd type="none"/>
            <a:tailEnd type="triangle"/>
          </a:ln>
        </p:spPr>
        <p:txBody>
          <a:bodyPr/>
          <a:lstStyle/>
          <a:p>
            <a:endParaRPr lang="en-US"/>
          </a:p>
        </p:txBody>
      </p:sp>
      <p:sp>
        <p:nvSpPr>
          <p:cNvPr id="88" name="Shape 86"/>
          <p:cNvSpPr/>
          <p:nvPr/>
        </p:nvSpPr>
        <p:spPr>
          <a:xfrm>
            <a:off x="9400032" y="7310628"/>
            <a:ext cx="466344" cy="0"/>
          </a:xfrm>
          <a:prstGeom prst="line">
            <a:avLst/>
          </a:prstGeom>
          <a:noFill/>
          <a:ln w="14605">
            <a:solidFill>
              <a:srgbClr val="B0C6D5"/>
            </a:solidFill>
            <a:prstDash val="solid"/>
            <a:headEnd type="none"/>
            <a:tailEnd type="triangle"/>
          </a:ln>
        </p:spPr>
        <p:txBody>
          <a:bodyPr/>
          <a:lstStyle/>
          <a:p>
            <a:endParaRPr lang="en-US"/>
          </a:p>
        </p:txBody>
      </p:sp>
      <p:sp>
        <p:nvSpPr>
          <p:cNvPr id="89" name="Text 87"/>
          <p:cNvSpPr/>
          <p:nvPr/>
        </p:nvSpPr>
        <p:spPr>
          <a:xfrm>
            <a:off x="438912" y="7708392"/>
            <a:ext cx="13716000" cy="210312"/>
          </a:xfrm>
          <a:prstGeom prst="rect">
            <a:avLst/>
          </a:prstGeom>
          <a:noFill/>
          <a:ln/>
        </p:spPr>
        <p:txBody>
          <a:bodyPr wrap="square" lIns="0" tIns="0" rIns="0" bIns="0" rtlCol="0" anchor="ctr"/>
          <a:lstStyle/>
          <a:p>
            <a:pPr marL="0" indent="0">
              <a:buNone/>
            </a:pPr>
            <a:r>
              <a:rPr lang="en-US" sz="1090" dirty="0">
                <a:solidFill>
                  <a:srgbClr val="52667A"/>
                </a:solidFill>
                <a:latin typeface="Arial" pitchFamily="34" charset="0"/>
                <a:ea typeface="Arial" pitchFamily="34" charset="-122"/>
                <a:cs typeface="Arial" pitchFamily="34" charset="-120"/>
              </a:rPr>
              <a:t>Product components are not separate products by default. Availability, validation and reuse are assessed per source and use case.</a:t>
            </a:r>
            <a:endParaRPr lang="en-US" sz="10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26694" y="252375"/>
            <a:ext cx="13573354" cy="35113"/>
          </a:xfrm>
          <a:prstGeom prst="rect">
            <a:avLst/>
          </a:prstGeom>
          <a:solidFill>
            <a:srgbClr val="C04C35"/>
          </a:solidFill>
          <a:ln w="7620">
            <a:solidFill>
              <a:srgbClr val="C04C35"/>
            </a:solidFill>
            <a:prstDash val="solid"/>
          </a:ln>
        </p:spPr>
        <p:txBody>
          <a:bodyPr/>
          <a:lstStyle/>
          <a:p>
            <a:endParaRPr lang="en-US"/>
          </a:p>
        </p:txBody>
      </p:sp>
      <p:sp>
        <p:nvSpPr>
          <p:cNvPr id="3" name="Text 1"/>
          <p:cNvSpPr/>
          <p:nvPr/>
        </p:nvSpPr>
        <p:spPr>
          <a:xfrm>
            <a:off x="548640" y="460858"/>
            <a:ext cx="10972800" cy="219456"/>
          </a:xfrm>
          <a:prstGeom prst="rect">
            <a:avLst/>
          </a:prstGeom>
          <a:noFill/>
          <a:ln/>
        </p:spPr>
        <p:txBody>
          <a:bodyPr wrap="square" lIns="0" tIns="0" rIns="0" bIns="0" rtlCol="0" anchor="t"/>
          <a:lstStyle/>
          <a:p>
            <a:r>
              <a:rPr lang="en-US" sz="1260" b="1" kern="0" spc="150" dirty="0">
                <a:solidFill>
                  <a:srgbClr val="C04C35"/>
                </a:solidFill>
                <a:latin typeface="Arial" pitchFamily="34" charset="0"/>
                <a:ea typeface="Arial" pitchFamily="34" charset="-122"/>
                <a:cs typeface="Arial" pitchFamily="34" charset="-120"/>
              </a:rPr>
              <a:t>WORKED EXAMPLE  /  NSCLC</a:t>
            </a:r>
            <a:endParaRPr lang="en-US" sz="1260" dirty="0"/>
          </a:p>
        </p:txBody>
      </p:sp>
      <p:sp>
        <p:nvSpPr>
          <p:cNvPr id="4" name="Text 2"/>
          <p:cNvSpPr/>
          <p:nvPr/>
        </p:nvSpPr>
        <p:spPr>
          <a:xfrm>
            <a:off x="10972800" y="471831"/>
            <a:ext cx="3105302" cy="197510"/>
          </a:xfrm>
          <a:prstGeom prst="rect">
            <a:avLst/>
          </a:prstGeom>
          <a:noFill/>
          <a:ln/>
        </p:spPr>
        <p:txBody>
          <a:bodyPr wrap="square" lIns="0" tIns="0" rIns="0" bIns="0" rtlCol="0" anchor="t"/>
          <a:lstStyle/>
          <a:p>
            <a:pPr algn="r"/>
            <a:r>
              <a:rPr lang="en-US" sz="1092" dirty="0">
                <a:solidFill>
                  <a:srgbClr val="5B6974"/>
                </a:solidFill>
                <a:latin typeface="Arial" pitchFamily="34" charset="0"/>
                <a:ea typeface="Arial" pitchFamily="34" charset="-122"/>
                <a:cs typeface="Arial" pitchFamily="34" charset="-120"/>
              </a:rPr>
              <a:t>ILLUSTRATIVE TARGET MODEL  /  02</a:t>
            </a:r>
            <a:endParaRPr lang="en-US" sz="1092" dirty="0"/>
          </a:p>
        </p:txBody>
      </p:sp>
      <p:sp>
        <p:nvSpPr>
          <p:cNvPr id="5" name="Text 3"/>
          <p:cNvSpPr/>
          <p:nvPr/>
        </p:nvSpPr>
        <p:spPr>
          <a:xfrm>
            <a:off x="548640" y="844905"/>
            <a:ext cx="13441680" cy="515722"/>
          </a:xfrm>
          <a:prstGeom prst="rect">
            <a:avLst/>
          </a:prstGeom>
          <a:noFill/>
          <a:ln/>
        </p:spPr>
        <p:txBody>
          <a:bodyPr wrap="square" lIns="0" tIns="0" rIns="0" bIns="0" rtlCol="0" anchor="t"/>
          <a:lstStyle/>
          <a:p>
            <a:r>
              <a:rPr lang="en-US" sz="3312" b="1" dirty="0">
                <a:solidFill>
                  <a:srgbClr val="16374B"/>
                </a:solidFill>
                <a:latin typeface="Arial" pitchFamily="34" charset="0"/>
                <a:ea typeface="Arial" pitchFamily="34" charset="-122"/>
                <a:cs typeface="Arial" pitchFamily="34" charset="-120"/>
              </a:rPr>
              <a:t>Where reusable records gain clinical meaning</a:t>
            </a:r>
            <a:endParaRPr lang="en-US" sz="3312" dirty="0"/>
          </a:p>
        </p:txBody>
      </p:sp>
      <p:sp>
        <p:nvSpPr>
          <p:cNvPr id="6" name="Text 4"/>
          <p:cNvSpPr/>
          <p:nvPr/>
        </p:nvSpPr>
        <p:spPr>
          <a:xfrm>
            <a:off x="548640" y="1448410"/>
            <a:ext cx="13331952" cy="395021"/>
          </a:xfrm>
          <a:prstGeom prst="rect">
            <a:avLst/>
          </a:prstGeom>
          <a:noFill/>
          <a:ln/>
        </p:spPr>
        <p:txBody>
          <a:bodyPr wrap="square" lIns="0" tIns="0" rIns="0" bIns="0" rtlCol="0" anchor="t"/>
          <a:lstStyle/>
          <a:p>
            <a:r>
              <a:rPr lang="en-US" sz="1740" dirty="0">
                <a:solidFill>
                  <a:srgbClr val="5B6974"/>
                </a:solidFill>
                <a:latin typeface="Arial" pitchFamily="34" charset="0"/>
                <a:ea typeface="Arial" pitchFamily="34" charset="-122"/>
                <a:cs typeface="Arial" pitchFamily="34" charset="-120"/>
              </a:rPr>
              <a:t>Core records → a released NSCLC product → a study dataset built against an approved specification.</a:t>
            </a:r>
            <a:endParaRPr lang="en-US" sz="1740" dirty="0"/>
          </a:p>
        </p:txBody>
      </p:sp>
      <p:sp>
        <p:nvSpPr>
          <p:cNvPr id="7" name="Shape 5"/>
          <p:cNvSpPr/>
          <p:nvPr/>
        </p:nvSpPr>
        <p:spPr>
          <a:xfrm>
            <a:off x="548640" y="2073859"/>
            <a:ext cx="3423514" cy="768096"/>
          </a:xfrm>
          <a:prstGeom prst="rect">
            <a:avLst/>
          </a:prstGeom>
          <a:solidFill>
            <a:srgbClr val="F1F5F9"/>
          </a:solidFill>
          <a:ln w="10160">
            <a:solidFill>
              <a:srgbClr val="D8E1E5"/>
            </a:solidFill>
            <a:prstDash val="solid"/>
          </a:ln>
        </p:spPr>
        <p:txBody>
          <a:bodyPr/>
          <a:lstStyle/>
          <a:p>
            <a:endParaRPr lang="en-US"/>
          </a:p>
        </p:txBody>
      </p:sp>
      <p:sp>
        <p:nvSpPr>
          <p:cNvPr id="8" name="Shape 6"/>
          <p:cNvSpPr/>
          <p:nvPr/>
        </p:nvSpPr>
        <p:spPr>
          <a:xfrm>
            <a:off x="724205" y="2232965"/>
            <a:ext cx="329184" cy="329184"/>
          </a:xfrm>
          <a:prstGeom prst="ellipse">
            <a:avLst/>
          </a:prstGeom>
          <a:solidFill>
            <a:srgbClr val="16374B"/>
          </a:solidFill>
          <a:ln w="2540">
            <a:solidFill>
              <a:srgbClr val="16374B"/>
            </a:solidFill>
            <a:prstDash val="solid"/>
          </a:ln>
        </p:spPr>
        <p:txBody>
          <a:bodyPr/>
          <a:lstStyle/>
          <a:p>
            <a:endParaRPr lang="en-US"/>
          </a:p>
        </p:txBody>
      </p:sp>
      <p:sp>
        <p:nvSpPr>
          <p:cNvPr id="9" name="Text 7"/>
          <p:cNvSpPr/>
          <p:nvPr/>
        </p:nvSpPr>
        <p:spPr>
          <a:xfrm>
            <a:off x="724205" y="2241743"/>
            <a:ext cx="329184" cy="318211"/>
          </a:xfrm>
          <a:prstGeom prst="rect">
            <a:avLst/>
          </a:prstGeom>
          <a:noFill/>
          <a:ln/>
        </p:spPr>
        <p:txBody>
          <a:bodyPr wrap="square" lIns="0" tIns="0" rIns="0" bIns="0" rtlCol="0" anchor="ctr"/>
          <a:lstStyle/>
          <a:p>
            <a:pPr algn="ctr"/>
            <a:r>
              <a:rPr lang="en-US" sz="1440" b="1" dirty="0">
                <a:solidFill>
                  <a:srgbClr val="FFFFFF"/>
                </a:solidFill>
                <a:latin typeface="Arial" pitchFamily="34" charset="0"/>
                <a:ea typeface="Arial" pitchFamily="34" charset="-122"/>
                <a:cs typeface="Arial" pitchFamily="34" charset="-120"/>
              </a:rPr>
              <a:t>1</a:t>
            </a:r>
            <a:endParaRPr lang="en-US" sz="1440" dirty="0"/>
          </a:p>
        </p:txBody>
      </p:sp>
      <p:sp>
        <p:nvSpPr>
          <p:cNvPr id="10" name="Text 8"/>
          <p:cNvSpPr/>
          <p:nvPr/>
        </p:nvSpPr>
        <p:spPr>
          <a:xfrm>
            <a:off x="1185062" y="2189074"/>
            <a:ext cx="2589581" cy="285293"/>
          </a:xfrm>
          <a:prstGeom prst="rect">
            <a:avLst/>
          </a:prstGeom>
          <a:noFill/>
          <a:ln/>
        </p:spPr>
        <p:txBody>
          <a:bodyPr wrap="square" lIns="0" tIns="0" rIns="0" bIns="0" rtlCol="0" anchor="t"/>
          <a:lstStyle/>
          <a:p>
            <a:r>
              <a:rPr lang="en-US" sz="1980" b="1" dirty="0">
                <a:solidFill>
                  <a:srgbClr val="16374B"/>
                </a:solidFill>
                <a:latin typeface="Arial" pitchFamily="34" charset="0"/>
                <a:ea typeface="Arial" pitchFamily="34" charset="-122"/>
                <a:cs typeface="Arial" pitchFamily="34" charset="-120"/>
              </a:rPr>
              <a:t>Data foundation</a:t>
            </a:r>
            <a:endParaRPr lang="en-US" sz="1980" dirty="0"/>
          </a:p>
        </p:txBody>
      </p:sp>
      <p:sp>
        <p:nvSpPr>
          <p:cNvPr id="11" name="Text 9"/>
          <p:cNvSpPr/>
          <p:nvPr/>
        </p:nvSpPr>
        <p:spPr>
          <a:xfrm>
            <a:off x="735178" y="2556662"/>
            <a:ext cx="3050438" cy="219456"/>
          </a:xfrm>
          <a:prstGeom prst="rect">
            <a:avLst/>
          </a:prstGeom>
          <a:noFill/>
          <a:ln/>
        </p:spPr>
        <p:txBody>
          <a:bodyPr wrap="square" lIns="0" tIns="0" rIns="0" bIns="0" rtlCol="0" anchor="t"/>
          <a:lstStyle/>
          <a:p>
            <a:r>
              <a:rPr lang="en-US" sz="1464" dirty="0">
                <a:solidFill>
                  <a:srgbClr val="5B6974"/>
                </a:solidFill>
                <a:latin typeface="Arial" pitchFamily="34" charset="0"/>
                <a:ea typeface="Arial" pitchFamily="34" charset="-122"/>
                <a:cs typeface="Arial" pitchFamily="34" charset="-120"/>
              </a:rPr>
              <a:t>Qualified OMOP/CDM source data</a:t>
            </a:r>
            <a:endParaRPr lang="en-US" sz="1464" dirty="0"/>
          </a:p>
        </p:txBody>
      </p:sp>
      <p:sp>
        <p:nvSpPr>
          <p:cNvPr id="12" name="Shape 10"/>
          <p:cNvSpPr/>
          <p:nvPr/>
        </p:nvSpPr>
        <p:spPr>
          <a:xfrm>
            <a:off x="2260397" y="2863901"/>
            <a:ext cx="0" cy="192024"/>
          </a:xfrm>
          <a:prstGeom prst="line">
            <a:avLst/>
          </a:prstGeom>
          <a:noFill/>
          <a:ln w="15240">
            <a:solidFill>
              <a:srgbClr val="3C6591"/>
            </a:solidFill>
            <a:prstDash val="solid"/>
            <a:headEnd type="none"/>
            <a:tailEnd type="triangle"/>
          </a:ln>
        </p:spPr>
        <p:txBody>
          <a:bodyPr/>
          <a:lstStyle/>
          <a:p>
            <a:endParaRPr lang="en-US"/>
          </a:p>
        </p:txBody>
      </p:sp>
      <p:sp>
        <p:nvSpPr>
          <p:cNvPr id="13" name="Shape 11"/>
          <p:cNvSpPr/>
          <p:nvPr/>
        </p:nvSpPr>
        <p:spPr>
          <a:xfrm>
            <a:off x="548640" y="3116275"/>
            <a:ext cx="3423514" cy="3664915"/>
          </a:xfrm>
          <a:prstGeom prst="rect">
            <a:avLst/>
          </a:prstGeom>
          <a:solidFill>
            <a:srgbClr val="F1F5F9"/>
          </a:solidFill>
          <a:ln w="10160">
            <a:solidFill>
              <a:srgbClr val="D8E1E5"/>
            </a:solidFill>
            <a:prstDash val="solid"/>
          </a:ln>
        </p:spPr>
        <p:txBody>
          <a:bodyPr/>
          <a:lstStyle/>
          <a:p>
            <a:endParaRPr lang="en-US"/>
          </a:p>
        </p:txBody>
      </p:sp>
      <p:sp>
        <p:nvSpPr>
          <p:cNvPr id="14" name="Shape 12"/>
          <p:cNvSpPr/>
          <p:nvPr/>
        </p:nvSpPr>
        <p:spPr>
          <a:xfrm>
            <a:off x="548640" y="3116275"/>
            <a:ext cx="3423514" cy="592531"/>
          </a:xfrm>
          <a:prstGeom prst="rect">
            <a:avLst/>
          </a:prstGeom>
          <a:solidFill>
            <a:srgbClr val="3C6591"/>
          </a:solidFill>
          <a:ln w="7620">
            <a:solidFill>
              <a:srgbClr val="3C6591"/>
            </a:solidFill>
            <a:prstDash val="solid"/>
          </a:ln>
        </p:spPr>
        <p:txBody>
          <a:bodyPr/>
          <a:lstStyle/>
          <a:p>
            <a:endParaRPr lang="en-US"/>
          </a:p>
        </p:txBody>
      </p:sp>
      <p:sp>
        <p:nvSpPr>
          <p:cNvPr id="15" name="Shape 13"/>
          <p:cNvSpPr/>
          <p:nvPr/>
        </p:nvSpPr>
        <p:spPr>
          <a:xfrm>
            <a:off x="724205" y="3250144"/>
            <a:ext cx="307238" cy="307238"/>
          </a:xfrm>
          <a:prstGeom prst="ellipse">
            <a:avLst/>
          </a:prstGeom>
          <a:solidFill>
            <a:srgbClr val="FFFFFF"/>
          </a:solidFill>
          <a:ln w="2540">
            <a:solidFill>
              <a:srgbClr val="FFFFFF"/>
            </a:solidFill>
            <a:prstDash val="solid"/>
          </a:ln>
        </p:spPr>
        <p:txBody>
          <a:bodyPr/>
          <a:lstStyle/>
          <a:p>
            <a:endParaRPr lang="en-US"/>
          </a:p>
        </p:txBody>
      </p:sp>
      <p:sp>
        <p:nvSpPr>
          <p:cNvPr id="16" name="Text 14"/>
          <p:cNvSpPr/>
          <p:nvPr/>
        </p:nvSpPr>
        <p:spPr>
          <a:xfrm>
            <a:off x="724205" y="3258921"/>
            <a:ext cx="307238" cy="296266"/>
          </a:xfrm>
          <a:prstGeom prst="rect">
            <a:avLst/>
          </a:prstGeom>
          <a:noFill/>
          <a:ln/>
        </p:spPr>
        <p:txBody>
          <a:bodyPr wrap="square" lIns="0" tIns="0" rIns="0" bIns="0" rtlCol="0" anchor="ctr"/>
          <a:lstStyle/>
          <a:p>
            <a:pPr algn="ctr"/>
            <a:r>
              <a:rPr lang="en-US" sz="1440" b="1" dirty="0">
                <a:solidFill>
                  <a:srgbClr val="FFFFFF"/>
                </a:solidFill>
                <a:latin typeface="Arial" pitchFamily="34" charset="0"/>
                <a:ea typeface="Arial" pitchFamily="34" charset="-122"/>
                <a:cs typeface="Arial" pitchFamily="34" charset="-120"/>
              </a:rPr>
              <a:t>2</a:t>
            </a:r>
            <a:endParaRPr lang="en-US" sz="1440" dirty="0"/>
          </a:p>
        </p:txBody>
      </p:sp>
      <p:sp>
        <p:nvSpPr>
          <p:cNvPr id="17" name="Text 15"/>
          <p:cNvSpPr/>
          <p:nvPr/>
        </p:nvSpPr>
        <p:spPr>
          <a:xfrm>
            <a:off x="724205" y="3258922"/>
            <a:ext cx="307238" cy="274320"/>
          </a:xfrm>
          <a:prstGeom prst="rect">
            <a:avLst/>
          </a:prstGeom>
          <a:noFill/>
          <a:ln/>
        </p:spPr>
        <p:txBody>
          <a:bodyPr wrap="square" lIns="0" tIns="0" rIns="0" bIns="0" rtlCol="0" anchor="ctr"/>
          <a:lstStyle/>
          <a:p>
            <a:pPr algn="ctr"/>
            <a:r>
              <a:rPr lang="en-US" sz="1416" b="1" dirty="0">
                <a:solidFill>
                  <a:srgbClr val="3C6591"/>
                </a:solidFill>
                <a:latin typeface="Arial" pitchFamily="34" charset="0"/>
                <a:ea typeface="Arial" pitchFamily="34" charset="-122"/>
                <a:cs typeface="Arial" pitchFamily="34" charset="-120"/>
              </a:rPr>
              <a:t>2</a:t>
            </a:r>
            <a:endParaRPr lang="en-US" sz="1416" dirty="0"/>
          </a:p>
        </p:txBody>
      </p:sp>
      <p:sp>
        <p:nvSpPr>
          <p:cNvPr id="18" name="Text 16"/>
          <p:cNvSpPr/>
          <p:nvPr/>
        </p:nvSpPr>
        <p:spPr>
          <a:xfrm>
            <a:off x="1174090" y="3239171"/>
            <a:ext cx="2611526" cy="329184"/>
          </a:xfrm>
          <a:prstGeom prst="rect">
            <a:avLst/>
          </a:prstGeom>
          <a:noFill/>
          <a:ln/>
        </p:spPr>
        <p:txBody>
          <a:bodyPr wrap="square" lIns="0" tIns="0" rIns="0" bIns="0" rtlCol="0" anchor="t"/>
          <a:lstStyle/>
          <a:p>
            <a:r>
              <a:rPr lang="en-US" sz="2040" b="1" dirty="0">
                <a:solidFill>
                  <a:srgbClr val="FFFFFF"/>
                </a:solidFill>
                <a:latin typeface="Arial" pitchFamily="34" charset="0"/>
                <a:ea typeface="Arial" pitchFamily="34" charset="-122"/>
                <a:cs typeface="Arial" pitchFamily="34" charset="-120"/>
              </a:rPr>
              <a:t>Core data products</a:t>
            </a:r>
            <a:endParaRPr lang="en-US" sz="2040" dirty="0"/>
          </a:p>
        </p:txBody>
      </p:sp>
      <p:sp>
        <p:nvSpPr>
          <p:cNvPr id="19" name="Text 17"/>
          <p:cNvSpPr/>
          <p:nvPr/>
        </p:nvSpPr>
        <p:spPr>
          <a:xfrm>
            <a:off x="746150" y="3939235"/>
            <a:ext cx="3028493" cy="263347"/>
          </a:xfrm>
          <a:prstGeom prst="rect">
            <a:avLst/>
          </a:prstGeom>
          <a:noFill/>
          <a:ln/>
        </p:spPr>
        <p:txBody>
          <a:bodyPr wrap="square" lIns="0" tIns="0" rIns="0" bIns="0" rtlCol="0" anchor="t"/>
          <a:lstStyle/>
          <a:p>
            <a:r>
              <a:rPr lang="en-US" sz="1644" b="1" dirty="0">
                <a:solidFill>
                  <a:srgbClr val="3C6591"/>
                </a:solidFill>
                <a:latin typeface="Arial" pitchFamily="34" charset="0"/>
                <a:ea typeface="Arial" pitchFamily="34" charset="-122"/>
                <a:cs typeface="Arial" pitchFamily="34" charset="-120"/>
              </a:rPr>
              <a:t>Common longitudinal records</a:t>
            </a:r>
            <a:endParaRPr lang="en-US" sz="1644" dirty="0"/>
          </a:p>
        </p:txBody>
      </p:sp>
      <p:sp>
        <p:nvSpPr>
          <p:cNvPr id="20" name="Text 18"/>
          <p:cNvSpPr/>
          <p:nvPr/>
        </p:nvSpPr>
        <p:spPr>
          <a:xfrm>
            <a:off x="746150" y="4378147"/>
            <a:ext cx="3028493" cy="279806"/>
          </a:xfrm>
          <a:prstGeom prst="rect">
            <a:avLst/>
          </a:prstGeom>
          <a:noFill/>
          <a:ln/>
        </p:spPr>
        <p:txBody>
          <a:bodyPr wrap="square" lIns="0" tIns="0" rIns="0" bIns="0" rtlCol="0" anchor="t"/>
          <a:lstStyle/>
          <a:p>
            <a:r>
              <a:rPr lang="en-US" dirty="0">
                <a:solidFill>
                  <a:srgbClr val="153345"/>
                </a:solidFill>
                <a:latin typeface="Arial" pitchFamily="34" charset="0"/>
                <a:ea typeface="Arial" pitchFamily="34" charset="-122"/>
                <a:cs typeface="Arial" pitchFamily="34" charset="-120"/>
              </a:rPr>
              <a:t>Patient / disease</a:t>
            </a:r>
            <a:endParaRPr lang="en-US" dirty="0"/>
          </a:p>
        </p:txBody>
      </p:sp>
      <p:sp>
        <p:nvSpPr>
          <p:cNvPr id="21" name="Shape 19"/>
          <p:cNvSpPr/>
          <p:nvPr/>
        </p:nvSpPr>
        <p:spPr>
          <a:xfrm>
            <a:off x="746150" y="4690872"/>
            <a:ext cx="3028493" cy="0"/>
          </a:xfrm>
          <a:prstGeom prst="line">
            <a:avLst/>
          </a:prstGeom>
          <a:noFill/>
          <a:ln w="6985">
            <a:solidFill>
              <a:srgbClr val="D7E2EB"/>
            </a:solidFill>
            <a:prstDash val="solid"/>
          </a:ln>
        </p:spPr>
        <p:txBody>
          <a:bodyPr/>
          <a:lstStyle/>
          <a:p>
            <a:endParaRPr lang="en-US"/>
          </a:p>
        </p:txBody>
      </p:sp>
      <p:sp>
        <p:nvSpPr>
          <p:cNvPr id="22" name="Text 20"/>
          <p:cNvSpPr/>
          <p:nvPr/>
        </p:nvSpPr>
        <p:spPr>
          <a:xfrm>
            <a:off x="746150" y="4756709"/>
            <a:ext cx="3028493" cy="279806"/>
          </a:xfrm>
          <a:prstGeom prst="rect">
            <a:avLst/>
          </a:prstGeom>
          <a:noFill/>
          <a:ln/>
        </p:spPr>
        <p:txBody>
          <a:bodyPr wrap="square" lIns="0" tIns="0" rIns="0" bIns="0" rtlCol="0" anchor="t"/>
          <a:lstStyle/>
          <a:p>
            <a:r>
              <a:rPr lang="en-US" dirty="0">
                <a:solidFill>
                  <a:srgbClr val="153345"/>
                </a:solidFill>
                <a:latin typeface="Arial" pitchFamily="34" charset="0"/>
                <a:ea typeface="Arial" pitchFamily="34" charset="-122"/>
                <a:cs typeface="Arial" pitchFamily="34" charset="-120"/>
              </a:rPr>
              <a:t>Treatment</a:t>
            </a:r>
            <a:endParaRPr lang="en-US" dirty="0"/>
          </a:p>
        </p:txBody>
      </p:sp>
      <p:sp>
        <p:nvSpPr>
          <p:cNvPr id="23" name="Shape 21"/>
          <p:cNvSpPr/>
          <p:nvPr/>
        </p:nvSpPr>
        <p:spPr>
          <a:xfrm>
            <a:off x="746150" y="5069434"/>
            <a:ext cx="3028493" cy="0"/>
          </a:xfrm>
          <a:prstGeom prst="line">
            <a:avLst/>
          </a:prstGeom>
          <a:noFill/>
          <a:ln w="6985">
            <a:solidFill>
              <a:srgbClr val="D7E2EB"/>
            </a:solidFill>
            <a:prstDash val="solid"/>
          </a:ln>
        </p:spPr>
        <p:txBody>
          <a:bodyPr/>
          <a:lstStyle/>
          <a:p>
            <a:endParaRPr lang="en-US"/>
          </a:p>
        </p:txBody>
      </p:sp>
      <p:sp>
        <p:nvSpPr>
          <p:cNvPr id="24" name="Text 22"/>
          <p:cNvSpPr/>
          <p:nvPr/>
        </p:nvSpPr>
        <p:spPr>
          <a:xfrm>
            <a:off x="746150" y="5135271"/>
            <a:ext cx="3028493" cy="279806"/>
          </a:xfrm>
          <a:prstGeom prst="rect">
            <a:avLst/>
          </a:prstGeom>
          <a:noFill/>
          <a:ln/>
        </p:spPr>
        <p:txBody>
          <a:bodyPr wrap="square" lIns="0" tIns="0" rIns="0" bIns="0" rtlCol="0" anchor="t"/>
          <a:lstStyle/>
          <a:p>
            <a:r>
              <a:rPr lang="en-US" dirty="0">
                <a:solidFill>
                  <a:srgbClr val="153345"/>
                </a:solidFill>
                <a:latin typeface="Arial" pitchFamily="34" charset="0"/>
                <a:ea typeface="Arial" pitchFamily="34" charset="-122"/>
                <a:cs typeface="Arial" pitchFamily="34" charset="-120"/>
              </a:rPr>
              <a:t>Biomarker / lab</a:t>
            </a:r>
            <a:endParaRPr lang="en-US" dirty="0"/>
          </a:p>
        </p:txBody>
      </p:sp>
      <p:sp>
        <p:nvSpPr>
          <p:cNvPr id="25" name="Shape 23"/>
          <p:cNvSpPr/>
          <p:nvPr/>
        </p:nvSpPr>
        <p:spPr>
          <a:xfrm>
            <a:off x="746150" y="5447995"/>
            <a:ext cx="3028493" cy="0"/>
          </a:xfrm>
          <a:prstGeom prst="line">
            <a:avLst/>
          </a:prstGeom>
          <a:noFill/>
          <a:ln w="6985">
            <a:solidFill>
              <a:srgbClr val="D7E2EB"/>
            </a:solidFill>
            <a:prstDash val="solid"/>
          </a:ln>
        </p:spPr>
        <p:txBody>
          <a:bodyPr/>
          <a:lstStyle/>
          <a:p>
            <a:endParaRPr lang="en-US"/>
          </a:p>
        </p:txBody>
      </p:sp>
      <p:sp>
        <p:nvSpPr>
          <p:cNvPr id="26" name="Text 24"/>
          <p:cNvSpPr/>
          <p:nvPr/>
        </p:nvSpPr>
        <p:spPr>
          <a:xfrm>
            <a:off x="746150" y="5513832"/>
            <a:ext cx="3028493" cy="279806"/>
          </a:xfrm>
          <a:prstGeom prst="rect">
            <a:avLst/>
          </a:prstGeom>
          <a:noFill/>
          <a:ln/>
        </p:spPr>
        <p:txBody>
          <a:bodyPr wrap="square" lIns="0" tIns="0" rIns="0" bIns="0" rtlCol="0" anchor="t"/>
          <a:lstStyle/>
          <a:p>
            <a:r>
              <a:rPr lang="en-US" dirty="0">
                <a:solidFill>
                  <a:srgbClr val="153345"/>
                </a:solidFill>
                <a:latin typeface="Arial" pitchFamily="34" charset="0"/>
                <a:ea typeface="Arial" pitchFamily="34" charset="-122"/>
                <a:cs typeface="Arial" pitchFamily="34" charset="-120"/>
              </a:rPr>
              <a:t>Clinical assessments</a:t>
            </a:r>
            <a:endParaRPr lang="en-US" dirty="0"/>
          </a:p>
        </p:txBody>
      </p:sp>
      <p:sp>
        <p:nvSpPr>
          <p:cNvPr id="27" name="Shape 25"/>
          <p:cNvSpPr/>
          <p:nvPr/>
        </p:nvSpPr>
        <p:spPr>
          <a:xfrm>
            <a:off x="746150" y="5826557"/>
            <a:ext cx="3028493" cy="0"/>
          </a:xfrm>
          <a:prstGeom prst="line">
            <a:avLst/>
          </a:prstGeom>
          <a:noFill/>
          <a:ln w="6985">
            <a:solidFill>
              <a:srgbClr val="D7E2EB"/>
            </a:solidFill>
            <a:prstDash val="solid"/>
          </a:ln>
        </p:spPr>
        <p:txBody>
          <a:bodyPr/>
          <a:lstStyle/>
          <a:p>
            <a:endParaRPr lang="en-US"/>
          </a:p>
        </p:txBody>
      </p:sp>
      <p:sp>
        <p:nvSpPr>
          <p:cNvPr id="28" name="Text 26"/>
          <p:cNvSpPr/>
          <p:nvPr/>
        </p:nvSpPr>
        <p:spPr>
          <a:xfrm>
            <a:off x="746150" y="5892394"/>
            <a:ext cx="3028493" cy="279806"/>
          </a:xfrm>
          <a:prstGeom prst="rect">
            <a:avLst/>
          </a:prstGeom>
          <a:noFill/>
          <a:ln/>
        </p:spPr>
        <p:txBody>
          <a:bodyPr wrap="square" lIns="0" tIns="0" rIns="0" bIns="0" rtlCol="0" anchor="t"/>
          <a:lstStyle/>
          <a:p>
            <a:r>
              <a:rPr lang="en-US" dirty="0">
                <a:solidFill>
                  <a:srgbClr val="153345"/>
                </a:solidFill>
                <a:latin typeface="Arial" pitchFamily="34" charset="0"/>
                <a:ea typeface="Arial" pitchFamily="34" charset="-122"/>
                <a:cs typeface="Arial" pitchFamily="34" charset="-120"/>
              </a:rPr>
              <a:t>Follow-up / death</a:t>
            </a:r>
            <a:endParaRPr lang="en-US" dirty="0"/>
          </a:p>
        </p:txBody>
      </p:sp>
      <p:sp>
        <p:nvSpPr>
          <p:cNvPr id="29" name="Shape 27"/>
          <p:cNvSpPr/>
          <p:nvPr/>
        </p:nvSpPr>
        <p:spPr>
          <a:xfrm>
            <a:off x="746150" y="6358738"/>
            <a:ext cx="3028493" cy="0"/>
          </a:xfrm>
          <a:prstGeom prst="line">
            <a:avLst/>
          </a:prstGeom>
          <a:noFill/>
          <a:ln w="8890">
            <a:solidFill>
              <a:srgbClr val="3C6591"/>
            </a:solidFill>
            <a:prstDash val="solid"/>
          </a:ln>
        </p:spPr>
        <p:txBody>
          <a:bodyPr/>
          <a:lstStyle/>
          <a:p>
            <a:endParaRPr lang="en-US"/>
          </a:p>
        </p:txBody>
      </p:sp>
      <p:sp>
        <p:nvSpPr>
          <p:cNvPr id="30" name="Text 28"/>
          <p:cNvSpPr/>
          <p:nvPr/>
        </p:nvSpPr>
        <p:spPr>
          <a:xfrm>
            <a:off x="746150" y="6495898"/>
            <a:ext cx="3028493" cy="219456"/>
          </a:xfrm>
          <a:prstGeom prst="rect">
            <a:avLst/>
          </a:prstGeom>
          <a:noFill/>
          <a:ln/>
        </p:spPr>
        <p:txBody>
          <a:bodyPr wrap="square" lIns="0" tIns="0" rIns="0" bIns="0" rtlCol="0" anchor="t"/>
          <a:lstStyle/>
          <a:p>
            <a:r>
              <a:rPr lang="en-US" sz="1494" b="1" dirty="0">
                <a:solidFill>
                  <a:srgbClr val="3C6591"/>
                </a:solidFill>
                <a:latin typeface="Arial" pitchFamily="34" charset="0"/>
                <a:ea typeface="Arial" pitchFamily="34" charset="-122"/>
                <a:cs typeface="Arial" pitchFamily="34" charset="-120"/>
              </a:rPr>
              <a:t>No NSCLC-specific rules yet</a:t>
            </a:r>
            <a:endParaRPr lang="en-US" sz="1494" dirty="0"/>
          </a:p>
        </p:txBody>
      </p:sp>
      <p:sp>
        <p:nvSpPr>
          <p:cNvPr id="31" name="Shape 29"/>
          <p:cNvSpPr/>
          <p:nvPr/>
        </p:nvSpPr>
        <p:spPr>
          <a:xfrm>
            <a:off x="4378147" y="2073859"/>
            <a:ext cx="5058461" cy="4707331"/>
          </a:xfrm>
          <a:prstGeom prst="rect">
            <a:avLst/>
          </a:prstGeom>
          <a:solidFill>
            <a:srgbClr val="EFF7F6"/>
          </a:solidFill>
          <a:ln w="10160">
            <a:solidFill>
              <a:srgbClr val="92B8B8"/>
            </a:solidFill>
            <a:prstDash val="solid"/>
          </a:ln>
        </p:spPr>
        <p:txBody>
          <a:bodyPr/>
          <a:lstStyle/>
          <a:p>
            <a:endParaRPr lang="en-US"/>
          </a:p>
        </p:txBody>
      </p:sp>
      <p:sp>
        <p:nvSpPr>
          <p:cNvPr id="32" name="Shape 30"/>
          <p:cNvSpPr/>
          <p:nvPr/>
        </p:nvSpPr>
        <p:spPr>
          <a:xfrm>
            <a:off x="4378147" y="2073859"/>
            <a:ext cx="5058461" cy="965606"/>
          </a:xfrm>
          <a:prstGeom prst="rect">
            <a:avLst/>
          </a:prstGeom>
          <a:solidFill>
            <a:srgbClr val="007F83"/>
          </a:solidFill>
          <a:ln w="7620">
            <a:solidFill>
              <a:srgbClr val="007F83"/>
            </a:solidFill>
            <a:prstDash val="solid"/>
          </a:ln>
        </p:spPr>
        <p:txBody>
          <a:bodyPr/>
          <a:lstStyle/>
          <a:p>
            <a:endParaRPr lang="en-US"/>
          </a:p>
        </p:txBody>
      </p:sp>
      <p:sp>
        <p:nvSpPr>
          <p:cNvPr id="33" name="Shape 31"/>
          <p:cNvSpPr/>
          <p:nvPr/>
        </p:nvSpPr>
        <p:spPr>
          <a:xfrm>
            <a:off x="4564685" y="2243938"/>
            <a:ext cx="340157" cy="340157"/>
          </a:xfrm>
          <a:prstGeom prst="ellipse">
            <a:avLst/>
          </a:prstGeom>
          <a:solidFill>
            <a:srgbClr val="FFFFFF"/>
          </a:solidFill>
          <a:ln w="2540">
            <a:solidFill>
              <a:srgbClr val="FFFFFF"/>
            </a:solidFill>
            <a:prstDash val="solid"/>
          </a:ln>
        </p:spPr>
        <p:txBody>
          <a:bodyPr/>
          <a:lstStyle/>
          <a:p>
            <a:endParaRPr lang="en-US"/>
          </a:p>
        </p:txBody>
      </p:sp>
      <p:sp>
        <p:nvSpPr>
          <p:cNvPr id="34" name="Text 32"/>
          <p:cNvSpPr/>
          <p:nvPr/>
        </p:nvSpPr>
        <p:spPr>
          <a:xfrm>
            <a:off x="4564685" y="2252716"/>
            <a:ext cx="340157" cy="329184"/>
          </a:xfrm>
          <a:prstGeom prst="rect">
            <a:avLst/>
          </a:prstGeom>
          <a:noFill/>
          <a:ln/>
        </p:spPr>
        <p:txBody>
          <a:bodyPr wrap="square" lIns="0" tIns="0" rIns="0" bIns="0" rtlCol="0" anchor="ctr"/>
          <a:lstStyle/>
          <a:p>
            <a:pPr algn="ctr"/>
            <a:r>
              <a:rPr lang="en-US" sz="1440" b="1" dirty="0">
                <a:solidFill>
                  <a:srgbClr val="FFFFFF"/>
                </a:solidFill>
                <a:latin typeface="Arial" pitchFamily="34" charset="0"/>
                <a:ea typeface="Arial" pitchFamily="34" charset="-122"/>
                <a:cs typeface="Arial" pitchFamily="34" charset="-120"/>
              </a:rPr>
              <a:t>3</a:t>
            </a:r>
            <a:endParaRPr lang="en-US" sz="1440" dirty="0"/>
          </a:p>
        </p:txBody>
      </p:sp>
      <p:sp>
        <p:nvSpPr>
          <p:cNvPr id="35" name="Text 33"/>
          <p:cNvSpPr/>
          <p:nvPr/>
        </p:nvSpPr>
        <p:spPr>
          <a:xfrm>
            <a:off x="4564685" y="2254910"/>
            <a:ext cx="340157" cy="274320"/>
          </a:xfrm>
          <a:prstGeom prst="rect">
            <a:avLst/>
          </a:prstGeom>
          <a:noFill/>
          <a:ln/>
        </p:spPr>
        <p:txBody>
          <a:bodyPr wrap="square" lIns="0" tIns="0" rIns="0" bIns="0" rtlCol="0" anchor="ctr"/>
          <a:lstStyle/>
          <a:p>
            <a:pPr algn="ctr"/>
            <a:r>
              <a:rPr lang="en-US" sz="1476" b="1" dirty="0">
                <a:solidFill>
                  <a:srgbClr val="007F83"/>
                </a:solidFill>
                <a:latin typeface="Arial" pitchFamily="34" charset="0"/>
                <a:ea typeface="Arial" pitchFamily="34" charset="-122"/>
                <a:cs typeface="Arial" pitchFamily="34" charset="-120"/>
              </a:rPr>
              <a:t>3</a:t>
            </a:r>
            <a:endParaRPr lang="en-US" sz="1476" dirty="0"/>
          </a:p>
        </p:txBody>
      </p:sp>
      <p:sp>
        <p:nvSpPr>
          <p:cNvPr id="36" name="Text 34"/>
          <p:cNvSpPr/>
          <p:nvPr/>
        </p:nvSpPr>
        <p:spPr>
          <a:xfrm>
            <a:off x="5080406" y="2232965"/>
            <a:ext cx="4180637" cy="241402"/>
          </a:xfrm>
          <a:prstGeom prst="rect">
            <a:avLst/>
          </a:prstGeom>
          <a:noFill/>
          <a:ln/>
        </p:spPr>
        <p:txBody>
          <a:bodyPr wrap="square" lIns="0" tIns="0" rIns="0" bIns="0" rtlCol="0" anchor="t"/>
          <a:lstStyle/>
          <a:p>
            <a:r>
              <a:rPr lang="en-US" sz="1368" b="1" kern="0" spc="60" dirty="0">
                <a:solidFill>
                  <a:srgbClr val="FFFFFF"/>
                </a:solidFill>
                <a:latin typeface="Arial" pitchFamily="34" charset="0"/>
                <a:ea typeface="Arial" pitchFamily="34" charset="-122"/>
                <a:cs typeface="Arial" pitchFamily="34" charset="-120"/>
              </a:rPr>
              <a:t>DISEASE / ASSET DATA PRODUCT</a:t>
            </a:r>
            <a:endParaRPr lang="en-US" sz="1368" dirty="0"/>
          </a:p>
        </p:txBody>
      </p:sp>
      <p:sp>
        <p:nvSpPr>
          <p:cNvPr id="37" name="Text 35"/>
          <p:cNvSpPr/>
          <p:nvPr/>
        </p:nvSpPr>
        <p:spPr>
          <a:xfrm>
            <a:off x="4586630" y="2584095"/>
            <a:ext cx="4619549" cy="373075"/>
          </a:xfrm>
          <a:prstGeom prst="rect">
            <a:avLst/>
          </a:prstGeom>
          <a:noFill/>
          <a:ln/>
        </p:spPr>
        <p:txBody>
          <a:bodyPr wrap="square" lIns="0" tIns="0" rIns="0" bIns="0" rtlCol="0" anchor="t"/>
          <a:lstStyle/>
          <a:p>
            <a:r>
              <a:rPr lang="en-US" sz="2808" b="1" dirty="0">
                <a:solidFill>
                  <a:srgbClr val="FFFFFF"/>
                </a:solidFill>
                <a:latin typeface="Arial" pitchFamily="34" charset="0"/>
                <a:ea typeface="Arial" pitchFamily="34" charset="-122"/>
                <a:cs typeface="Arial" pitchFamily="34" charset="-120"/>
              </a:rPr>
              <a:t>NSCLC</a:t>
            </a:r>
            <a:endParaRPr lang="en-US" sz="2808" dirty="0"/>
          </a:p>
        </p:txBody>
      </p:sp>
      <p:sp>
        <p:nvSpPr>
          <p:cNvPr id="38" name="Text 36"/>
          <p:cNvSpPr/>
          <p:nvPr/>
        </p:nvSpPr>
        <p:spPr>
          <a:xfrm>
            <a:off x="4597603" y="3291840"/>
            <a:ext cx="4619549" cy="263347"/>
          </a:xfrm>
          <a:prstGeom prst="rect">
            <a:avLst/>
          </a:prstGeom>
          <a:noFill/>
          <a:ln/>
        </p:spPr>
        <p:txBody>
          <a:bodyPr wrap="square" lIns="0" tIns="0" rIns="0" bIns="0" rtlCol="0" anchor="t"/>
          <a:lstStyle/>
          <a:p>
            <a:r>
              <a:rPr lang="en-US" sz="1860" b="1" dirty="0">
                <a:solidFill>
                  <a:srgbClr val="007F83"/>
                </a:solidFill>
                <a:latin typeface="Arial" pitchFamily="34" charset="0"/>
                <a:ea typeface="Arial" pitchFamily="34" charset="-122"/>
                <a:cs typeface="Arial" pitchFamily="34" charset="-120"/>
              </a:rPr>
              <a:t>Disease context</a:t>
            </a:r>
            <a:endParaRPr lang="en-US" sz="1860" dirty="0"/>
          </a:p>
        </p:txBody>
      </p:sp>
      <p:sp>
        <p:nvSpPr>
          <p:cNvPr id="39" name="Text 37"/>
          <p:cNvSpPr/>
          <p:nvPr/>
        </p:nvSpPr>
        <p:spPr>
          <a:xfrm>
            <a:off x="4597603" y="3588106"/>
            <a:ext cx="4619549" cy="252374"/>
          </a:xfrm>
          <a:prstGeom prst="rect">
            <a:avLst/>
          </a:prstGeom>
          <a:noFill/>
          <a:ln/>
        </p:spPr>
        <p:txBody>
          <a:bodyPr wrap="square" lIns="0" tIns="0" rIns="0" bIns="0" rtlCol="0" anchor="t"/>
          <a:lstStyle/>
          <a:p>
            <a:r>
              <a:rPr lang="en-US" sz="1530" dirty="0">
                <a:solidFill>
                  <a:srgbClr val="153345"/>
                </a:solidFill>
                <a:latin typeface="Arial" pitchFamily="34" charset="0"/>
                <a:ea typeface="Arial" pitchFamily="34" charset="-122"/>
                <a:cs typeface="Arial" pitchFamily="34" charset="-120"/>
              </a:rPr>
              <a:t>Phenotype · histology · stage / metastatic status</a:t>
            </a:r>
            <a:endParaRPr lang="en-US" sz="1530" dirty="0"/>
          </a:p>
        </p:txBody>
      </p:sp>
      <p:sp>
        <p:nvSpPr>
          <p:cNvPr id="40" name="Shape 38"/>
          <p:cNvSpPr/>
          <p:nvPr/>
        </p:nvSpPr>
        <p:spPr>
          <a:xfrm>
            <a:off x="4597603" y="3813048"/>
            <a:ext cx="4619549" cy="0"/>
          </a:xfrm>
          <a:prstGeom prst="line">
            <a:avLst/>
          </a:prstGeom>
          <a:noFill/>
          <a:ln w="7620">
            <a:solidFill>
              <a:srgbClr val="C7DBD9"/>
            </a:solidFill>
            <a:prstDash val="solid"/>
          </a:ln>
        </p:spPr>
        <p:txBody>
          <a:bodyPr/>
          <a:lstStyle/>
          <a:p>
            <a:endParaRPr lang="en-US"/>
          </a:p>
        </p:txBody>
      </p:sp>
      <p:sp>
        <p:nvSpPr>
          <p:cNvPr id="41" name="Text 39"/>
          <p:cNvSpPr/>
          <p:nvPr/>
        </p:nvSpPr>
        <p:spPr>
          <a:xfrm>
            <a:off x="4597603" y="3917290"/>
            <a:ext cx="4619549" cy="263347"/>
          </a:xfrm>
          <a:prstGeom prst="rect">
            <a:avLst/>
          </a:prstGeom>
          <a:noFill/>
          <a:ln/>
        </p:spPr>
        <p:txBody>
          <a:bodyPr wrap="square" lIns="0" tIns="0" rIns="0" bIns="0" rtlCol="0" anchor="t"/>
          <a:lstStyle/>
          <a:p>
            <a:r>
              <a:rPr lang="en-US" sz="1860" b="1" dirty="0">
                <a:solidFill>
                  <a:srgbClr val="007F83"/>
                </a:solidFill>
                <a:latin typeface="Arial" pitchFamily="34" charset="0"/>
                <a:ea typeface="Arial" pitchFamily="34" charset="-122"/>
                <a:cs typeface="Arial" pitchFamily="34" charset="-120"/>
              </a:rPr>
              <a:t>Biomarker interpretation</a:t>
            </a:r>
            <a:endParaRPr lang="en-US" sz="1860" dirty="0"/>
          </a:p>
        </p:txBody>
      </p:sp>
      <p:sp>
        <p:nvSpPr>
          <p:cNvPr id="42" name="Text 40"/>
          <p:cNvSpPr/>
          <p:nvPr/>
        </p:nvSpPr>
        <p:spPr>
          <a:xfrm>
            <a:off x="4597603" y="4213555"/>
            <a:ext cx="4619549" cy="252374"/>
          </a:xfrm>
          <a:prstGeom prst="rect">
            <a:avLst/>
          </a:prstGeom>
          <a:noFill/>
          <a:ln/>
        </p:spPr>
        <p:txBody>
          <a:bodyPr wrap="square" lIns="0" tIns="0" rIns="0" bIns="0" rtlCol="0" anchor="t"/>
          <a:lstStyle/>
          <a:p>
            <a:r>
              <a:rPr lang="en-US" sz="1530" dirty="0">
                <a:solidFill>
                  <a:srgbClr val="153345"/>
                </a:solidFill>
                <a:latin typeface="Arial" pitchFamily="34" charset="0"/>
                <a:ea typeface="Arial" pitchFamily="34" charset="-122"/>
                <a:cs typeface="Arial" pitchFamily="34" charset="-120"/>
              </a:rPr>
              <a:t>EGFR / ALK / KRAS · dated results · status rules</a:t>
            </a:r>
            <a:endParaRPr lang="en-US" sz="1530" dirty="0"/>
          </a:p>
        </p:txBody>
      </p:sp>
      <p:sp>
        <p:nvSpPr>
          <p:cNvPr id="43" name="Shape 41"/>
          <p:cNvSpPr/>
          <p:nvPr/>
        </p:nvSpPr>
        <p:spPr>
          <a:xfrm>
            <a:off x="4597603" y="4438498"/>
            <a:ext cx="4619549" cy="0"/>
          </a:xfrm>
          <a:prstGeom prst="line">
            <a:avLst/>
          </a:prstGeom>
          <a:noFill/>
          <a:ln w="7620">
            <a:solidFill>
              <a:srgbClr val="C7DBD9"/>
            </a:solidFill>
            <a:prstDash val="solid"/>
          </a:ln>
        </p:spPr>
        <p:txBody>
          <a:bodyPr/>
          <a:lstStyle/>
          <a:p>
            <a:endParaRPr lang="en-US"/>
          </a:p>
        </p:txBody>
      </p:sp>
      <p:sp>
        <p:nvSpPr>
          <p:cNvPr id="44" name="Text 42"/>
          <p:cNvSpPr/>
          <p:nvPr/>
        </p:nvSpPr>
        <p:spPr>
          <a:xfrm>
            <a:off x="4597603" y="4542739"/>
            <a:ext cx="4619549" cy="263347"/>
          </a:xfrm>
          <a:prstGeom prst="rect">
            <a:avLst/>
          </a:prstGeom>
          <a:noFill/>
          <a:ln/>
        </p:spPr>
        <p:txBody>
          <a:bodyPr wrap="square" lIns="0" tIns="0" rIns="0" bIns="0" rtlCol="0" anchor="t"/>
          <a:lstStyle/>
          <a:p>
            <a:r>
              <a:rPr lang="en-US" sz="1860" b="1" dirty="0">
                <a:solidFill>
                  <a:srgbClr val="007F83"/>
                </a:solidFill>
                <a:latin typeface="Arial" pitchFamily="34" charset="0"/>
                <a:ea typeface="Arial" pitchFamily="34" charset="-122"/>
                <a:cs typeface="Arial" pitchFamily="34" charset="-120"/>
              </a:rPr>
              <a:t>Treatment journey</a:t>
            </a:r>
            <a:endParaRPr lang="en-US" sz="1860" dirty="0"/>
          </a:p>
        </p:txBody>
      </p:sp>
      <p:sp>
        <p:nvSpPr>
          <p:cNvPr id="45" name="Text 43"/>
          <p:cNvSpPr/>
          <p:nvPr/>
        </p:nvSpPr>
        <p:spPr>
          <a:xfrm>
            <a:off x="4597603" y="4839005"/>
            <a:ext cx="4619549" cy="252374"/>
          </a:xfrm>
          <a:prstGeom prst="rect">
            <a:avLst/>
          </a:prstGeom>
          <a:noFill/>
          <a:ln/>
        </p:spPr>
        <p:txBody>
          <a:bodyPr wrap="square" lIns="0" tIns="0" rIns="0" bIns="0" rtlCol="0" anchor="t"/>
          <a:lstStyle/>
          <a:p>
            <a:r>
              <a:rPr lang="en-US" sz="1530" dirty="0">
                <a:solidFill>
                  <a:srgbClr val="153345"/>
                </a:solidFill>
                <a:latin typeface="Arial" pitchFamily="34" charset="0"/>
                <a:ea typeface="Arial" pitchFamily="34" charset="-122"/>
                <a:cs typeface="Arial" pitchFamily="34" charset="-120"/>
              </a:rPr>
              <a:t>Episodes · regimen · line of therapy · transitions</a:t>
            </a:r>
            <a:endParaRPr lang="en-US" sz="1530" dirty="0"/>
          </a:p>
        </p:txBody>
      </p:sp>
      <p:sp>
        <p:nvSpPr>
          <p:cNvPr id="46" name="Shape 44"/>
          <p:cNvSpPr/>
          <p:nvPr/>
        </p:nvSpPr>
        <p:spPr>
          <a:xfrm>
            <a:off x="4597603" y="5063947"/>
            <a:ext cx="4619549" cy="0"/>
          </a:xfrm>
          <a:prstGeom prst="line">
            <a:avLst/>
          </a:prstGeom>
          <a:noFill/>
          <a:ln w="7620">
            <a:solidFill>
              <a:srgbClr val="C7DBD9"/>
            </a:solidFill>
            <a:prstDash val="solid"/>
          </a:ln>
        </p:spPr>
        <p:txBody>
          <a:bodyPr/>
          <a:lstStyle/>
          <a:p>
            <a:endParaRPr lang="en-US"/>
          </a:p>
        </p:txBody>
      </p:sp>
      <p:sp>
        <p:nvSpPr>
          <p:cNvPr id="47" name="Text 45"/>
          <p:cNvSpPr/>
          <p:nvPr/>
        </p:nvSpPr>
        <p:spPr>
          <a:xfrm>
            <a:off x="4597603" y="5168189"/>
            <a:ext cx="4619549" cy="263347"/>
          </a:xfrm>
          <a:prstGeom prst="rect">
            <a:avLst/>
          </a:prstGeom>
          <a:noFill/>
          <a:ln/>
        </p:spPr>
        <p:txBody>
          <a:bodyPr wrap="square" lIns="0" tIns="0" rIns="0" bIns="0" rtlCol="0" anchor="t"/>
          <a:lstStyle/>
          <a:p>
            <a:r>
              <a:rPr lang="en-US" sz="1860" b="1" dirty="0">
                <a:solidFill>
                  <a:srgbClr val="007F83"/>
                </a:solidFill>
                <a:latin typeface="Arial" pitchFamily="34" charset="0"/>
                <a:ea typeface="Arial" pitchFamily="34" charset="-122"/>
                <a:cs typeface="Arial" pitchFamily="34" charset="-120"/>
              </a:rPr>
              <a:t>Clinical events &amp; views</a:t>
            </a:r>
            <a:endParaRPr lang="en-US" sz="1860" dirty="0"/>
          </a:p>
        </p:txBody>
      </p:sp>
      <p:sp>
        <p:nvSpPr>
          <p:cNvPr id="48" name="Text 46"/>
          <p:cNvSpPr/>
          <p:nvPr/>
        </p:nvSpPr>
        <p:spPr>
          <a:xfrm>
            <a:off x="4597603" y="5464455"/>
            <a:ext cx="4619549" cy="252374"/>
          </a:xfrm>
          <a:prstGeom prst="rect">
            <a:avLst/>
          </a:prstGeom>
          <a:noFill/>
          <a:ln/>
        </p:spPr>
        <p:txBody>
          <a:bodyPr wrap="square" lIns="0" tIns="0" rIns="0" bIns="0" rtlCol="0" anchor="t"/>
          <a:lstStyle/>
          <a:p>
            <a:r>
              <a:rPr lang="en-US" sz="1530" dirty="0">
                <a:solidFill>
                  <a:srgbClr val="153345"/>
                </a:solidFill>
                <a:latin typeface="Arial" pitchFamily="34" charset="0"/>
                <a:ea typeface="Arial" pitchFamily="34" charset="-122"/>
                <a:cs typeface="Arial" pitchFamily="34" charset="-120"/>
              </a:rPr>
              <a:t>Progression / response records · line summaries</a:t>
            </a:r>
            <a:endParaRPr lang="en-US" sz="1530" dirty="0"/>
          </a:p>
        </p:txBody>
      </p:sp>
      <p:sp>
        <p:nvSpPr>
          <p:cNvPr id="49" name="Shape 47"/>
          <p:cNvSpPr/>
          <p:nvPr/>
        </p:nvSpPr>
        <p:spPr>
          <a:xfrm>
            <a:off x="4575658" y="6013095"/>
            <a:ext cx="4663440" cy="581558"/>
          </a:xfrm>
          <a:prstGeom prst="rect">
            <a:avLst/>
          </a:prstGeom>
          <a:solidFill>
            <a:srgbClr val="007F83"/>
          </a:solidFill>
          <a:ln w="7620">
            <a:solidFill>
              <a:srgbClr val="007F83"/>
            </a:solidFill>
            <a:prstDash val="solid"/>
          </a:ln>
        </p:spPr>
        <p:txBody>
          <a:bodyPr/>
          <a:lstStyle/>
          <a:p>
            <a:endParaRPr lang="en-US"/>
          </a:p>
        </p:txBody>
      </p:sp>
      <p:sp>
        <p:nvSpPr>
          <p:cNvPr id="50" name="Text 48"/>
          <p:cNvSpPr/>
          <p:nvPr/>
        </p:nvSpPr>
        <p:spPr>
          <a:xfrm>
            <a:off x="4718304" y="6095391"/>
            <a:ext cx="4378147" cy="252374"/>
          </a:xfrm>
          <a:prstGeom prst="rect">
            <a:avLst/>
          </a:prstGeom>
          <a:noFill/>
          <a:ln/>
        </p:spPr>
        <p:txBody>
          <a:bodyPr wrap="square" lIns="0" tIns="0" rIns="0" bIns="0" rtlCol="0" anchor="t"/>
          <a:lstStyle/>
          <a:p>
            <a:r>
              <a:rPr lang="en-US" sz="1764" b="1" dirty="0">
                <a:solidFill>
                  <a:srgbClr val="FFFFFF"/>
                </a:solidFill>
                <a:latin typeface="Arial" pitchFamily="34" charset="0"/>
                <a:ea typeface="Arial" pitchFamily="34" charset="-122"/>
                <a:cs typeface="Arial" pitchFamily="34" charset="-120"/>
              </a:rPr>
              <a:t>Released NSCLC product</a:t>
            </a:r>
            <a:endParaRPr lang="en-US" sz="1764" dirty="0"/>
          </a:p>
        </p:txBody>
      </p:sp>
      <p:sp>
        <p:nvSpPr>
          <p:cNvPr id="51" name="Text 49"/>
          <p:cNvSpPr/>
          <p:nvPr/>
        </p:nvSpPr>
        <p:spPr>
          <a:xfrm>
            <a:off x="4718304" y="6389461"/>
            <a:ext cx="4378147" cy="164592"/>
          </a:xfrm>
          <a:prstGeom prst="rect">
            <a:avLst/>
          </a:prstGeom>
          <a:noFill/>
          <a:ln/>
        </p:spPr>
        <p:txBody>
          <a:bodyPr wrap="square" lIns="0" tIns="0" rIns="0" bIns="0" rtlCol="0" anchor="t"/>
          <a:lstStyle/>
          <a:p>
            <a:r>
              <a:rPr lang="en-US" sz="1278" dirty="0">
                <a:solidFill>
                  <a:srgbClr val="FFFFFF"/>
                </a:solidFill>
                <a:latin typeface="Arial" pitchFamily="34" charset="0"/>
                <a:ea typeface="Arial" pitchFamily="34" charset="-122"/>
                <a:cs typeface="Arial" pitchFamily="34" charset="-120"/>
              </a:rPr>
              <a:t>Contract · versioned rules · QC · lineage · limitations</a:t>
            </a:r>
            <a:endParaRPr lang="en-US" sz="1278" dirty="0"/>
          </a:p>
        </p:txBody>
      </p:sp>
      <p:sp>
        <p:nvSpPr>
          <p:cNvPr id="52" name="Shape 50"/>
          <p:cNvSpPr/>
          <p:nvPr/>
        </p:nvSpPr>
        <p:spPr>
          <a:xfrm>
            <a:off x="4048963" y="4860950"/>
            <a:ext cx="230429" cy="0"/>
          </a:xfrm>
          <a:prstGeom prst="line">
            <a:avLst/>
          </a:prstGeom>
          <a:noFill/>
          <a:ln w="20320">
            <a:solidFill>
              <a:srgbClr val="5B6974"/>
            </a:solidFill>
            <a:prstDash val="solid"/>
            <a:headEnd type="none"/>
            <a:tailEnd type="triangle"/>
          </a:ln>
        </p:spPr>
        <p:txBody>
          <a:bodyPr/>
          <a:lstStyle/>
          <a:p>
            <a:endParaRPr lang="en-US"/>
          </a:p>
        </p:txBody>
      </p:sp>
      <p:sp>
        <p:nvSpPr>
          <p:cNvPr id="53" name="Shape 51"/>
          <p:cNvSpPr/>
          <p:nvPr/>
        </p:nvSpPr>
        <p:spPr>
          <a:xfrm>
            <a:off x="9513418" y="4860950"/>
            <a:ext cx="252374" cy="0"/>
          </a:xfrm>
          <a:prstGeom prst="line">
            <a:avLst/>
          </a:prstGeom>
          <a:noFill/>
          <a:ln w="20320">
            <a:solidFill>
              <a:srgbClr val="5B6974"/>
            </a:solidFill>
            <a:prstDash val="solid"/>
            <a:headEnd type="none"/>
            <a:tailEnd type="triangle"/>
          </a:ln>
        </p:spPr>
        <p:txBody>
          <a:bodyPr/>
          <a:lstStyle/>
          <a:p>
            <a:endParaRPr lang="en-US"/>
          </a:p>
        </p:txBody>
      </p:sp>
      <p:sp>
        <p:nvSpPr>
          <p:cNvPr id="54" name="Shape 52"/>
          <p:cNvSpPr/>
          <p:nvPr/>
        </p:nvSpPr>
        <p:spPr>
          <a:xfrm>
            <a:off x="9864547" y="2073859"/>
            <a:ext cx="4213555" cy="3807562"/>
          </a:xfrm>
          <a:prstGeom prst="rect">
            <a:avLst/>
          </a:prstGeom>
          <a:solidFill>
            <a:srgbClr val="F2F7F3"/>
          </a:solidFill>
          <a:ln w="10160">
            <a:solidFill>
              <a:srgbClr val="A3C2B2"/>
            </a:solidFill>
            <a:prstDash val="solid"/>
          </a:ln>
        </p:spPr>
        <p:txBody>
          <a:bodyPr/>
          <a:lstStyle/>
          <a:p>
            <a:endParaRPr lang="en-US"/>
          </a:p>
        </p:txBody>
      </p:sp>
      <p:sp>
        <p:nvSpPr>
          <p:cNvPr id="55" name="Shape 53"/>
          <p:cNvSpPr/>
          <p:nvPr/>
        </p:nvSpPr>
        <p:spPr>
          <a:xfrm>
            <a:off x="9864547" y="2073859"/>
            <a:ext cx="4213555" cy="658368"/>
          </a:xfrm>
          <a:prstGeom prst="rect">
            <a:avLst/>
          </a:prstGeom>
          <a:solidFill>
            <a:srgbClr val="28735B"/>
          </a:solidFill>
          <a:ln w="7620">
            <a:solidFill>
              <a:srgbClr val="28735B"/>
            </a:solidFill>
            <a:prstDash val="solid"/>
          </a:ln>
        </p:spPr>
        <p:txBody>
          <a:bodyPr/>
          <a:lstStyle/>
          <a:p>
            <a:endParaRPr lang="en-US"/>
          </a:p>
        </p:txBody>
      </p:sp>
      <p:sp>
        <p:nvSpPr>
          <p:cNvPr id="56" name="Shape 54"/>
          <p:cNvSpPr/>
          <p:nvPr/>
        </p:nvSpPr>
        <p:spPr>
          <a:xfrm>
            <a:off x="10040112" y="2238451"/>
            <a:ext cx="318211" cy="318211"/>
          </a:xfrm>
          <a:prstGeom prst="ellipse">
            <a:avLst/>
          </a:prstGeom>
          <a:solidFill>
            <a:srgbClr val="FFFFFF"/>
          </a:solidFill>
          <a:ln w="2540">
            <a:solidFill>
              <a:srgbClr val="FFFFFF"/>
            </a:solidFill>
            <a:prstDash val="solid"/>
          </a:ln>
        </p:spPr>
        <p:txBody>
          <a:bodyPr/>
          <a:lstStyle/>
          <a:p>
            <a:endParaRPr lang="en-US"/>
          </a:p>
        </p:txBody>
      </p:sp>
      <p:sp>
        <p:nvSpPr>
          <p:cNvPr id="57" name="Text 55"/>
          <p:cNvSpPr/>
          <p:nvPr/>
        </p:nvSpPr>
        <p:spPr>
          <a:xfrm>
            <a:off x="10040112" y="2247229"/>
            <a:ext cx="318211" cy="307238"/>
          </a:xfrm>
          <a:prstGeom prst="rect">
            <a:avLst/>
          </a:prstGeom>
          <a:noFill/>
          <a:ln/>
        </p:spPr>
        <p:txBody>
          <a:bodyPr wrap="square" lIns="0" tIns="0" rIns="0" bIns="0" rtlCol="0" anchor="ctr"/>
          <a:lstStyle/>
          <a:p>
            <a:pPr algn="ctr"/>
            <a:r>
              <a:rPr lang="en-US" sz="1440" b="1" dirty="0">
                <a:solidFill>
                  <a:srgbClr val="FFFFFF"/>
                </a:solidFill>
                <a:latin typeface="Arial" pitchFamily="34" charset="0"/>
                <a:ea typeface="Arial" pitchFamily="34" charset="-122"/>
                <a:cs typeface="Arial" pitchFamily="34" charset="-120"/>
              </a:rPr>
              <a:t>4</a:t>
            </a:r>
            <a:endParaRPr lang="en-US" sz="1440" dirty="0"/>
          </a:p>
        </p:txBody>
      </p:sp>
      <p:sp>
        <p:nvSpPr>
          <p:cNvPr id="58" name="Text 56"/>
          <p:cNvSpPr/>
          <p:nvPr/>
        </p:nvSpPr>
        <p:spPr>
          <a:xfrm>
            <a:off x="10040112" y="2249424"/>
            <a:ext cx="318211" cy="263347"/>
          </a:xfrm>
          <a:prstGeom prst="rect">
            <a:avLst/>
          </a:prstGeom>
          <a:noFill/>
          <a:ln/>
        </p:spPr>
        <p:txBody>
          <a:bodyPr wrap="square" lIns="0" tIns="0" rIns="0" bIns="0" rtlCol="0" anchor="ctr"/>
          <a:lstStyle/>
          <a:p>
            <a:pPr algn="ctr"/>
            <a:r>
              <a:rPr lang="en-US" sz="1440" b="1" dirty="0">
                <a:solidFill>
                  <a:srgbClr val="28735B"/>
                </a:solidFill>
                <a:latin typeface="Arial" pitchFamily="34" charset="0"/>
                <a:ea typeface="Arial" pitchFamily="34" charset="-122"/>
                <a:cs typeface="Arial" pitchFamily="34" charset="-120"/>
              </a:rPr>
              <a:t>4</a:t>
            </a:r>
            <a:endParaRPr lang="en-US" sz="1440" dirty="0"/>
          </a:p>
        </p:txBody>
      </p:sp>
      <p:sp>
        <p:nvSpPr>
          <p:cNvPr id="59" name="Text 57"/>
          <p:cNvSpPr/>
          <p:nvPr/>
        </p:nvSpPr>
        <p:spPr>
          <a:xfrm>
            <a:off x="10489997" y="2218701"/>
            <a:ext cx="3412541" cy="373075"/>
          </a:xfrm>
          <a:prstGeom prst="rect">
            <a:avLst/>
          </a:prstGeom>
          <a:noFill/>
          <a:ln/>
        </p:spPr>
        <p:txBody>
          <a:bodyPr wrap="square" lIns="0" tIns="0" rIns="0" bIns="0" rtlCol="0" anchor="t"/>
          <a:lstStyle/>
          <a:p>
            <a:r>
              <a:rPr lang="en-US" sz="2040" b="1" dirty="0">
                <a:solidFill>
                  <a:srgbClr val="FFFFFF"/>
                </a:solidFill>
                <a:latin typeface="Arial" pitchFamily="34" charset="0"/>
                <a:ea typeface="Arial" pitchFamily="34" charset="-122"/>
                <a:cs typeface="Arial" pitchFamily="34" charset="-120"/>
              </a:rPr>
              <a:t>Study dataset assembly</a:t>
            </a:r>
            <a:endParaRPr lang="en-US" sz="2040" dirty="0"/>
          </a:p>
        </p:txBody>
      </p:sp>
      <p:sp>
        <p:nvSpPr>
          <p:cNvPr id="60" name="Shape 58"/>
          <p:cNvSpPr/>
          <p:nvPr/>
        </p:nvSpPr>
        <p:spPr>
          <a:xfrm>
            <a:off x="10062058" y="2951683"/>
            <a:ext cx="3818534" cy="658368"/>
          </a:xfrm>
          <a:prstGeom prst="rect">
            <a:avLst/>
          </a:prstGeom>
          <a:solidFill>
            <a:srgbClr val="FFFFFF"/>
          </a:solidFill>
          <a:ln w="8890">
            <a:solidFill>
              <a:srgbClr val="A3C2B2"/>
            </a:solidFill>
            <a:prstDash val="solid"/>
          </a:ln>
        </p:spPr>
        <p:txBody>
          <a:bodyPr/>
          <a:lstStyle/>
          <a:p>
            <a:endParaRPr lang="en-US"/>
          </a:p>
        </p:txBody>
      </p:sp>
      <p:sp>
        <p:nvSpPr>
          <p:cNvPr id="61" name="Text 59"/>
          <p:cNvSpPr/>
          <p:nvPr/>
        </p:nvSpPr>
        <p:spPr>
          <a:xfrm>
            <a:off x="10204704" y="3072384"/>
            <a:ext cx="3533242" cy="208483"/>
          </a:xfrm>
          <a:prstGeom prst="rect">
            <a:avLst/>
          </a:prstGeom>
          <a:noFill/>
          <a:ln/>
        </p:spPr>
        <p:txBody>
          <a:bodyPr wrap="square" lIns="0" tIns="0" rIns="0" bIns="0" rtlCol="0" anchor="t"/>
          <a:lstStyle/>
          <a:p>
            <a:r>
              <a:rPr lang="en-US" sz="1290" b="1" kern="0" spc="36" dirty="0">
                <a:solidFill>
                  <a:srgbClr val="28735B"/>
                </a:solidFill>
                <a:latin typeface="Arial" pitchFamily="34" charset="0"/>
                <a:ea typeface="Arial" pitchFamily="34" charset="-122"/>
                <a:cs typeface="Arial" pitchFamily="34" charset="-120"/>
              </a:rPr>
              <a:t>APPROVED STUDY + QC SPEC</a:t>
            </a:r>
            <a:endParaRPr lang="en-US" sz="1290" dirty="0"/>
          </a:p>
        </p:txBody>
      </p:sp>
      <p:sp>
        <p:nvSpPr>
          <p:cNvPr id="62" name="Text 60"/>
          <p:cNvSpPr/>
          <p:nvPr/>
        </p:nvSpPr>
        <p:spPr>
          <a:xfrm>
            <a:off x="10204704" y="3342315"/>
            <a:ext cx="3533242" cy="208483"/>
          </a:xfrm>
          <a:prstGeom prst="rect">
            <a:avLst/>
          </a:prstGeom>
          <a:noFill/>
          <a:ln/>
        </p:spPr>
        <p:txBody>
          <a:bodyPr wrap="square" lIns="0" tIns="0" rIns="0" bIns="0" rtlCol="0" anchor="t"/>
          <a:lstStyle/>
          <a:p>
            <a:r>
              <a:rPr lang="en-US" sz="1518" b="1" dirty="0">
                <a:solidFill>
                  <a:srgbClr val="153345"/>
                </a:solidFill>
                <a:latin typeface="Arial" pitchFamily="34" charset="0"/>
                <a:ea typeface="Arial" pitchFamily="34" charset="-122"/>
                <a:cs typeface="Arial" pitchFamily="34" charset="-120"/>
              </a:rPr>
              <a:t>2L NSCLC · EGFR+ · age 18–75</a:t>
            </a:r>
            <a:endParaRPr lang="en-US" sz="1518" dirty="0"/>
          </a:p>
        </p:txBody>
      </p:sp>
      <p:sp>
        <p:nvSpPr>
          <p:cNvPr id="63" name="Text 61"/>
          <p:cNvSpPr/>
          <p:nvPr/>
        </p:nvSpPr>
        <p:spPr>
          <a:xfrm>
            <a:off x="10084003" y="3862426"/>
            <a:ext cx="362102" cy="307238"/>
          </a:xfrm>
          <a:prstGeom prst="rect">
            <a:avLst/>
          </a:prstGeom>
          <a:noFill/>
          <a:ln/>
        </p:spPr>
        <p:txBody>
          <a:bodyPr wrap="square" lIns="0" tIns="0" rIns="0" bIns="0" rtlCol="0" anchor="t"/>
          <a:lstStyle/>
          <a:p>
            <a:r>
              <a:rPr lang="en-US" sz="1488" b="1" dirty="0">
                <a:solidFill>
                  <a:srgbClr val="28735B"/>
                </a:solidFill>
                <a:latin typeface="Arial" pitchFamily="34" charset="0"/>
                <a:ea typeface="Arial" pitchFamily="34" charset="-122"/>
                <a:cs typeface="Arial" pitchFamily="34" charset="-120"/>
              </a:rPr>
              <a:t>01</a:t>
            </a:r>
            <a:endParaRPr lang="en-US" sz="1488" dirty="0"/>
          </a:p>
        </p:txBody>
      </p:sp>
      <p:sp>
        <p:nvSpPr>
          <p:cNvPr id="64" name="Text 62"/>
          <p:cNvSpPr/>
          <p:nvPr/>
        </p:nvSpPr>
        <p:spPr>
          <a:xfrm>
            <a:off x="10555834" y="3834994"/>
            <a:ext cx="3302813" cy="504749"/>
          </a:xfrm>
          <a:prstGeom prst="rect">
            <a:avLst/>
          </a:prstGeom>
          <a:noFill/>
          <a:ln/>
        </p:spPr>
        <p:txBody>
          <a:bodyPr wrap="square" lIns="0" tIns="0" rIns="0" bIns="0" rtlCol="0" anchor="t"/>
          <a:lstStyle/>
          <a:p>
            <a:pPr>
              <a:lnSpc>
                <a:spcPct val="101000"/>
              </a:lnSpc>
            </a:pPr>
            <a:r>
              <a:rPr lang="en-US" sz="1626" dirty="0">
                <a:solidFill>
                  <a:srgbClr val="153345"/>
                </a:solidFill>
                <a:latin typeface="Arial" pitchFamily="34" charset="0"/>
                <a:ea typeface="Arial" pitchFamily="34" charset="-122"/>
                <a:cs typeface="Arial" pitchFamily="34" charset="-120"/>
              </a:rPr>
              <a:t>Set eligibility, index</a:t>
            </a:r>
            <a:endParaRPr lang="en-US" sz="1626" dirty="0"/>
          </a:p>
          <a:p>
            <a:pPr>
              <a:lnSpc>
                <a:spcPct val="101000"/>
              </a:lnSpc>
            </a:pPr>
            <a:r>
              <a:rPr lang="en-US" sz="1626" dirty="0">
                <a:solidFill>
                  <a:srgbClr val="153345"/>
                </a:solidFill>
                <a:latin typeface="Arial" pitchFamily="34" charset="0"/>
                <a:ea typeface="Arial" pitchFamily="34" charset="-122"/>
                <a:cs typeface="Arial" pitchFamily="34" charset="-120"/>
              </a:rPr>
              <a:t>and baseline</a:t>
            </a:r>
            <a:endParaRPr lang="en-US" sz="1626" dirty="0"/>
          </a:p>
        </p:txBody>
      </p:sp>
      <p:sp>
        <p:nvSpPr>
          <p:cNvPr id="65" name="Text 63"/>
          <p:cNvSpPr/>
          <p:nvPr/>
        </p:nvSpPr>
        <p:spPr>
          <a:xfrm>
            <a:off x="10084003" y="4449471"/>
            <a:ext cx="362102" cy="307238"/>
          </a:xfrm>
          <a:prstGeom prst="rect">
            <a:avLst/>
          </a:prstGeom>
          <a:noFill/>
          <a:ln/>
        </p:spPr>
        <p:txBody>
          <a:bodyPr wrap="square" lIns="0" tIns="0" rIns="0" bIns="0" rtlCol="0" anchor="t"/>
          <a:lstStyle/>
          <a:p>
            <a:r>
              <a:rPr lang="en-US" sz="1488" b="1" dirty="0">
                <a:solidFill>
                  <a:srgbClr val="28735B"/>
                </a:solidFill>
                <a:latin typeface="Arial" pitchFamily="34" charset="0"/>
                <a:ea typeface="Arial" pitchFamily="34" charset="-122"/>
                <a:cs typeface="Arial" pitchFamily="34" charset="-120"/>
              </a:rPr>
              <a:t>02</a:t>
            </a:r>
            <a:endParaRPr lang="en-US" sz="1488" dirty="0"/>
          </a:p>
        </p:txBody>
      </p:sp>
      <p:sp>
        <p:nvSpPr>
          <p:cNvPr id="66" name="Text 64"/>
          <p:cNvSpPr/>
          <p:nvPr/>
        </p:nvSpPr>
        <p:spPr>
          <a:xfrm>
            <a:off x="10555834" y="4422038"/>
            <a:ext cx="3302813" cy="504749"/>
          </a:xfrm>
          <a:prstGeom prst="rect">
            <a:avLst/>
          </a:prstGeom>
          <a:noFill/>
          <a:ln/>
        </p:spPr>
        <p:txBody>
          <a:bodyPr wrap="square" lIns="0" tIns="0" rIns="0" bIns="0" rtlCol="0" anchor="t"/>
          <a:lstStyle/>
          <a:p>
            <a:pPr>
              <a:lnSpc>
                <a:spcPct val="101000"/>
              </a:lnSpc>
            </a:pPr>
            <a:r>
              <a:rPr lang="en-US" sz="1626" dirty="0">
                <a:solidFill>
                  <a:srgbClr val="153345"/>
                </a:solidFill>
                <a:latin typeface="Arial" pitchFamily="34" charset="0"/>
                <a:ea typeface="Arial" pitchFamily="34" charset="-122"/>
                <a:cs typeface="Arial" pitchFamily="34" charset="-120"/>
              </a:rPr>
              <a:t>Reuse compatible views; derive</a:t>
            </a:r>
            <a:endParaRPr lang="en-US" sz="1626" dirty="0"/>
          </a:p>
          <a:p>
            <a:pPr>
              <a:lnSpc>
                <a:spcPct val="101000"/>
              </a:lnSpc>
            </a:pPr>
            <a:r>
              <a:rPr lang="en-US" sz="1626" dirty="0">
                <a:solidFill>
                  <a:srgbClr val="153345"/>
                </a:solidFill>
                <a:latin typeface="Arial" pitchFamily="34" charset="0"/>
                <a:ea typeface="Arial" pitchFamily="34" charset="-122"/>
                <a:cs typeface="Arial" pitchFamily="34" charset="-120"/>
              </a:rPr>
              <a:t>endpoints where required</a:t>
            </a:r>
            <a:endParaRPr lang="en-US" sz="1626" dirty="0"/>
          </a:p>
        </p:txBody>
      </p:sp>
      <p:sp>
        <p:nvSpPr>
          <p:cNvPr id="67" name="Text 65"/>
          <p:cNvSpPr/>
          <p:nvPr/>
        </p:nvSpPr>
        <p:spPr>
          <a:xfrm>
            <a:off x="10084003" y="5036515"/>
            <a:ext cx="362102" cy="307238"/>
          </a:xfrm>
          <a:prstGeom prst="rect">
            <a:avLst/>
          </a:prstGeom>
          <a:noFill/>
          <a:ln/>
        </p:spPr>
        <p:txBody>
          <a:bodyPr wrap="square" lIns="0" tIns="0" rIns="0" bIns="0" rtlCol="0" anchor="t"/>
          <a:lstStyle/>
          <a:p>
            <a:r>
              <a:rPr lang="en-US" sz="1488" b="1" dirty="0">
                <a:solidFill>
                  <a:srgbClr val="28735B"/>
                </a:solidFill>
                <a:latin typeface="Arial" pitchFamily="34" charset="0"/>
                <a:ea typeface="Arial" pitchFamily="34" charset="-122"/>
                <a:cs typeface="Arial" pitchFamily="34" charset="-120"/>
              </a:rPr>
              <a:t>03</a:t>
            </a:r>
            <a:endParaRPr lang="en-US" sz="1488" dirty="0"/>
          </a:p>
        </p:txBody>
      </p:sp>
      <p:sp>
        <p:nvSpPr>
          <p:cNvPr id="68" name="Text 66"/>
          <p:cNvSpPr/>
          <p:nvPr/>
        </p:nvSpPr>
        <p:spPr>
          <a:xfrm>
            <a:off x="10555834" y="5009083"/>
            <a:ext cx="3302813" cy="504749"/>
          </a:xfrm>
          <a:prstGeom prst="rect">
            <a:avLst/>
          </a:prstGeom>
          <a:noFill/>
          <a:ln/>
        </p:spPr>
        <p:txBody>
          <a:bodyPr wrap="square" lIns="0" tIns="0" rIns="0" bIns="0" rtlCol="0" anchor="t"/>
          <a:lstStyle/>
          <a:p>
            <a:pPr>
              <a:lnSpc>
                <a:spcPct val="101000"/>
              </a:lnSpc>
            </a:pPr>
            <a:r>
              <a:rPr lang="en-US" sz="1626" dirty="0">
                <a:solidFill>
                  <a:srgbClr val="153345"/>
                </a:solidFill>
                <a:latin typeface="Arial" pitchFamily="34" charset="0"/>
                <a:ea typeface="Arial" pitchFamily="34" charset="-122"/>
                <a:cs typeface="Arial" pitchFamily="34" charset="-120"/>
              </a:rPr>
              <a:t>Validate and version</a:t>
            </a:r>
            <a:endParaRPr lang="en-US" sz="1626" dirty="0"/>
          </a:p>
          <a:p>
            <a:pPr>
              <a:lnSpc>
                <a:spcPct val="101000"/>
              </a:lnSpc>
            </a:pPr>
            <a:r>
              <a:rPr lang="en-US" sz="1626" dirty="0">
                <a:solidFill>
                  <a:srgbClr val="153345"/>
                </a:solidFill>
                <a:latin typeface="Arial" pitchFamily="34" charset="0"/>
                <a:ea typeface="Arial" pitchFamily="34" charset="-122"/>
                <a:cs typeface="Arial" pitchFamily="34" charset="-120"/>
              </a:rPr>
              <a:t>the study dataset</a:t>
            </a:r>
            <a:endParaRPr lang="en-US" sz="1626" dirty="0"/>
          </a:p>
        </p:txBody>
      </p:sp>
      <p:sp>
        <p:nvSpPr>
          <p:cNvPr id="69" name="Shape 67"/>
          <p:cNvSpPr/>
          <p:nvPr/>
        </p:nvSpPr>
        <p:spPr>
          <a:xfrm>
            <a:off x="11971325" y="5914339"/>
            <a:ext cx="0" cy="192024"/>
          </a:xfrm>
          <a:prstGeom prst="line">
            <a:avLst/>
          </a:prstGeom>
          <a:noFill/>
          <a:ln w="13970">
            <a:solidFill>
              <a:srgbClr val="C04C35"/>
            </a:solidFill>
            <a:prstDash val="solid"/>
            <a:headEnd type="none"/>
            <a:tailEnd type="triangle"/>
          </a:ln>
        </p:spPr>
        <p:txBody>
          <a:bodyPr/>
          <a:lstStyle/>
          <a:p>
            <a:endParaRPr lang="en-US"/>
          </a:p>
        </p:txBody>
      </p:sp>
      <p:sp>
        <p:nvSpPr>
          <p:cNvPr id="70" name="Shape 68"/>
          <p:cNvSpPr/>
          <p:nvPr/>
        </p:nvSpPr>
        <p:spPr>
          <a:xfrm>
            <a:off x="9864547" y="6166714"/>
            <a:ext cx="4213555" cy="614477"/>
          </a:xfrm>
          <a:prstGeom prst="rect">
            <a:avLst/>
          </a:prstGeom>
          <a:solidFill>
            <a:srgbClr val="FCF4F1"/>
          </a:solidFill>
          <a:ln w="10160">
            <a:solidFill>
              <a:srgbClr val="DBB2A8"/>
            </a:solidFill>
            <a:prstDash val="solid"/>
          </a:ln>
        </p:spPr>
        <p:txBody>
          <a:bodyPr/>
          <a:lstStyle/>
          <a:p>
            <a:endParaRPr lang="en-US"/>
          </a:p>
        </p:txBody>
      </p:sp>
      <p:sp>
        <p:nvSpPr>
          <p:cNvPr id="71" name="Shape 69"/>
          <p:cNvSpPr/>
          <p:nvPr/>
        </p:nvSpPr>
        <p:spPr>
          <a:xfrm>
            <a:off x="10040112" y="6300582"/>
            <a:ext cx="318211" cy="318211"/>
          </a:xfrm>
          <a:prstGeom prst="ellipse">
            <a:avLst/>
          </a:prstGeom>
          <a:solidFill>
            <a:srgbClr val="C04C35"/>
          </a:solidFill>
          <a:ln w="2540">
            <a:solidFill>
              <a:srgbClr val="C04C35"/>
            </a:solidFill>
            <a:prstDash val="solid"/>
          </a:ln>
        </p:spPr>
        <p:txBody>
          <a:bodyPr/>
          <a:lstStyle/>
          <a:p>
            <a:endParaRPr lang="en-US"/>
          </a:p>
        </p:txBody>
      </p:sp>
      <p:sp>
        <p:nvSpPr>
          <p:cNvPr id="72" name="Text 70"/>
          <p:cNvSpPr/>
          <p:nvPr/>
        </p:nvSpPr>
        <p:spPr>
          <a:xfrm>
            <a:off x="10040112" y="6309360"/>
            <a:ext cx="318211" cy="307238"/>
          </a:xfrm>
          <a:prstGeom prst="rect">
            <a:avLst/>
          </a:prstGeom>
          <a:noFill/>
          <a:ln/>
        </p:spPr>
        <p:txBody>
          <a:bodyPr wrap="square" lIns="0" tIns="0" rIns="0" bIns="0" rtlCol="0" anchor="ctr"/>
          <a:lstStyle/>
          <a:p>
            <a:pPr algn="ctr"/>
            <a:r>
              <a:rPr lang="en-US" sz="1440" b="1" dirty="0">
                <a:solidFill>
                  <a:srgbClr val="FFFFFF"/>
                </a:solidFill>
                <a:latin typeface="Arial" pitchFamily="34" charset="0"/>
                <a:ea typeface="Arial" pitchFamily="34" charset="-122"/>
                <a:cs typeface="Arial" pitchFamily="34" charset="-120"/>
              </a:rPr>
              <a:t>5</a:t>
            </a:r>
            <a:endParaRPr lang="en-US" sz="1440" dirty="0"/>
          </a:p>
        </p:txBody>
      </p:sp>
      <p:sp>
        <p:nvSpPr>
          <p:cNvPr id="73" name="Text 71"/>
          <p:cNvSpPr/>
          <p:nvPr/>
        </p:nvSpPr>
        <p:spPr>
          <a:xfrm>
            <a:off x="10500970" y="6236940"/>
            <a:ext cx="3390595" cy="274320"/>
          </a:xfrm>
          <a:prstGeom prst="rect">
            <a:avLst/>
          </a:prstGeom>
          <a:noFill/>
          <a:ln/>
        </p:spPr>
        <p:txBody>
          <a:bodyPr wrap="square" lIns="0" tIns="0" rIns="0" bIns="0" rtlCol="0" anchor="t"/>
          <a:lstStyle/>
          <a:p>
            <a:r>
              <a:rPr lang="en-US" sz="1920" b="1" dirty="0">
                <a:solidFill>
                  <a:srgbClr val="C04C35"/>
                </a:solidFill>
                <a:latin typeface="Arial" pitchFamily="34" charset="0"/>
                <a:ea typeface="Arial" pitchFamily="34" charset="-122"/>
                <a:cs typeface="Arial" pitchFamily="34" charset="-120"/>
              </a:rPr>
              <a:t>Analysis &amp; evidence</a:t>
            </a:r>
            <a:endParaRPr lang="en-US" sz="1920" dirty="0"/>
          </a:p>
        </p:txBody>
      </p:sp>
      <p:sp>
        <p:nvSpPr>
          <p:cNvPr id="74" name="Text 72"/>
          <p:cNvSpPr/>
          <p:nvPr/>
        </p:nvSpPr>
        <p:spPr>
          <a:xfrm>
            <a:off x="10500970" y="6557345"/>
            <a:ext cx="3390595" cy="186538"/>
          </a:xfrm>
          <a:prstGeom prst="rect">
            <a:avLst/>
          </a:prstGeom>
          <a:noFill/>
          <a:ln/>
        </p:spPr>
        <p:txBody>
          <a:bodyPr wrap="square" lIns="0" tIns="0" rIns="0" bIns="0" rtlCol="0" anchor="t"/>
          <a:lstStyle/>
          <a:p>
            <a:r>
              <a:rPr lang="en-US" sz="1440" dirty="0">
                <a:solidFill>
                  <a:srgbClr val="153345"/>
                </a:solidFill>
                <a:latin typeface="Arial" pitchFamily="34" charset="0"/>
                <a:ea typeface="Arial" pitchFamily="34" charset="-122"/>
                <a:cs typeface="Arial" pitchFamily="34" charset="-120"/>
              </a:rPr>
              <a:t>Estimates · diagnostics · TLFs</a:t>
            </a:r>
            <a:endParaRPr lang="en-US" sz="1440" dirty="0"/>
          </a:p>
        </p:txBody>
      </p:sp>
      <p:sp>
        <p:nvSpPr>
          <p:cNvPr id="75" name="Shape 73"/>
          <p:cNvSpPr/>
          <p:nvPr/>
        </p:nvSpPr>
        <p:spPr>
          <a:xfrm>
            <a:off x="548640" y="7066483"/>
            <a:ext cx="13529462" cy="658368"/>
          </a:xfrm>
          <a:prstGeom prst="rect">
            <a:avLst/>
          </a:prstGeom>
          <a:solidFill>
            <a:srgbClr val="F2F5F6"/>
          </a:solidFill>
          <a:ln w="7620">
            <a:solidFill>
              <a:srgbClr val="D8E1E5"/>
            </a:solidFill>
            <a:prstDash val="solid"/>
          </a:ln>
        </p:spPr>
        <p:txBody>
          <a:bodyPr/>
          <a:lstStyle/>
          <a:p>
            <a:endParaRPr lang="en-US"/>
          </a:p>
        </p:txBody>
      </p:sp>
      <p:sp>
        <p:nvSpPr>
          <p:cNvPr id="76" name="Shape 74"/>
          <p:cNvSpPr/>
          <p:nvPr/>
        </p:nvSpPr>
        <p:spPr>
          <a:xfrm>
            <a:off x="4992624" y="7198157"/>
            <a:ext cx="0" cy="427939"/>
          </a:xfrm>
          <a:prstGeom prst="line">
            <a:avLst/>
          </a:prstGeom>
          <a:noFill/>
          <a:ln w="10160">
            <a:solidFill>
              <a:srgbClr val="BDCAD0"/>
            </a:solidFill>
            <a:prstDash val="solid"/>
          </a:ln>
        </p:spPr>
        <p:txBody>
          <a:bodyPr/>
          <a:lstStyle/>
          <a:p>
            <a:endParaRPr lang="en-US"/>
          </a:p>
        </p:txBody>
      </p:sp>
      <p:sp>
        <p:nvSpPr>
          <p:cNvPr id="77" name="Shape 75"/>
          <p:cNvSpPr/>
          <p:nvPr/>
        </p:nvSpPr>
        <p:spPr>
          <a:xfrm>
            <a:off x="9491472" y="7198157"/>
            <a:ext cx="0" cy="427939"/>
          </a:xfrm>
          <a:prstGeom prst="line">
            <a:avLst/>
          </a:prstGeom>
          <a:noFill/>
          <a:ln w="10160">
            <a:solidFill>
              <a:srgbClr val="BDCAD0"/>
            </a:solidFill>
            <a:prstDash val="solid"/>
          </a:ln>
        </p:spPr>
        <p:txBody>
          <a:bodyPr/>
          <a:lstStyle/>
          <a:p>
            <a:endParaRPr lang="en-US"/>
          </a:p>
        </p:txBody>
      </p:sp>
      <p:sp>
        <p:nvSpPr>
          <p:cNvPr id="78" name="Text 76"/>
          <p:cNvSpPr/>
          <p:nvPr/>
        </p:nvSpPr>
        <p:spPr>
          <a:xfrm>
            <a:off x="757123" y="7176211"/>
            <a:ext cx="4037990" cy="186538"/>
          </a:xfrm>
          <a:prstGeom prst="rect">
            <a:avLst/>
          </a:prstGeom>
          <a:noFill/>
          <a:ln/>
        </p:spPr>
        <p:txBody>
          <a:bodyPr wrap="square" lIns="0" tIns="0" rIns="0" bIns="0" rtlCol="0" anchor="t"/>
          <a:lstStyle/>
          <a:p>
            <a:r>
              <a:rPr lang="en-US" sz="1290" b="1" kern="0" spc="66" dirty="0">
                <a:solidFill>
                  <a:srgbClr val="16374B"/>
                </a:solidFill>
                <a:latin typeface="Arial" pitchFamily="34" charset="0"/>
                <a:ea typeface="Arial" pitchFamily="34" charset="-122"/>
                <a:cs typeface="Arial" pitchFamily="34" charset="-120"/>
              </a:rPr>
              <a:t>CLINICAL EVENT</a:t>
            </a:r>
            <a:endParaRPr lang="en-US" sz="1290" dirty="0"/>
          </a:p>
        </p:txBody>
      </p:sp>
      <p:sp>
        <p:nvSpPr>
          <p:cNvPr id="79" name="Text 77"/>
          <p:cNvSpPr/>
          <p:nvPr/>
        </p:nvSpPr>
        <p:spPr>
          <a:xfrm>
            <a:off x="757123" y="7445045"/>
            <a:ext cx="4037990" cy="230429"/>
          </a:xfrm>
          <a:prstGeom prst="rect">
            <a:avLst/>
          </a:prstGeom>
          <a:noFill/>
          <a:ln/>
        </p:spPr>
        <p:txBody>
          <a:bodyPr wrap="square" lIns="0" tIns="0" rIns="0" bIns="0" rtlCol="0" anchor="t"/>
          <a:lstStyle/>
          <a:p>
            <a:r>
              <a:rPr lang="en-US" sz="1560" dirty="0">
                <a:solidFill>
                  <a:srgbClr val="153345"/>
                </a:solidFill>
                <a:latin typeface="Arial" pitchFamily="34" charset="0"/>
                <a:ea typeface="Arial" pitchFamily="34" charset="-122"/>
                <a:cs typeface="Arial" pitchFamily="34" charset="-120"/>
              </a:rPr>
              <a:t>A dated record or derived event</a:t>
            </a:r>
            <a:endParaRPr lang="en-US" sz="1560" dirty="0"/>
          </a:p>
        </p:txBody>
      </p:sp>
      <p:sp>
        <p:nvSpPr>
          <p:cNvPr id="80" name="Text 78"/>
          <p:cNvSpPr/>
          <p:nvPr/>
        </p:nvSpPr>
        <p:spPr>
          <a:xfrm>
            <a:off x="5201107" y="7176211"/>
            <a:ext cx="4092854" cy="186538"/>
          </a:xfrm>
          <a:prstGeom prst="rect">
            <a:avLst/>
          </a:prstGeom>
          <a:noFill/>
          <a:ln/>
        </p:spPr>
        <p:txBody>
          <a:bodyPr wrap="square" lIns="0" tIns="0" rIns="0" bIns="0" rtlCol="0" anchor="t"/>
          <a:lstStyle/>
          <a:p>
            <a:r>
              <a:rPr lang="en-US" sz="1290" b="1" kern="0" spc="66" dirty="0">
                <a:solidFill>
                  <a:srgbClr val="007F83"/>
                </a:solidFill>
                <a:latin typeface="Arial" pitchFamily="34" charset="0"/>
                <a:ea typeface="Arial" pitchFamily="34" charset="-122"/>
                <a:cs typeface="Arial" pitchFamily="34" charset="-120"/>
              </a:rPr>
              <a:t>ENDPOINT VARIABLE</a:t>
            </a:r>
            <a:endParaRPr lang="en-US" sz="1290" dirty="0"/>
          </a:p>
        </p:txBody>
      </p:sp>
      <p:sp>
        <p:nvSpPr>
          <p:cNvPr id="81" name="Text 79"/>
          <p:cNvSpPr/>
          <p:nvPr/>
        </p:nvSpPr>
        <p:spPr>
          <a:xfrm>
            <a:off x="5201107" y="7445045"/>
            <a:ext cx="4092854" cy="230429"/>
          </a:xfrm>
          <a:prstGeom prst="rect">
            <a:avLst/>
          </a:prstGeom>
          <a:noFill/>
          <a:ln/>
        </p:spPr>
        <p:txBody>
          <a:bodyPr wrap="square" lIns="0" tIns="0" rIns="0" bIns="0" rtlCol="0" anchor="t"/>
          <a:lstStyle/>
          <a:p>
            <a:r>
              <a:rPr lang="en-US" sz="1470" dirty="0">
                <a:solidFill>
                  <a:srgbClr val="153345"/>
                </a:solidFill>
                <a:latin typeface="Arial" pitchFamily="34" charset="0"/>
                <a:ea typeface="Arial" pitchFamily="34" charset="-122"/>
                <a:cs typeface="Arial" pitchFamily="34" charset="-120"/>
              </a:rPr>
              <a:t>Explicit index, event and censoring rules</a:t>
            </a:r>
            <a:endParaRPr lang="en-US" sz="1470" dirty="0"/>
          </a:p>
        </p:txBody>
      </p:sp>
      <p:sp>
        <p:nvSpPr>
          <p:cNvPr id="82" name="Text 80"/>
          <p:cNvSpPr/>
          <p:nvPr/>
        </p:nvSpPr>
        <p:spPr>
          <a:xfrm>
            <a:off x="9699955" y="7176211"/>
            <a:ext cx="4114800" cy="186538"/>
          </a:xfrm>
          <a:prstGeom prst="rect">
            <a:avLst/>
          </a:prstGeom>
          <a:noFill/>
          <a:ln/>
        </p:spPr>
        <p:txBody>
          <a:bodyPr wrap="square" lIns="0" tIns="0" rIns="0" bIns="0" rtlCol="0" anchor="t"/>
          <a:lstStyle/>
          <a:p>
            <a:r>
              <a:rPr lang="en-US" sz="1290" b="1" kern="0" spc="66" dirty="0">
                <a:solidFill>
                  <a:srgbClr val="C04C35"/>
                </a:solidFill>
                <a:latin typeface="Arial" pitchFamily="34" charset="0"/>
                <a:ea typeface="Arial" pitchFamily="34" charset="-122"/>
                <a:cs typeface="Arial" pitchFamily="34" charset="-120"/>
              </a:rPr>
              <a:t>ANALYTICAL RESULT</a:t>
            </a:r>
            <a:endParaRPr lang="en-US" sz="1290" dirty="0"/>
          </a:p>
        </p:txBody>
      </p:sp>
      <p:sp>
        <p:nvSpPr>
          <p:cNvPr id="83" name="Text 81"/>
          <p:cNvSpPr/>
          <p:nvPr/>
        </p:nvSpPr>
        <p:spPr>
          <a:xfrm>
            <a:off x="9699955" y="7445045"/>
            <a:ext cx="4114800" cy="230429"/>
          </a:xfrm>
          <a:prstGeom prst="rect">
            <a:avLst/>
          </a:prstGeom>
          <a:noFill/>
          <a:ln/>
        </p:spPr>
        <p:txBody>
          <a:bodyPr wrap="square" lIns="0" tIns="0" rIns="0" bIns="0" rtlCol="0" anchor="t"/>
          <a:lstStyle/>
          <a:p>
            <a:r>
              <a:rPr lang="en-US" sz="1500" dirty="0">
                <a:solidFill>
                  <a:srgbClr val="153345"/>
                </a:solidFill>
                <a:latin typeface="Arial" pitchFamily="34" charset="0"/>
                <a:ea typeface="Arial" pitchFamily="34" charset="-122"/>
                <a:cs typeface="Arial" pitchFamily="34" charset="-120"/>
              </a:rPr>
              <a:t>Estimate for a population and method</a:t>
            </a:r>
            <a:endParaRPr lang="en-US" sz="1500" dirty="0"/>
          </a:p>
        </p:txBody>
      </p:sp>
      <p:sp>
        <p:nvSpPr>
          <p:cNvPr id="84" name="Text 82"/>
          <p:cNvSpPr/>
          <p:nvPr/>
        </p:nvSpPr>
        <p:spPr>
          <a:xfrm>
            <a:off x="548640" y="7922362"/>
            <a:ext cx="12947904" cy="175565"/>
          </a:xfrm>
          <a:prstGeom prst="rect">
            <a:avLst/>
          </a:prstGeom>
          <a:noFill/>
          <a:ln/>
        </p:spPr>
        <p:txBody>
          <a:bodyPr wrap="square" lIns="0" tIns="0" rIns="0" bIns="0" rtlCol="0" anchor="t"/>
          <a:lstStyle/>
          <a:p>
            <a:r>
              <a:rPr lang="en-US" sz="1104" dirty="0">
                <a:solidFill>
                  <a:srgbClr val="5B6974"/>
                </a:solidFill>
                <a:latin typeface="Arial" pitchFamily="34" charset="0"/>
                <a:ea typeface="Arial" pitchFamily="34" charset="-122"/>
                <a:cs typeface="Arial" pitchFamily="34" charset="-120"/>
              </a:rPr>
              <a:t>RWD DATA PRODUCTS  •  Proposed architecture; maturity and fitness require evidence.</a:t>
            </a:r>
            <a:endParaRPr lang="en-US" sz="1104" dirty="0"/>
          </a:p>
        </p:txBody>
      </p:sp>
      <p:sp>
        <p:nvSpPr>
          <p:cNvPr id="85" name="Text 83"/>
          <p:cNvSpPr/>
          <p:nvPr/>
        </p:nvSpPr>
        <p:spPr>
          <a:xfrm>
            <a:off x="13496544" y="7889443"/>
            <a:ext cx="548640" cy="230429"/>
          </a:xfrm>
          <a:prstGeom prst="rect">
            <a:avLst/>
          </a:prstGeom>
          <a:noFill/>
          <a:ln/>
        </p:spPr>
        <p:txBody>
          <a:bodyPr wrap="square" lIns="0" tIns="0" rIns="0" bIns="0" rtlCol="0" anchor="t"/>
          <a:lstStyle/>
          <a:p>
            <a:pPr algn="r"/>
            <a:r>
              <a:rPr lang="en-US" sz="1260" b="1" dirty="0">
                <a:solidFill>
                  <a:srgbClr val="16374B"/>
                </a:solidFill>
                <a:latin typeface="Arial" pitchFamily="34" charset="0"/>
                <a:ea typeface="Arial" pitchFamily="34" charset="-122"/>
                <a:cs typeface="Arial" pitchFamily="34" charset="-120"/>
              </a:rPr>
              <a:t>02</a:t>
            </a:r>
            <a:endParaRPr lang="en-US" sz="12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2864</Words>
  <Application>Microsoft Office PowerPoint</Application>
  <PresentationFormat>Custom</PresentationFormat>
  <Paragraphs>202</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RWD Data Products | Clear Boundaries from Foundation to Evidence</dc:title>
  <dc:subject>Proposed RWD data-product boundaries and NSCLC worked example</dc:subject>
  <dc:creator>RWD Platform</dc:creator>
  <cp:lastModifiedBy>Onkar Kshirsagar</cp:lastModifiedBy>
  <cp:revision>6</cp:revision>
  <dcterms:created xsi:type="dcterms:W3CDTF">2026-09-07T15:09:21Z</dcterms:created>
  <dcterms:modified xsi:type="dcterms:W3CDTF">2026-09-07T20:45:56Z</dcterms:modified>
</cp:coreProperties>
</file>