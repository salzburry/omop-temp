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8"/>
    <p:sldId id="257" r:id="rId7"/>
    <p:sldId id="258" r:id="rId10"/>
    <p:sldId id="259" r:id="rId11"/>
    <p:sldId id="260" r:id="rId1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we already have components we can build on. This proposal connects them into one governed workflow, from an approved specification and qualified source data through to a reproducible dataset, selected analyses, TFLs and dashboards. The architecture is designed to extend across GSK therapeutic areas, but the five-month commitment is the first integrated release, demonstrated on two initial use cases confirmed in month 1. We reuse existing components, encode approved study requirements in contracts, and combine reviewed derivation libraries with controlled AI-generated extensions where needed. Success is not that AI writes every line; it is that users obtain scientifically checked, reproducible datasets and outputs, reuse accepted work, and operate the service with explicit release controls. Success is measured by scientific correctness, reuse, user effort and release evidence, not by whether every component has been coded.</a:t>
            </a:r>
          </a:p>
          <a:p/>
          <a:p>
            <a:r>
              <a:t>What exists today: the specification builder and a library of R analysis modules. In month 1 each is assessed for its available version, what it has demonstrated, and the qualification and integration work remaining, so that "exists" is not read as "qualified".</a:t>
            </a:r>
          </a:p>
          <a:p/>
          <a:p>
            <a:r>
              <a:t>The researcher portal and specification builder (F01), clinical definitions integration (F03) and source qualification and mapping (F04) are already built or being delivered elsewhere; this plan integrates them rather than rebuilding them. Variable mapping is specified in the functional contract (F02): each variable is classed as direct, derived, a mixture or a constant, with its source fields, rule or fixed value, so source work supplies where data lives and the contract defines what each variable means. The supporting slides give detailed plans for F02, F05, F06 and F07.</a:t>
            </a:r>
          </a:p>
          <a:p/>
          <a:p>
            <a:r>
              <a:t>How to read the plan: workstreams run in parallel, using clearly labelled test inputs until approved inputs are available. Acceptance gates control when approved inputs are used and when a release is promoted. Month 1: use cases, source coverage, runtime and methods agreed. Month 3: a first specification-to-dataset workflow is demonstrated on test inputs, so integration problems surface early rather than in the final month. Month 4: clinical definitions and source bindings are approved, so contracts become execution-ready. Readiness follows one progression throughout: implemented on test inputs, integrated candidate, independently qualified, accepted for controlled use. Month 5: a first-release decision for the two use cases, based on independent dataset and numerical checks and user acceptance.</a:t>
            </a:r>
          </a:p>
          <a:p/>
          <a:p>
            <a:r>
              <a:t>AI assistance: AI interprets, proposes and investigates. Deterministic software executes and checks. Authorized people approve scientific intent, material configuration changes and release decisions; routine execution follows those approved instructions.</a:t>
            </a:r>
          </a:p>
          <a:p/>
          <a:p>
            <a:r>
              <a:t>Complex treatment-sequence designs, such as lines of therapy in oncology or biologic switching in respiratory and immunology: supported rules are configured through reviewed parameters in the contract and executed by the engine. Rules outside the validated capability set need a reviewed extension and additional testing, with explicit test cases for overlaps, gaps, switches, combination changes and restarts.</a:t>
            </a:r>
          </a:p>
          <a:p/>
          <a:p>
            <a:r>
              <a:t>Dependencies and when they are needed: a supported R runtime on Databricks confirmed in month 1; upstream OMOP conversion for the pilot sources by month 3; clinical definitions for the pilot use cases by month 4; AI governance approval before AI assistance is used on data; hosting before any user-facing view. If an approved input is late, the month 5 decision is conditional on it.</a:t>
            </a:r>
          </a:p>
          <a:p/>
          <a:p>
            <a:r>
              <a:t>Decision requested from LT: confirm the two initial use cases and release scope, protected delivery and review capacity, and who will provide the source, runtime and clinical-definition dependencies.</a:t>
            </a:r>
          </a:p>
          <a:p/>
          <a:p>
            <a:r>
              <a:t>Resourcing: indicatively three to four engineers plus protected scientific, method and QC time, confirmed at the investment gate.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F02 Functional Contract Library runs across months 2 to 3. Contracts become definition-complete in Month 3 and execution-ready in Month 4, once required concept sets, source bindings and engine support are accepted.</a:t>
            </a:r>
          </a:p>
          <a:p/>
          <a:p>
            <a:r>
              <a:t>F02.1 Contract Standard &amp; Schema, early to mid month 2: Defines the required structure of every contract: population, index date, variables and their mapping type, endpoints and time windows.</a:t>
            </a:r>
          </a:p>
          <a:p/>
          <a:p>
            <a:r>
              <a:t>F02.2 Standard Variable Library, mid month 2 to early month 3: Master variable definitions with parameters, TA examples and citations; reviewers confirm each definition and default used.</a:t>
            </a:r>
          </a:p>
          <a:p/>
          <a:p>
            <a:r>
              <a:t>F02.3 Variable Mapping Specification, mid month 2 to mid month 3: Each variable gets a mapping type (direct, derived, mixture, constant) and a readiness status (supported, pending, unavailable).</a:t>
            </a:r>
          </a:p>
          <a:p/>
          <a:p>
            <a:r>
              <a:t>F02.4 Automated Specification Conversion, mid month 2 to early month 3: Supported specification fields convert automatically; ambiguities and unsupported rules are routed for review.</a:t>
            </a:r>
          </a:p>
          <a:p/>
          <a:p>
            <a:r>
              <a:t>F02.5 Specification Traceability, late month 2 to mid month 3: Links every contract element back to its specification line and protocol section for audit.</a:t>
            </a:r>
          </a:p>
          <a:p/>
          <a:p>
            <a:r>
              <a:t>F02.6 Contract Readiness Review, early to mid month 3: Four checks: structurally valid, scientifically reviewed, supported by available data, supported by the engine.</a:t>
            </a:r>
          </a:p>
          <a:p/>
          <a:p>
            <a:r>
              <a:t>F02.7 Change Control &amp; Decision Log, early to mid month 3: Records every contract version, who drafted and accepted each definition, and clinical rulings with rationale.</a:t>
            </a:r>
          </a:p>
          <a:p/>
          <a:p>
            <a:r>
              <a:t>F02.8 Pilot Contract Definitions, mid to late month 3: Definition-complete contracts for the initial use cases; every variable has a documented mapping disposition.</a:t>
            </a:r>
          </a:p>
          <a:p/>
          <a:p>
            <a:r>
              <a:t>Each variable records two separate attributes: its mapping type (how it is produced) and its readiness (supported, pending evidence or implementation, or unavailable). Required variables must be supported before execution; unavailable variables are never silently filled. The contract holds the variable mapping specification. Direct variables reference a source field; derived variables reference a contract rule that the engine (F05) executes; a mixture combines candidate source fields under an explicit selection or precedence rule; and constants are set in the contract. Source qualification (F04) supplies the available fields, so source work defines where data lives and the contract defines what each variable means. The contract refers to concept sets (F03) but does not contain them, and it holds no executable code. Defaults from the variable library are never inherited silently: the reviewer confirms the definition, its applicability and its parameter values.</a:t>
            </a:r>
          </a:p>
          <a:p/>
          <a:p>
            <a:r>
              <a:t>AI assistance here: recommends reusable variables per study; proposes mapping type and candidate source fields for review; proposes structured parameters from free-text rules; maps contract elements to protocol sections; flags gaps and inconsistencies for reviewers; summarizes changes for reviewers. AI interprets, proposes and investigates; deterministic software executes and checks; authorized people approve scientific intent, material configuration changes and releases.</a:t>
            </a:r>
          </a:p>
          <a:p/>
          <a:p>
            <a:r>
              <a:t>Acceptance gates: Standard approved (mid month 2); Conversion operational (early month 3); Pilot definitions complete (end of month 3).</a:t>
            </a:r>
          </a:p>
          <a:p/>
          <a:p>
            <a:r>
              <a:t>Depends on: Specification builder output (F01); Contract format decision (Month 1); Source fields from source qualification (F04); Concept sets (F03).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 Analysis Dataset Engine runs across months 3 to 5. For the agreed use cases: versioned datasets with explicit source support, tested derivation logic, reproducible execution and independent acceptance evidence.</a:t>
            </a:r>
          </a:p>
          <a:p/>
          <a:p>
            <a:r>
              <a:t>F05.1 Standard Dataset Design, early to mid month 3: Row meaning, keys and relationships for longitudinal, episode and study-level outputs, and the inputs each F06 package needs.</a:t>
            </a:r>
          </a:p>
          <a:p/>
          <a:p>
            <a:r>
              <a:t>F05.2 Reuse &amp; Gap Assessment, early to mid month 3: Pilot rule-coverage matrix (reuse, configure, adapt, new, excluded); source bindings and R module interfaces qualified.</a:t>
            </a:r>
          </a:p>
          <a:p/>
          <a:p>
            <a:r>
              <a:t>F05.3 Automated Build Planning, mid to late month 3: Resolves contract rules into versioned implementations and run order; blocks builds with missing parameters or unsupported inputs.</a:t>
            </a:r>
          </a:p>
          <a:p/>
          <a:p>
            <a:r>
              <a:t>F05.4 Cohort &amp; Endpoint Derivation, mid month 3 to mid month 4: Eligibility, index, window, record-selection and censoring rules, checked against independently specified cases.</a:t>
            </a:r>
          </a:p>
          <a:p/>
          <a:p>
            <a:r>
              <a:t>F05.5 Treatment Pathway Derivation, late month 3 to late month 4: The agreed overlap, gap, combination, switch and restart rules, with patient timelines verified.</a:t>
            </a:r>
          </a:p>
          <a:p/>
          <a:p>
            <a:r>
              <a:t>F05.6 New Rule Development, late month 3 to early month 5: Missing rules built against approved requirements and made selectable in the contract; library reuse decided separately.</a:t>
            </a:r>
          </a:p>
          <a:p/>
          <a:p>
            <a:r>
              <a:t>F05.7 Dataset Build &amp; Assembly, early month 4 to mid month 5: Runs the accepted build plan, assembles study datasets and stops partial or stale results being treated as complete.</a:t>
            </a:r>
          </a:p>
          <a:p/>
          <a:p>
            <a:r>
              <a:t>F05.8 Independent QC &amp; Traceability, early month 3 to mid month 5: Material derivations traced to source records; reference cases and whole-delivery integrity reconciled.</a:t>
            </a:r>
          </a:p>
          <a:p/>
          <a:p>
            <a:r>
              <a:t>F05.9 Dataset Release &amp; Reuse, late month 4 to late month 5: The exact build accepted; two studies shown reusing one longitudinal product, with study-specific steps verified.</a:t>
            </a:r>
          </a:p>
          <a:p/>
          <a:p>
            <a:r>
              <a:t>Configuration is how users control the build; it is not where the implementation complexity disappears. This workstream establishes the supported data structures, implements and qualifies the clinical derivations, connects existing modules to the selected sources, and verifies the complete patient-level outputs. Existing components are mapped to these work packages and reused where the evidence supports it. Design first: every output has an explicit row meaning, keys and relationships, because attrition, treatment patterns, time-to-event analysis and incidence each need different inputs; the pilot rule-coverage matrix records, for each required rule, the existing implementation, supported parameters, source prerequisites, tests and remaining work, and that matrix is what justifies the timeline. Two kinds of adapter: a source adapter translates a delivered source into the engine’s inputs, and a module interface connects an existing R module to them. Modules that derive study variables run here; modules that estimate quantities belong to the analysis packages (F06). Existing modules are reused through qualified interfaces where the source supports their required structure and meaning; unsupported source and module combinations stay blocked or need a reviewed extension. A native-source route is used only if an initial use case needs it, with source mapping handed over explicitly from F04. A rule may fail to execute for three reasons: an incomplete scientific instruction goes back to definition review, a missing source fact is resolved or taken out of scope, and only a clear rule without an implementation is built as a controlled extension, with its schema and tests updated so the contract can select it. Reuse means three different things: reusable code, reusable longitudinal data and reusable derived variables. Underlying events can be shared while study-specific selections, such as a baseline value over a different window, are derived again, and a treatment sequence is reused only when its construction rules and source version match. Acceptance has four levels: rule correctness against independent cases, whole-delivery integrity, execution and reproducibility at the intended scale, and release and change control tied to the exact dataset, code, configuration and source version. We reuse code and longitudinal data where the definitions genuinely match; where a requirement is unsupported, the system exposes the gap and follows a reviewed implementation path rather than silently producing a plausible dataset.</a:t>
            </a:r>
          </a:p>
          <a:p/>
          <a:p>
            <a:r>
              <a:t>AI assistance here: explains sequence assignments for reviewers; drafts candidate code for missing rules; investigates discrepancies for reviewers. AI interprets, proposes and investigates; deterministic software executes and checks; authorized people approve scientific intent, material configuration changes and releases.</a:t>
            </a:r>
          </a:p>
          <a:p/>
          <a:p>
            <a:r>
              <a:t>Acceptance gates: First bounded build (late month 3); Reuse demonstrated (late month 4); Pilot datasets accepted (end of month 5).</a:t>
            </a:r>
          </a:p>
          <a:p/>
          <a:p>
            <a:r>
              <a:t>Depends on: Execution-ready contracts (F02); Source fields and readiness (F04); Package input needs (F06); Databricks environment; Independent reviewers.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F06 Reusable Study Analysis Packages runs across months 4 to 5. Supported analyses run on datasets that meet each package’s required structure, variable definitions and assumptions, with diagnostics and reference results.</a:t>
            </a:r>
          </a:p>
          <a:p/>
          <a:p>
            <a:r>
              <a:t>F06.1 Cohort Attrition &amp; Baseline Characteristics, early to mid month 4: Automated attrition flow and baseline characteristics table by cohort, with standardized differences.</a:t>
            </a:r>
          </a:p>
          <a:p/>
          <a:p>
            <a:r>
              <a:t>F06.2 Standard Plot Library, early to mid month 4: Ready-made plots: attrition diagrams, Kaplan–Meier curves, treatment flow (Sankey) charts, forest plots and distributions.</a:t>
            </a:r>
          </a:p>
          <a:p/>
          <a:p>
            <a:r>
              <a:t>F06.3 Treatment Patterns &amp; Drug Utilization, month 4: Treatment sequences, switching, persistence, time to discontinuation and adherence as proportion of days covered.</a:t>
            </a:r>
          </a:p>
          <a:p/>
          <a:p>
            <a:r>
              <a:t>F06.4 Clinical Outcomes &amp; Time-to-Event, mid month 4 to early month 5: Kaplan–Meier with medians and confidence intervals, Cox models, time to next treatment and event rates, with diagnostics.</a:t>
            </a:r>
          </a:p>
          <a:p/>
          <a:p>
            <a:r>
              <a:t>F06.5 Healthcare Resource Use &amp; Costs, mid month 4 to mid month 5: Visits, hospitalizations and procedures per patient-year; costs only where the source cost basis supports them.</a:t>
            </a:r>
          </a:p>
          <a:p/>
          <a:p>
            <a:r>
              <a:t>F06.6 Incidence &amp; Prevalence, mid month 4 to mid month 5: Incidence rates and point/period prevalence, with explicit denominator populations, observation rules and CIs.</a:t>
            </a:r>
          </a:p>
          <a:p/>
          <a:p>
            <a:r>
              <a:t>F06.7 Study Templates &amp; Qualification Records, early to mid month 5: Pre-configured packages with inputs, assumptions and diagnostics, each qualified against independent reference results.</a:t>
            </a:r>
          </a:p>
          <a:p/>
          <a:p>
            <a:r>
              <a:t>The packages analyse datasets; they do not derive variables (F05) or format final outputs (F07). Selected open-source packages, such as TreatmentPatterns and DrugUtilisation, are integrated through defined input adapters, with pinned versions qualified for their intended use against independent references. Treatment sequences are derived once, in the engine (F05), and analysed here; an adapter test confirms this layer does not reconstruct a different treatment history. Dataset structures and module interfaces are defined in F05. Modules that estimate quantities from defined study inputs belong here; modules that derive study variables run in F05, so the same logic is not implemented twice. Packages are classed as required for the initial use cases, included if source prerequisites are met, or later extensions. Propensity-score matching and weighting are out of scope for the first release. The plots here are for exploring results; publication-ready figures are packaged in F07.</a:t>
            </a:r>
          </a:p>
          <a:p/>
          <a:p>
            <a:r>
              <a:t>AI assistance here: drafts the analysis configuration for review; suggests the plot type for each result; drafts pathway configuration for review; drafts model configuration; reviewed modules estimate; recommends a template from the protocol. AI interprets, proposes and investigates; deterministic software executes and checks; authorized people approve scientific intent, material configuration changes and releases.</a:t>
            </a:r>
          </a:p>
          <a:p/>
          <a:p>
            <a:r>
              <a:t>Acceptance gates: Core analyses available (end of month 4); Outcomes ready for qualification (mid month 5); Packages qualified (end of month 5).</a:t>
            </a:r>
          </a:p>
          <a:p/>
          <a:p>
            <a:r>
              <a:t>Depends on: Analysis datasets (F05); Existing R module library; Supported R runtime on Databricks (confirmation due Month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F07 Evidence Outputs: TFLs &amp; Insight Views runs across months 4 to 5. Every study gets a traceable reporting package, and feasibility and data-quality views show their denominators and data-cut versions.</a:t>
            </a:r>
          </a:p>
          <a:p/>
          <a:p>
            <a:r>
              <a:t>F07.1 Versioned Results Store, early to mid month 4: Versioned analysis results supply study TFLs; versioned source and cohort metrics supply feasibility and quality views.</a:t>
            </a:r>
          </a:p>
          <a:p/>
          <a:p>
            <a:r>
              <a:t>F07.2 Population Explorer &amp; Attrition Funnel, mid month 4 to early month 5: Source suitability and study feasibility: populations, coverage and attrition under agreed candidate rules, with denominators.</a:t>
            </a:r>
          </a:p>
          <a:p/>
          <a:p>
            <a:r>
              <a:t>F07.3 One-Click Report Generation, mid month 4 to mid month 5: Generates the agreed TFL package from a selected results version, using approved templates and GSK conventions.</a:t>
            </a:r>
          </a:p>
          <a:p/>
          <a:p>
            <a:r>
              <a:t>F07.4 Completeness Dashboard, late month 4 to mid month 5: Completeness, plausibility and conformance of derived variables, by source and data cut.</a:t>
            </a:r>
          </a:p>
          <a:p/>
          <a:p>
            <a:r>
              <a:t>F07.5 Results Review &amp; Reconciliation Workspace, late month 4 to mid month 5: Deterministic checks of values, denominators, labels, rounding and versions; reviewers approve or return each output.</a:t>
            </a:r>
          </a:p>
          <a:p/>
          <a:p>
            <a:r>
              <a:t>F07.6 Narrative, Summary Slides &amp; Release, mid to late month 5: Statistician-reviewed narrative and summary slides; versioned release, with re-approval if inputs change.</a:t>
            </a:r>
          </a:p>
          <a:p/>
          <a:p>
            <a:r>
              <a:t>Evidence outputs present results and governed views; they do not run analyses (F06) or derive data (F05). Reporting draws on versioned analysis results, while feasibility and quality views draw on the qualified source, candidate cohorts or study dataset as appropriate, and access controls apply before any live-data view is shown. Numerical reconciliation is a deterministic software check, not an AI task, and covers titles, numbering, units, rounding and footnotes as well as values. Changing a dataset, analysis configuration or result version invalidates the affected output approvals. Output formats are confirmed for the initial use cases rather than assumed. Safety outputs are a later extension unless an agreed safety module is added to F06.</a:t>
            </a:r>
          </a:p>
          <a:p/>
          <a:p>
            <a:r>
              <a:t>AI assistance here: summarizes suitability and feasibility findings; drafts study-specific shells for review; flags data-quality anomalies for review; flags suspicious patterns for review; drafts narratives and summary slides for review. AI interprets, proposes and investigates; deterministic software executes and checks; authorized people approve scientific intent, material configuration changes and releases.</a:t>
            </a:r>
          </a:p>
          <a:p/>
          <a:p>
            <a:r>
              <a:t>Acceptance gates: Results &amp; explorer on test inputs (late month 4); Reporting ready for qualification (mid month 5); Pilot outputs accepted (end of month 5).</a:t>
            </a:r>
          </a:p>
          <a:p/>
          <a:p>
            <a:r>
              <a:t>Depends on: Versioned analysis results (F06); Analysis datasets (F05); Qualified sources (F04); Hosting environment; Data licence terms.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38912" y="365760"/>
            <a:ext cx="12801600" cy="210312"/>
          </a:xfrm>
          <a:prstGeom prst="rect">
            <a:avLst/>
          </a:prstGeom>
          <a:noFill/>
        </p:spPr>
        <p:txBody>
          <a:bodyPr wrap="square" lIns="0" rIns="0" tIns="0" bIns="0" anchor="t">
            <a:spAutoFit/>
          </a:bodyPr>
          <a:lstStyle/>
          <a:p>
            <a:pPr algn="l"/>
            <a:r>
              <a:rPr sz="1150" b="1" i="0">
                <a:solidFill>
                  <a:srgbClr val="2B3A8F"/>
                </a:solidFill>
                <a:latin typeface="Aptos"/>
              </a:rPr>
              <a:t>RWDPLATFORM  /  GOVERNED ANALYTICS DELIVERY</a:t>
            </a:r>
          </a:p>
        </p:txBody>
      </p:sp>
      <p:sp>
        <p:nvSpPr>
          <p:cNvPr id="4" name="TextBox 3"/>
          <p:cNvSpPr txBox="1"/>
          <p:nvPr/>
        </p:nvSpPr>
        <p:spPr>
          <a:xfrm>
            <a:off x="438912" y="694944"/>
            <a:ext cx="14904720" cy="438912"/>
          </a:xfrm>
          <a:prstGeom prst="rect">
            <a:avLst/>
          </a:prstGeom>
          <a:noFill/>
        </p:spPr>
        <p:txBody>
          <a:bodyPr wrap="square" lIns="0" rIns="0" tIns="0" bIns="0" anchor="ctr">
            <a:spAutoFit/>
          </a:bodyPr>
          <a:lstStyle/>
          <a:p>
            <a:pPr algn="l"/>
            <a:r>
              <a:rPr sz="2980" b="1" i="0">
                <a:solidFill>
                  <a:srgbClr val="2B3A8F"/>
                </a:solidFill>
                <a:latin typeface="Aptos"/>
              </a:rPr>
              <a:t>Product | Implement the full RWD analytics workflow</a:t>
            </a:r>
          </a:p>
        </p:txBody>
      </p:sp>
      <p:sp>
        <p:nvSpPr>
          <p:cNvPr id="5" name="Rectangle 4"/>
          <p:cNvSpPr/>
          <p:nvPr/>
        </p:nvSpPr>
        <p:spPr>
          <a:xfrm>
            <a:off x="15563088" y="621792"/>
            <a:ext cx="2276856" cy="457200"/>
          </a:xfrm>
          <a:prstGeom prst="rect">
            <a:avLst/>
          </a:prstGeom>
          <a:solidFill>
            <a:srgbClr val="ECECF6"/>
          </a:solidFill>
          <a:ln>
            <a:noFill/>
          </a:ln>
        </p:spPr>
        <p:txBody>
          <a:bodyPr rtlCol="0" anchor="ctr"/>
          <a:lstStyle/>
          <a:p>
            <a:pPr algn="ctr"/>
          </a:p>
        </p:txBody>
      </p:sp>
      <p:sp>
        <p:nvSpPr>
          <p:cNvPr id="6" name="TextBox 5"/>
          <p:cNvSpPr txBox="1"/>
          <p:nvPr/>
        </p:nvSpPr>
        <p:spPr>
          <a:xfrm>
            <a:off x="15563088" y="621792"/>
            <a:ext cx="2276856" cy="457200"/>
          </a:xfrm>
          <a:prstGeom prst="rect">
            <a:avLst/>
          </a:prstGeom>
          <a:noFill/>
        </p:spPr>
        <p:txBody>
          <a:bodyPr wrap="square" lIns="0" rIns="0" tIns="0" bIns="0" anchor="ctr">
            <a:spAutoFit/>
          </a:bodyPr>
          <a:lstStyle/>
          <a:p>
            <a:pPr algn="ctr"/>
            <a:r>
              <a:rPr sz="1200" b="1" i="0">
                <a:solidFill>
                  <a:srgbClr val="171717"/>
                </a:solidFill>
                <a:latin typeface="Aptos"/>
              </a:rPr>
              <a:t>First release · Months 1–5</a:t>
            </a:r>
          </a:p>
        </p:txBody>
      </p:sp>
      <p:sp>
        <p:nvSpPr>
          <p:cNvPr id="7" name="TextBox 6"/>
          <p:cNvSpPr txBox="1"/>
          <p:nvPr/>
        </p:nvSpPr>
        <p:spPr>
          <a:xfrm>
            <a:off x="438912" y="1170432"/>
            <a:ext cx="17373600" cy="246888"/>
          </a:xfrm>
          <a:prstGeom prst="rect">
            <a:avLst/>
          </a:prstGeom>
          <a:noFill/>
        </p:spPr>
        <p:txBody>
          <a:bodyPr wrap="square" lIns="0" rIns="0" tIns="0" bIns="0" anchor="t">
            <a:spAutoFit/>
          </a:bodyPr>
          <a:lstStyle/>
          <a:p>
            <a:pPr algn="l"/>
            <a:r>
              <a:rPr sz="1400" b="0" i="0">
                <a:solidFill>
                  <a:srgbClr val="595959"/>
                </a:solidFill>
                <a:latin typeface="Aptos"/>
              </a:rPr>
              <a:t>Vision: a governed, reusable workflow for RWD data products and study analytics across GSK therapeutic areas.</a:t>
            </a:r>
          </a:p>
        </p:txBody>
      </p:sp>
      <p:sp>
        <p:nvSpPr>
          <p:cNvPr id="8" name="Rectangle 7"/>
          <p:cNvSpPr/>
          <p:nvPr/>
        </p:nvSpPr>
        <p:spPr>
          <a:xfrm>
            <a:off x="438912" y="1481328"/>
            <a:ext cx="17410176" cy="274320"/>
          </a:xfrm>
          <a:prstGeom prst="rect">
            <a:avLst/>
          </a:prstGeom>
          <a:solidFill>
            <a:srgbClr val="ECECF6"/>
          </a:solidFill>
          <a:ln>
            <a:noFill/>
          </a:ln>
        </p:spPr>
        <p:txBody>
          <a:bodyPr rtlCol="0" anchor="ctr"/>
          <a:lstStyle/>
          <a:p>
            <a:pPr algn="ctr"/>
          </a:p>
        </p:txBody>
      </p:sp>
      <p:sp>
        <p:nvSpPr>
          <p:cNvPr id="9" name="TextBox 8"/>
          <p:cNvSpPr txBox="1"/>
          <p:nvPr/>
        </p:nvSpPr>
        <p:spPr>
          <a:xfrm>
            <a:off x="566928" y="1481328"/>
            <a:ext cx="1554480" cy="274320"/>
          </a:xfrm>
          <a:prstGeom prst="rect">
            <a:avLst/>
          </a:prstGeom>
          <a:noFill/>
        </p:spPr>
        <p:txBody>
          <a:bodyPr wrap="square" lIns="0" rIns="0" tIns="0" bIns="0" anchor="ctr">
            <a:spAutoFit/>
          </a:bodyPr>
          <a:lstStyle/>
          <a:p>
            <a:pPr algn="l"/>
            <a:r>
              <a:rPr sz="1100" b="1" i="0">
                <a:solidFill>
                  <a:srgbClr val="2B3A8F"/>
                </a:solidFill>
                <a:latin typeface="Aptos"/>
              </a:rPr>
              <a:t>FIRST RELEASE</a:t>
            </a:r>
          </a:p>
        </p:txBody>
      </p:sp>
      <p:sp>
        <p:nvSpPr>
          <p:cNvPr id="10" name="TextBox 9"/>
          <p:cNvSpPr txBox="1"/>
          <p:nvPr/>
        </p:nvSpPr>
        <p:spPr>
          <a:xfrm>
            <a:off x="2148840" y="1481328"/>
            <a:ext cx="15544800" cy="274320"/>
          </a:xfrm>
          <a:prstGeom prst="rect">
            <a:avLst/>
          </a:prstGeom>
          <a:noFill/>
        </p:spPr>
        <p:txBody>
          <a:bodyPr wrap="square" lIns="0" rIns="0" tIns="0" bIns="0" anchor="ctr">
            <a:spAutoFit/>
          </a:bodyPr>
          <a:lstStyle/>
          <a:p>
            <a:pPr algn="l"/>
            <a:r>
              <a:rPr sz="1150" b="1" i="0">
                <a:solidFill>
                  <a:srgbClr val="171717"/>
                </a:solidFill>
                <a:latin typeface="Aptos"/>
              </a:rPr>
              <a:t>Two initial use cases (confirmed in Month 1), from approved specification and qualified source data to reproducible datasets, analyses, reconciled TFLs and dashboards.</a:t>
            </a:r>
          </a:p>
        </p:txBody>
      </p:sp>
      <p:sp>
        <p:nvSpPr>
          <p:cNvPr id="11" name="Rectangle 10"/>
          <p:cNvSpPr/>
          <p:nvPr/>
        </p:nvSpPr>
        <p:spPr>
          <a:xfrm>
            <a:off x="438912" y="1801368"/>
            <a:ext cx="17410176" cy="274320"/>
          </a:xfrm>
          <a:prstGeom prst="rect">
            <a:avLst/>
          </a:prstGeom>
          <a:solidFill>
            <a:srgbClr val="F6F6F6"/>
          </a:solidFill>
          <a:ln>
            <a:noFill/>
          </a:ln>
        </p:spPr>
        <p:txBody>
          <a:bodyPr rtlCol="0" anchor="ctr"/>
          <a:lstStyle/>
          <a:p>
            <a:pPr algn="ctr"/>
          </a:p>
        </p:txBody>
      </p:sp>
      <p:sp>
        <p:nvSpPr>
          <p:cNvPr id="12" name="TextBox 11"/>
          <p:cNvSpPr txBox="1"/>
          <p:nvPr/>
        </p:nvSpPr>
        <p:spPr>
          <a:xfrm>
            <a:off x="566928" y="1801368"/>
            <a:ext cx="1554480" cy="274320"/>
          </a:xfrm>
          <a:prstGeom prst="rect">
            <a:avLst/>
          </a:prstGeom>
          <a:noFill/>
        </p:spPr>
        <p:txBody>
          <a:bodyPr wrap="square" lIns="0" rIns="0" tIns="0" bIns="0" anchor="ctr">
            <a:spAutoFit/>
          </a:bodyPr>
          <a:lstStyle/>
          <a:p>
            <a:pPr algn="l"/>
            <a:r>
              <a:rPr sz="1100" b="1" i="0">
                <a:solidFill>
                  <a:srgbClr val="2B3A8F"/>
                </a:solidFill>
                <a:latin typeface="Aptos"/>
              </a:rPr>
              <a:t>STARTING POINT</a:t>
            </a:r>
          </a:p>
        </p:txBody>
      </p:sp>
      <p:sp>
        <p:nvSpPr>
          <p:cNvPr id="13" name="TextBox 12"/>
          <p:cNvSpPr txBox="1"/>
          <p:nvPr/>
        </p:nvSpPr>
        <p:spPr>
          <a:xfrm>
            <a:off x="2148840" y="1801368"/>
            <a:ext cx="15544800" cy="274320"/>
          </a:xfrm>
          <a:prstGeom prst="rect">
            <a:avLst/>
          </a:prstGeom>
          <a:noFill/>
        </p:spPr>
        <p:txBody>
          <a:bodyPr wrap="square" lIns="0" rIns="0" tIns="0" bIns="0" anchor="ctr">
            <a:spAutoFit/>
          </a:bodyPr>
          <a:lstStyle/>
          <a:p>
            <a:pPr algn="l"/>
            <a:r>
              <a:rPr sz="1150" b="1" i="0">
                <a:solidFill>
                  <a:srgbClr val="171717"/>
                </a:solidFill>
                <a:latin typeface="Aptos"/>
              </a:rPr>
              <a:t>Existing specification-builder and R-module components are assessed, reused and integrated; release readiness is shown through the gates.</a:t>
            </a:r>
          </a:p>
        </p:txBody>
      </p:sp>
      <p:sp>
        <p:nvSpPr>
          <p:cNvPr id="14" name="Rectangle 13"/>
          <p:cNvSpPr/>
          <p:nvPr/>
        </p:nvSpPr>
        <p:spPr>
          <a:xfrm>
            <a:off x="438912" y="2121408"/>
            <a:ext cx="17410176" cy="274320"/>
          </a:xfrm>
          <a:prstGeom prst="rect">
            <a:avLst/>
          </a:prstGeom>
          <a:solidFill>
            <a:srgbClr val="F6F6F6"/>
          </a:solidFill>
          <a:ln>
            <a:noFill/>
          </a:ln>
        </p:spPr>
        <p:txBody>
          <a:bodyPr rtlCol="0" anchor="ctr"/>
          <a:lstStyle/>
          <a:p>
            <a:pPr algn="ctr"/>
          </a:p>
        </p:txBody>
      </p:sp>
      <p:sp>
        <p:nvSpPr>
          <p:cNvPr id="15" name="TextBox 14"/>
          <p:cNvSpPr txBox="1"/>
          <p:nvPr/>
        </p:nvSpPr>
        <p:spPr>
          <a:xfrm>
            <a:off x="566928" y="2121408"/>
            <a:ext cx="1554480" cy="274320"/>
          </a:xfrm>
          <a:prstGeom prst="rect">
            <a:avLst/>
          </a:prstGeom>
          <a:noFill/>
        </p:spPr>
        <p:txBody>
          <a:bodyPr wrap="square" lIns="0" rIns="0" tIns="0" bIns="0" anchor="ctr">
            <a:spAutoFit/>
          </a:bodyPr>
          <a:lstStyle/>
          <a:p>
            <a:pPr algn="l"/>
            <a:r>
              <a:rPr sz="1100" b="1" i="0">
                <a:solidFill>
                  <a:srgbClr val="2B3A8F"/>
                </a:solidFill>
                <a:latin typeface="Aptos"/>
              </a:rPr>
              <a:t>DEPENDS ON</a:t>
            </a:r>
          </a:p>
        </p:txBody>
      </p:sp>
      <p:sp>
        <p:nvSpPr>
          <p:cNvPr id="16" name="TextBox 15"/>
          <p:cNvSpPr txBox="1"/>
          <p:nvPr/>
        </p:nvSpPr>
        <p:spPr>
          <a:xfrm>
            <a:off x="2148840" y="2121408"/>
            <a:ext cx="15544800" cy="274320"/>
          </a:xfrm>
          <a:prstGeom prst="rect">
            <a:avLst/>
          </a:prstGeom>
          <a:noFill/>
        </p:spPr>
        <p:txBody>
          <a:bodyPr wrap="square" lIns="0" rIns="0" tIns="0" bIns="0" anchor="ctr">
            <a:spAutoFit/>
          </a:bodyPr>
          <a:lstStyle/>
          <a:p>
            <a:pPr algn="l"/>
            <a:r>
              <a:rPr sz="1150" b="1" i="0">
                <a:solidFill>
                  <a:srgbClr val="171717"/>
                </a:solidFill>
                <a:latin typeface="Aptos"/>
              </a:rPr>
              <a:t>Upstream OMOP conversion  ·  Clinical definitions layer  ·  Supported R runtime on Databricks (confirmation due M1)  ·  AI governance approval  ·  Hosting  ·  TA experts</a:t>
            </a:r>
          </a:p>
        </p:txBody>
      </p:sp>
      <p:sp>
        <p:nvSpPr>
          <p:cNvPr id="17" name="TextBox 16"/>
          <p:cNvSpPr txBox="1"/>
          <p:nvPr/>
        </p:nvSpPr>
        <p:spPr>
          <a:xfrm>
            <a:off x="521207" y="2660904"/>
            <a:ext cx="5029200" cy="182880"/>
          </a:xfrm>
          <a:prstGeom prst="rect">
            <a:avLst/>
          </a:prstGeom>
          <a:noFill/>
        </p:spPr>
        <p:txBody>
          <a:bodyPr wrap="square" lIns="0" rIns="0" tIns="0" bIns="0" anchor="t">
            <a:spAutoFit/>
          </a:bodyPr>
          <a:lstStyle/>
          <a:p>
            <a:pPr algn="l"/>
            <a:r>
              <a:rPr sz="1160" b="1" i="0">
                <a:solidFill>
                  <a:srgbClr val="2B3A8F"/>
                </a:solidFill>
                <a:latin typeface="Aptos"/>
              </a:rPr>
              <a:t>DELIVERABLE</a:t>
            </a:r>
          </a:p>
        </p:txBody>
      </p:sp>
      <p:sp>
        <p:nvSpPr>
          <p:cNvPr id="18" name="TextBox 17"/>
          <p:cNvSpPr txBox="1"/>
          <p:nvPr/>
        </p:nvSpPr>
        <p:spPr>
          <a:xfrm>
            <a:off x="5870448" y="2660904"/>
            <a:ext cx="2194560" cy="182880"/>
          </a:xfrm>
          <a:prstGeom prst="rect">
            <a:avLst/>
          </a:prstGeom>
          <a:noFill/>
        </p:spPr>
        <p:txBody>
          <a:bodyPr wrap="square" lIns="0" rIns="0" tIns="0" bIns="0" anchor="t">
            <a:spAutoFit/>
          </a:bodyPr>
          <a:lstStyle/>
          <a:p>
            <a:pPr algn="l"/>
            <a:r>
              <a:rPr sz="1000" b="1" i="0">
                <a:solidFill>
                  <a:srgbClr val="2B3A8F"/>
                </a:solidFill>
                <a:latin typeface="Aptos"/>
              </a:rPr>
              <a:t>AI ASSISTANCE</a:t>
            </a:r>
          </a:p>
        </p:txBody>
      </p:sp>
      <p:sp>
        <p:nvSpPr>
          <p:cNvPr id="19" name="Rectangle 18"/>
          <p:cNvSpPr/>
          <p:nvPr/>
        </p:nvSpPr>
        <p:spPr>
          <a:xfrm>
            <a:off x="8113471" y="2606040"/>
            <a:ext cx="1922068" cy="214884"/>
          </a:xfrm>
          <a:prstGeom prst="rect">
            <a:avLst/>
          </a:prstGeom>
          <a:solidFill>
            <a:srgbClr val="F1F1F1"/>
          </a:solidFill>
          <a:ln>
            <a:noFill/>
          </a:ln>
        </p:spPr>
        <p:txBody>
          <a:bodyPr rtlCol="0" anchor="ctr"/>
          <a:lstStyle/>
          <a:p>
            <a:pPr algn="ctr"/>
          </a:p>
        </p:txBody>
      </p:sp>
      <p:sp>
        <p:nvSpPr>
          <p:cNvPr id="20" name="TextBox 19"/>
          <p:cNvSpPr txBox="1"/>
          <p:nvPr/>
        </p:nvSpPr>
        <p:spPr>
          <a:xfrm>
            <a:off x="8113471" y="2606040"/>
            <a:ext cx="1922068" cy="214884"/>
          </a:xfrm>
          <a:prstGeom prst="rect">
            <a:avLst/>
          </a:prstGeom>
          <a:noFill/>
        </p:spPr>
        <p:txBody>
          <a:bodyPr wrap="square" lIns="0" rIns="0" tIns="0" bIns="0" anchor="ctr">
            <a:spAutoFit/>
          </a:bodyPr>
          <a:lstStyle/>
          <a:p>
            <a:pPr algn="ctr"/>
            <a:r>
              <a:rPr sz="1040" b="1" i="0">
                <a:solidFill>
                  <a:srgbClr val="2B2B2B"/>
                </a:solidFill>
                <a:latin typeface="Aptos"/>
              </a:rPr>
              <a:t>PLAN</a:t>
            </a:r>
          </a:p>
        </p:txBody>
      </p:sp>
      <p:sp>
        <p:nvSpPr>
          <p:cNvPr id="21" name="Rectangle 20"/>
          <p:cNvSpPr/>
          <p:nvPr/>
        </p:nvSpPr>
        <p:spPr>
          <a:xfrm>
            <a:off x="10059314" y="2606040"/>
            <a:ext cx="3867912" cy="214884"/>
          </a:xfrm>
          <a:prstGeom prst="rect">
            <a:avLst/>
          </a:prstGeom>
          <a:solidFill>
            <a:srgbClr val="F1F1F1"/>
          </a:solidFill>
          <a:ln>
            <a:noFill/>
          </a:ln>
        </p:spPr>
        <p:txBody>
          <a:bodyPr rtlCol="0" anchor="ctr"/>
          <a:lstStyle/>
          <a:p>
            <a:pPr algn="ctr"/>
          </a:p>
        </p:txBody>
      </p:sp>
      <p:sp>
        <p:nvSpPr>
          <p:cNvPr id="22" name="TextBox 21"/>
          <p:cNvSpPr txBox="1"/>
          <p:nvPr/>
        </p:nvSpPr>
        <p:spPr>
          <a:xfrm>
            <a:off x="10059314" y="2606040"/>
            <a:ext cx="3867912" cy="214884"/>
          </a:xfrm>
          <a:prstGeom prst="rect">
            <a:avLst/>
          </a:prstGeom>
          <a:noFill/>
        </p:spPr>
        <p:txBody>
          <a:bodyPr wrap="square" lIns="0" rIns="0" tIns="0" bIns="0" anchor="ctr">
            <a:spAutoFit/>
          </a:bodyPr>
          <a:lstStyle/>
          <a:p>
            <a:pPr algn="ctr"/>
            <a:r>
              <a:rPr sz="1040" b="1" i="0">
                <a:solidFill>
                  <a:srgbClr val="2B2B2B"/>
                </a:solidFill>
                <a:latin typeface="Aptos"/>
              </a:rPr>
              <a:t>FOUNDATIONS</a:t>
            </a:r>
          </a:p>
        </p:txBody>
      </p:sp>
      <p:sp>
        <p:nvSpPr>
          <p:cNvPr id="23" name="Rectangle 22"/>
          <p:cNvSpPr/>
          <p:nvPr/>
        </p:nvSpPr>
        <p:spPr>
          <a:xfrm>
            <a:off x="13951000" y="2606040"/>
            <a:ext cx="3867912" cy="214884"/>
          </a:xfrm>
          <a:prstGeom prst="rect">
            <a:avLst/>
          </a:prstGeom>
          <a:solidFill>
            <a:srgbClr val="F1F1F1"/>
          </a:solidFill>
          <a:ln>
            <a:noFill/>
          </a:ln>
        </p:spPr>
        <p:txBody>
          <a:bodyPr rtlCol="0" anchor="ctr"/>
          <a:lstStyle/>
          <a:p>
            <a:pPr algn="ctr"/>
          </a:p>
        </p:txBody>
      </p:sp>
      <p:sp>
        <p:nvSpPr>
          <p:cNvPr id="24" name="TextBox 23"/>
          <p:cNvSpPr txBox="1"/>
          <p:nvPr/>
        </p:nvSpPr>
        <p:spPr>
          <a:xfrm>
            <a:off x="13951000" y="2606040"/>
            <a:ext cx="3867912" cy="214884"/>
          </a:xfrm>
          <a:prstGeom prst="rect">
            <a:avLst/>
          </a:prstGeom>
          <a:noFill/>
        </p:spPr>
        <p:txBody>
          <a:bodyPr wrap="square" lIns="0" rIns="0" tIns="0" bIns="0" anchor="ctr">
            <a:spAutoFit/>
          </a:bodyPr>
          <a:lstStyle/>
          <a:p>
            <a:pPr algn="ctr"/>
            <a:r>
              <a:rPr sz="1040" b="1" i="0">
                <a:solidFill>
                  <a:srgbClr val="2B2B2B"/>
                </a:solidFill>
                <a:latin typeface="Aptos"/>
              </a:rPr>
              <a:t>BUILD + INTEGRATE</a:t>
            </a:r>
          </a:p>
        </p:txBody>
      </p:sp>
      <p:sp>
        <p:nvSpPr>
          <p:cNvPr id="25" name="TextBox 24"/>
          <p:cNvSpPr txBox="1"/>
          <p:nvPr/>
        </p:nvSpPr>
        <p:spPr>
          <a:xfrm>
            <a:off x="8101583" y="2862072"/>
            <a:ext cx="1945843" cy="182880"/>
          </a:xfrm>
          <a:prstGeom prst="rect">
            <a:avLst/>
          </a:prstGeom>
          <a:noFill/>
        </p:spPr>
        <p:txBody>
          <a:bodyPr wrap="square" lIns="0" rIns="0" tIns="0" bIns="0" anchor="t">
            <a:spAutoFit/>
          </a:bodyPr>
          <a:lstStyle/>
          <a:p>
            <a:pPr algn="ctr"/>
            <a:r>
              <a:rPr sz="1150" b="1" i="0">
                <a:solidFill>
                  <a:srgbClr val="171717"/>
                </a:solidFill>
                <a:latin typeface="Aptos"/>
              </a:rPr>
              <a:t>Month 1</a:t>
            </a:r>
          </a:p>
        </p:txBody>
      </p:sp>
      <p:sp>
        <p:nvSpPr>
          <p:cNvPr id="26" name="TextBox 25"/>
          <p:cNvSpPr txBox="1"/>
          <p:nvPr/>
        </p:nvSpPr>
        <p:spPr>
          <a:xfrm>
            <a:off x="10047427" y="2862072"/>
            <a:ext cx="1945843" cy="182880"/>
          </a:xfrm>
          <a:prstGeom prst="rect">
            <a:avLst/>
          </a:prstGeom>
          <a:noFill/>
        </p:spPr>
        <p:txBody>
          <a:bodyPr wrap="square" lIns="0" rIns="0" tIns="0" bIns="0" anchor="t">
            <a:spAutoFit/>
          </a:bodyPr>
          <a:lstStyle/>
          <a:p>
            <a:pPr algn="ctr"/>
            <a:r>
              <a:rPr sz="1150" b="1" i="0">
                <a:solidFill>
                  <a:srgbClr val="171717"/>
                </a:solidFill>
                <a:latin typeface="Aptos"/>
              </a:rPr>
              <a:t>Month 2</a:t>
            </a:r>
          </a:p>
        </p:txBody>
      </p:sp>
      <p:sp>
        <p:nvSpPr>
          <p:cNvPr id="27" name="TextBox 26"/>
          <p:cNvSpPr txBox="1"/>
          <p:nvPr/>
        </p:nvSpPr>
        <p:spPr>
          <a:xfrm>
            <a:off x="11993270" y="2862072"/>
            <a:ext cx="1945843" cy="182880"/>
          </a:xfrm>
          <a:prstGeom prst="rect">
            <a:avLst/>
          </a:prstGeom>
          <a:noFill/>
        </p:spPr>
        <p:txBody>
          <a:bodyPr wrap="square" lIns="0" rIns="0" tIns="0" bIns="0" anchor="t">
            <a:spAutoFit/>
          </a:bodyPr>
          <a:lstStyle/>
          <a:p>
            <a:pPr algn="ctr"/>
            <a:r>
              <a:rPr sz="1150" b="1" i="0">
                <a:solidFill>
                  <a:srgbClr val="171717"/>
                </a:solidFill>
                <a:latin typeface="Aptos"/>
              </a:rPr>
              <a:t>Month 3</a:t>
            </a:r>
          </a:p>
        </p:txBody>
      </p:sp>
      <p:sp>
        <p:nvSpPr>
          <p:cNvPr id="28" name="TextBox 27"/>
          <p:cNvSpPr txBox="1"/>
          <p:nvPr/>
        </p:nvSpPr>
        <p:spPr>
          <a:xfrm>
            <a:off x="13939113" y="2862072"/>
            <a:ext cx="1945843" cy="182880"/>
          </a:xfrm>
          <a:prstGeom prst="rect">
            <a:avLst/>
          </a:prstGeom>
          <a:noFill/>
        </p:spPr>
        <p:txBody>
          <a:bodyPr wrap="square" lIns="0" rIns="0" tIns="0" bIns="0" anchor="t">
            <a:spAutoFit/>
          </a:bodyPr>
          <a:lstStyle/>
          <a:p>
            <a:pPr algn="ctr"/>
            <a:r>
              <a:rPr sz="1150" b="1" i="0">
                <a:solidFill>
                  <a:srgbClr val="171717"/>
                </a:solidFill>
                <a:latin typeface="Aptos"/>
              </a:rPr>
              <a:t>Month 4</a:t>
            </a:r>
          </a:p>
        </p:txBody>
      </p:sp>
      <p:sp>
        <p:nvSpPr>
          <p:cNvPr id="29" name="TextBox 28"/>
          <p:cNvSpPr txBox="1"/>
          <p:nvPr/>
        </p:nvSpPr>
        <p:spPr>
          <a:xfrm>
            <a:off x="15884956" y="2862072"/>
            <a:ext cx="1945843" cy="182880"/>
          </a:xfrm>
          <a:prstGeom prst="rect">
            <a:avLst/>
          </a:prstGeom>
          <a:noFill/>
        </p:spPr>
        <p:txBody>
          <a:bodyPr wrap="square" lIns="0" rIns="0" tIns="0" bIns="0" anchor="t">
            <a:spAutoFit/>
          </a:bodyPr>
          <a:lstStyle/>
          <a:p>
            <a:pPr algn="ctr"/>
            <a:r>
              <a:rPr sz="1150" b="1" i="0">
                <a:solidFill>
                  <a:srgbClr val="171717"/>
                </a:solidFill>
                <a:latin typeface="Aptos"/>
              </a:rPr>
              <a:t>Month 5</a:t>
            </a:r>
          </a:p>
        </p:txBody>
      </p:sp>
      <p:sp>
        <p:nvSpPr>
          <p:cNvPr id="30" name="Rectangle 29"/>
          <p:cNvSpPr/>
          <p:nvPr/>
        </p:nvSpPr>
        <p:spPr>
          <a:xfrm>
            <a:off x="8101583" y="3145536"/>
            <a:ext cx="1945843" cy="5468112"/>
          </a:xfrm>
          <a:prstGeom prst="rect">
            <a:avLst/>
          </a:prstGeom>
          <a:solidFill>
            <a:srgbClr val="FAFAFA"/>
          </a:solidFill>
          <a:ln>
            <a:noFill/>
          </a:ln>
        </p:spPr>
        <p:txBody>
          <a:bodyPr rtlCol="0" anchor="ctr"/>
          <a:lstStyle/>
          <a:p>
            <a:pPr algn="ctr"/>
          </a:p>
        </p:txBody>
      </p:sp>
      <p:sp>
        <p:nvSpPr>
          <p:cNvPr id="31" name="Rectangle 30"/>
          <p:cNvSpPr/>
          <p:nvPr/>
        </p:nvSpPr>
        <p:spPr>
          <a:xfrm>
            <a:off x="11993270" y="3145536"/>
            <a:ext cx="1945843" cy="5468112"/>
          </a:xfrm>
          <a:prstGeom prst="rect">
            <a:avLst/>
          </a:prstGeom>
          <a:solidFill>
            <a:srgbClr val="FAFAFA"/>
          </a:solidFill>
          <a:ln>
            <a:noFill/>
          </a:ln>
        </p:spPr>
        <p:txBody>
          <a:bodyPr rtlCol="0" anchor="ctr"/>
          <a:lstStyle/>
          <a:p>
            <a:pPr algn="ctr"/>
          </a:p>
        </p:txBody>
      </p:sp>
      <p:sp>
        <p:nvSpPr>
          <p:cNvPr id="32" name="Rectangle 31"/>
          <p:cNvSpPr/>
          <p:nvPr/>
        </p:nvSpPr>
        <p:spPr>
          <a:xfrm>
            <a:off x="15884956" y="3145536"/>
            <a:ext cx="1945843" cy="5468112"/>
          </a:xfrm>
          <a:prstGeom prst="rect">
            <a:avLst/>
          </a:prstGeom>
          <a:solidFill>
            <a:srgbClr val="FAFAFA"/>
          </a:solidFill>
          <a:ln>
            <a:noFill/>
          </a:ln>
        </p:spPr>
        <p:txBody>
          <a:bodyPr rtlCol="0" anchor="ctr"/>
          <a:lstStyle/>
          <a:p>
            <a:pPr algn="ctr"/>
          </a:p>
        </p:txBody>
      </p:sp>
      <p:cxnSp>
        <p:nvCxnSpPr>
          <p:cNvPr id="33" name="Connector 32"/>
          <p:cNvCxnSpPr/>
          <p:nvPr/>
        </p:nvCxnSpPr>
        <p:spPr>
          <a:xfrm>
            <a:off x="8101583" y="3145536"/>
            <a:ext cx="0" cy="5468112"/>
          </a:xfrm>
          <a:prstGeom prst="line">
            <a:avLst/>
          </a:prstGeom>
          <a:ln w="6350">
            <a:solidFill>
              <a:srgbClr val="E1E1E1"/>
            </a:solidFill>
          </a:ln>
        </p:spPr>
      </p:cxnSp>
      <p:cxnSp>
        <p:nvCxnSpPr>
          <p:cNvPr id="34" name="Connector 33"/>
          <p:cNvCxnSpPr/>
          <p:nvPr/>
        </p:nvCxnSpPr>
        <p:spPr>
          <a:xfrm>
            <a:off x="10047427" y="3145536"/>
            <a:ext cx="0" cy="5468112"/>
          </a:xfrm>
          <a:prstGeom prst="line">
            <a:avLst/>
          </a:prstGeom>
          <a:ln w="6350">
            <a:solidFill>
              <a:srgbClr val="E1E1E1"/>
            </a:solidFill>
          </a:ln>
        </p:spPr>
      </p:cxnSp>
      <p:cxnSp>
        <p:nvCxnSpPr>
          <p:cNvPr id="35" name="Connector 34"/>
          <p:cNvCxnSpPr/>
          <p:nvPr/>
        </p:nvCxnSpPr>
        <p:spPr>
          <a:xfrm>
            <a:off x="11993270" y="3145536"/>
            <a:ext cx="0" cy="5468112"/>
          </a:xfrm>
          <a:prstGeom prst="line">
            <a:avLst/>
          </a:prstGeom>
          <a:ln w="6350">
            <a:solidFill>
              <a:srgbClr val="E1E1E1"/>
            </a:solidFill>
          </a:ln>
        </p:spPr>
      </p:cxnSp>
      <p:cxnSp>
        <p:nvCxnSpPr>
          <p:cNvPr id="36" name="Connector 35"/>
          <p:cNvCxnSpPr/>
          <p:nvPr/>
        </p:nvCxnSpPr>
        <p:spPr>
          <a:xfrm>
            <a:off x="13939113" y="3145536"/>
            <a:ext cx="0" cy="5468112"/>
          </a:xfrm>
          <a:prstGeom prst="line">
            <a:avLst/>
          </a:prstGeom>
          <a:ln w="6350">
            <a:solidFill>
              <a:srgbClr val="E1E1E1"/>
            </a:solidFill>
          </a:ln>
        </p:spPr>
      </p:cxnSp>
      <p:cxnSp>
        <p:nvCxnSpPr>
          <p:cNvPr id="37" name="Connector 36"/>
          <p:cNvCxnSpPr/>
          <p:nvPr/>
        </p:nvCxnSpPr>
        <p:spPr>
          <a:xfrm>
            <a:off x="15884956" y="3145536"/>
            <a:ext cx="0" cy="5468112"/>
          </a:xfrm>
          <a:prstGeom prst="line">
            <a:avLst/>
          </a:prstGeom>
          <a:ln w="6350">
            <a:solidFill>
              <a:srgbClr val="E1E1E1"/>
            </a:solidFill>
          </a:ln>
        </p:spPr>
      </p:cxnSp>
      <p:cxnSp>
        <p:nvCxnSpPr>
          <p:cNvPr id="38" name="Connector 37"/>
          <p:cNvCxnSpPr/>
          <p:nvPr/>
        </p:nvCxnSpPr>
        <p:spPr>
          <a:xfrm>
            <a:off x="17830800" y="3145536"/>
            <a:ext cx="0" cy="5468112"/>
          </a:xfrm>
          <a:prstGeom prst="line">
            <a:avLst/>
          </a:prstGeom>
          <a:ln w="6350">
            <a:solidFill>
              <a:srgbClr val="E1E1E1"/>
            </a:solidFill>
          </a:ln>
        </p:spPr>
      </p:cxnSp>
      <p:sp>
        <p:nvSpPr>
          <p:cNvPr id="39" name="Rectangle 38"/>
          <p:cNvSpPr/>
          <p:nvPr/>
        </p:nvSpPr>
        <p:spPr>
          <a:xfrm>
            <a:off x="438912" y="3145536"/>
            <a:ext cx="17410176" cy="237744"/>
          </a:xfrm>
          <a:prstGeom prst="rect">
            <a:avLst/>
          </a:prstGeom>
          <a:solidFill>
            <a:srgbClr val="1B1F5C"/>
          </a:solidFill>
          <a:ln>
            <a:noFill/>
          </a:ln>
        </p:spPr>
        <p:txBody>
          <a:bodyPr rtlCol="0" anchor="ctr"/>
          <a:lstStyle/>
          <a:p>
            <a:pPr algn="ctr"/>
          </a:p>
        </p:txBody>
      </p:sp>
      <p:sp>
        <p:nvSpPr>
          <p:cNvPr id="40" name="Rectangle 39"/>
          <p:cNvSpPr/>
          <p:nvPr/>
        </p:nvSpPr>
        <p:spPr>
          <a:xfrm>
            <a:off x="438912" y="3145536"/>
            <a:ext cx="45720" cy="237744"/>
          </a:xfrm>
          <a:prstGeom prst="rect">
            <a:avLst/>
          </a:prstGeom>
          <a:solidFill>
            <a:srgbClr val="1B1F5C"/>
          </a:solidFill>
          <a:ln>
            <a:noFill/>
          </a:ln>
        </p:spPr>
        <p:txBody>
          <a:bodyPr rtlCol="0" anchor="ctr"/>
          <a:lstStyle/>
          <a:p>
            <a:pPr algn="ctr"/>
          </a:p>
        </p:txBody>
      </p:sp>
      <p:sp>
        <p:nvSpPr>
          <p:cNvPr id="41" name="TextBox 40"/>
          <p:cNvSpPr txBox="1"/>
          <p:nvPr/>
        </p:nvSpPr>
        <p:spPr>
          <a:xfrm>
            <a:off x="548640" y="3177540"/>
            <a:ext cx="7415783" cy="187452"/>
          </a:xfrm>
          <a:prstGeom prst="rect">
            <a:avLst/>
          </a:prstGeom>
          <a:noFill/>
        </p:spPr>
        <p:txBody>
          <a:bodyPr wrap="square" lIns="0" rIns="0" tIns="0" bIns="0" anchor="t">
            <a:spAutoFit/>
          </a:bodyPr>
          <a:lstStyle/>
          <a:p>
            <a:pPr algn="l"/>
            <a:r>
              <a:rPr sz="1120" b="1" i="0">
                <a:solidFill>
                  <a:srgbClr val="FFFFFF"/>
                </a:solidFill>
                <a:latin typeface="Aptos"/>
              </a:rPr>
              <a:t>A  SCIENTIFIC INTENT, DEFINITIONS &amp; DATA READINESS</a:t>
            </a:r>
          </a:p>
        </p:txBody>
      </p:sp>
      <p:sp>
        <p:nvSpPr>
          <p:cNvPr id="42" name="TextBox 41"/>
          <p:cNvSpPr txBox="1"/>
          <p:nvPr/>
        </p:nvSpPr>
        <p:spPr>
          <a:xfrm>
            <a:off x="521207" y="3510381"/>
            <a:ext cx="457200" cy="182880"/>
          </a:xfrm>
          <a:prstGeom prst="rect">
            <a:avLst/>
          </a:prstGeom>
          <a:noFill/>
        </p:spPr>
        <p:txBody>
          <a:bodyPr wrap="square" lIns="0" rIns="0" tIns="0" bIns="0" anchor="t">
            <a:spAutoFit/>
          </a:bodyPr>
          <a:lstStyle/>
          <a:p>
            <a:pPr algn="l"/>
            <a:r>
              <a:rPr sz="1150" b="1" i="0">
                <a:solidFill>
                  <a:srgbClr val="2B3A8F"/>
                </a:solidFill>
                <a:latin typeface="Aptos"/>
              </a:rPr>
              <a:t>F01</a:t>
            </a:r>
          </a:p>
        </p:txBody>
      </p:sp>
      <p:sp>
        <p:nvSpPr>
          <p:cNvPr id="43" name="TextBox 42"/>
          <p:cNvSpPr txBox="1"/>
          <p:nvPr/>
        </p:nvSpPr>
        <p:spPr>
          <a:xfrm>
            <a:off x="978407" y="3482949"/>
            <a:ext cx="4782312" cy="202996"/>
          </a:xfrm>
          <a:prstGeom prst="rect">
            <a:avLst/>
          </a:prstGeom>
          <a:noFill/>
        </p:spPr>
        <p:txBody>
          <a:bodyPr wrap="square" lIns="0" rIns="0" tIns="0" bIns="0" anchor="t">
            <a:spAutoFit/>
          </a:bodyPr>
          <a:lstStyle/>
          <a:p>
            <a:pPr algn="l"/>
            <a:r>
              <a:rPr sz="1440" b="1" i="0">
                <a:solidFill>
                  <a:srgbClr val="171717"/>
                </a:solidFill>
                <a:latin typeface="Aptos"/>
              </a:rPr>
              <a:t>Researcher Portal &amp; Specification Builder</a:t>
            </a:r>
          </a:p>
        </p:txBody>
      </p:sp>
      <p:sp>
        <p:nvSpPr>
          <p:cNvPr id="44" name="TextBox 43"/>
          <p:cNvSpPr txBox="1"/>
          <p:nvPr/>
        </p:nvSpPr>
        <p:spPr>
          <a:xfrm>
            <a:off x="978407" y="3697833"/>
            <a:ext cx="4782312" cy="310896"/>
          </a:xfrm>
          <a:prstGeom prst="rect">
            <a:avLst/>
          </a:prstGeom>
          <a:noFill/>
        </p:spPr>
        <p:txBody>
          <a:bodyPr wrap="square" lIns="0" rIns="0" tIns="0" bIns="0" anchor="t">
            <a:spAutoFit/>
          </a:bodyPr>
          <a:lstStyle/>
          <a:p>
            <a:pPr algn="l"/>
            <a:r>
              <a:rPr sz="1000" b="0" i="0">
                <a:solidFill>
                  <a:srgbClr val="595959"/>
                </a:solidFill>
                <a:latin typeface="Aptos"/>
              </a:rPr>
              <a:t>Request, reuse and revise studies; review specifications with sheet-and-row traceability</a:t>
            </a:r>
          </a:p>
        </p:txBody>
      </p:sp>
      <p:sp>
        <p:nvSpPr>
          <p:cNvPr id="45" name="TextBox 44"/>
          <p:cNvSpPr txBox="1"/>
          <p:nvPr/>
        </p:nvSpPr>
        <p:spPr>
          <a:xfrm>
            <a:off x="5870448" y="3410712"/>
            <a:ext cx="2176272" cy="658368"/>
          </a:xfrm>
          <a:prstGeom prst="rect">
            <a:avLst/>
          </a:prstGeom>
          <a:noFill/>
        </p:spPr>
        <p:txBody>
          <a:bodyPr wrap="square" lIns="0" rIns="0" tIns="0" bIns="0" anchor="ctr">
            <a:spAutoFit/>
          </a:bodyPr>
          <a:lstStyle/>
          <a:p>
            <a:pPr algn="l"/>
            <a:r>
              <a:rPr sz="1000" b="0" i="0">
                <a:solidFill>
                  <a:srgbClr val="2B3A8F"/>
                </a:solidFill>
                <a:latin typeface="Aptos"/>
              </a:rPr>
              <a:t>Maps protocol concepts to candidate OMOP vocabulary terms for review</a:t>
            </a:r>
          </a:p>
        </p:txBody>
      </p:sp>
      <p:sp>
        <p:nvSpPr>
          <p:cNvPr id="46" name="Rectangle 45"/>
          <p:cNvSpPr/>
          <p:nvPr/>
        </p:nvSpPr>
        <p:spPr>
          <a:xfrm>
            <a:off x="10084003" y="3657600"/>
            <a:ext cx="3818534" cy="164592"/>
          </a:xfrm>
          <a:prstGeom prst="rect">
            <a:avLst/>
          </a:prstGeom>
          <a:solidFill>
            <a:srgbClr val="E4461E"/>
          </a:solidFill>
          <a:ln>
            <a:noFill/>
          </a:ln>
        </p:spPr>
        <p:txBody>
          <a:bodyPr rtlCol="0" anchor="ctr"/>
          <a:lstStyle/>
          <a:p>
            <a:pPr algn="ctr"/>
          </a:p>
        </p:txBody>
      </p:sp>
      <p:sp>
        <p:nvSpPr>
          <p:cNvPr id="47" name="TextBox 46"/>
          <p:cNvSpPr txBox="1"/>
          <p:nvPr/>
        </p:nvSpPr>
        <p:spPr>
          <a:xfrm>
            <a:off x="10129723" y="3657600"/>
            <a:ext cx="3635654" cy="164592"/>
          </a:xfrm>
          <a:prstGeom prst="rect">
            <a:avLst/>
          </a:prstGeom>
          <a:noFill/>
        </p:spPr>
        <p:txBody>
          <a:bodyPr wrap="square" lIns="0" rIns="0" tIns="0" bIns="0" anchor="ctr">
            <a:spAutoFit/>
          </a:bodyPr>
          <a:lstStyle/>
          <a:p>
            <a:pPr algn="ctr"/>
            <a:r>
              <a:rPr sz="800" b="1" i="0">
                <a:solidFill>
                  <a:srgbClr val="FFFFFF"/>
                </a:solidFill>
                <a:latin typeface="Aptos"/>
              </a:rPr>
              <a:t>Delivered elsewhere · integrated here</a:t>
            </a:r>
          </a:p>
        </p:txBody>
      </p:sp>
      <p:sp>
        <p:nvSpPr>
          <p:cNvPr id="48" name="Diamond 47"/>
          <p:cNvSpPr/>
          <p:nvPr/>
        </p:nvSpPr>
        <p:spPr>
          <a:xfrm>
            <a:off x="13847673" y="3687318"/>
            <a:ext cx="109728" cy="105156"/>
          </a:xfrm>
          <a:prstGeom prst="diamond">
            <a:avLst/>
          </a:prstGeom>
          <a:solidFill>
            <a:srgbClr val="171717"/>
          </a:solidFill>
          <a:ln>
            <a:noFill/>
          </a:ln>
        </p:spPr>
        <p:txBody>
          <a:bodyPr rtlCol="0" anchor="ctr"/>
          <a:lstStyle/>
          <a:p>
            <a:pPr algn="ctr"/>
          </a:p>
        </p:txBody>
      </p:sp>
      <p:cxnSp>
        <p:nvCxnSpPr>
          <p:cNvPr id="49" name="Connector 48"/>
          <p:cNvCxnSpPr/>
          <p:nvPr/>
        </p:nvCxnSpPr>
        <p:spPr>
          <a:xfrm>
            <a:off x="438912" y="4096512"/>
            <a:ext cx="17410176" cy="0"/>
          </a:xfrm>
          <a:prstGeom prst="line">
            <a:avLst/>
          </a:prstGeom>
          <a:ln w="6350">
            <a:solidFill>
              <a:srgbClr val="E1E1E1"/>
            </a:solidFill>
          </a:ln>
        </p:spPr>
      </p:cxnSp>
      <p:sp>
        <p:nvSpPr>
          <p:cNvPr id="50" name="TextBox 49"/>
          <p:cNvSpPr txBox="1"/>
          <p:nvPr/>
        </p:nvSpPr>
        <p:spPr>
          <a:xfrm>
            <a:off x="521207" y="4223613"/>
            <a:ext cx="457200" cy="182880"/>
          </a:xfrm>
          <a:prstGeom prst="rect">
            <a:avLst/>
          </a:prstGeom>
          <a:noFill/>
        </p:spPr>
        <p:txBody>
          <a:bodyPr wrap="square" lIns="0" rIns="0" tIns="0" bIns="0" anchor="t">
            <a:spAutoFit/>
          </a:bodyPr>
          <a:lstStyle/>
          <a:p>
            <a:pPr algn="l"/>
            <a:r>
              <a:rPr sz="1150" b="1" i="0">
                <a:solidFill>
                  <a:srgbClr val="2B3A8F"/>
                </a:solidFill>
                <a:latin typeface="Aptos"/>
              </a:rPr>
              <a:t>F02</a:t>
            </a:r>
          </a:p>
        </p:txBody>
      </p:sp>
      <p:sp>
        <p:nvSpPr>
          <p:cNvPr id="51" name="TextBox 50"/>
          <p:cNvSpPr txBox="1"/>
          <p:nvPr/>
        </p:nvSpPr>
        <p:spPr>
          <a:xfrm>
            <a:off x="978407" y="4196181"/>
            <a:ext cx="4782312" cy="202996"/>
          </a:xfrm>
          <a:prstGeom prst="rect">
            <a:avLst/>
          </a:prstGeom>
          <a:noFill/>
        </p:spPr>
        <p:txBody>
          <a:bodyPr wrap="square" lIns="0" rIns="0" tIns="0" bIns="0" anchor="t">
            <a:spAutoFit/>
          </a:bodyPr>
          <a:lstStyle/>
          <a:p>
            <a:pPr algn="l"/>
            <a:r>
              <a:rPr sz="1440" b="1" i="0">
                <a:solidFill>
                  <a:srgbClr val="171717"/>
                </a:solidFill>
                <a:latin typeface="Aptos"/>
              </a:rPr>
              <a:t>Functional Contract Library</a:t>
            </a:r>
          </a:p>
        </p:txBody>
      </p:sp>
      <p:sp>
        <p:nvSpPr>
          <p:cNvPr id="52" name="TextBox 51"/>
          <p:cNvSpPr txBox="1"/>
          <p:nvPr/>
        </p:nvSpPr>
        <p:spPr>
          <a:xfrm>
            <a:off x="978407" y="4411065"/>
            <a:ext cx="4782312" cy="310896"/>
          </a:xfrm>
          <a:prstGeom prst="rect">
            <a:avLst/>
          </a:prstGeom>
          <a:noFill/>
        </p:spPr>
        <p:txBody>
          <a:bodyPr wrap="square" lIns="0" rIns="0" tIns="0" bIns="0" anchor="t">
            <a:spAutoFit/>
          </a:bodyPr>
          <a:lstStyle/>
          <a:p>
            <a:pPr algn="l"/>
            <a:r>
              <a:rPr sz="1000" b="0" i="0">
                <a:solidFill>
                  <a:srgbClr val="595959"/>
                </a:solidFill>
                <a:latin typeface="Aptos"/>
              </a:rPr>
              <a:t>Machine-readable, approved instructions for each dataset and analysis, including variable mapping and temporal rules</a:t>
            </a:r>
          </a:p>
        </p:txBody>
      </p:sp>
      <p:sp>
        <p:nvSpPr>
          <p:cNvPr id="53" name="TextBox 52"/>
          <p:cNvSpPr txBox="1"/>
          <p:nvPr/>
        </p:nvSpPr>
        <p:spPr>
          <a:xfrm>
            <a:off x="5870448" y="4123944"/>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definitions and flags what the specification leaves open</a:t>
            </a:r>
          </a:p>
        </p:txBody>
      </p:sp>
      <p:sp>
        <p:nvSpPr>
          <p:cNvPr id="54" name="Rectangle 53"/>
          <p:cNvSpPr/>
          <p:nvPr/>
        </p:nvSpPr>
        <p:spPr>
          <a:xfrm>
            <a:off x="10084003" y="4370832"/>
            <a:ext cx="3818534" cy="164592"/>
          </a:xfrm>
          <a:prstGeom prst="rect">
            <a:avLst/>
          </a:prstGeom>
          <a:solidFill>
            <a:srgbClr val="E4461E"/>
          </a:solidFill>
          <a:ln>
            <a:noFill/>
          </a:ln>
        </p:spPr>
        <p:txBody>
          <a:bodyPr rtlCol="0" anchor="ctr"/>
          <a:lstStyle/>
          <a:p>
            <a:pPr algn="ctr"/>
          </a:p>
        </p:txBody>
      </p:sp>
      <p:sp>
        <p:nvSpPr>
          <p:cNvPr id="55" name="Diamond 54"/>
          <p:cNvSpPr/>
          <p:nvPr/>
        </p:nvSpPr>
        <p:spPr>
          <a:xfrm>
            <a:off x="13847673" y="4400550"/>
            <a:ext cx="109728" cy="105156"/>
          </a:xfrm>
          <a:prstGeom prst="diamond">
            <a:avLst/>
          </a:prstGeom>
          <a:solidFill>
            <a:srgbClr val="171717"/>
          </a:solidFill>
          <a:ln>
            <a:noFill/>
          </a:ln>
        </p:spPr>
        <p:txBody>
          <a:bodyPr rtlCol="0" anchor="ctr"/>
          <a:lstStyle/>
          <a:p>
            <a:pPr algn="ctr"/>
          </a:p>
        </p:txBody>
      </p:sp>
      <p:cxnSp>
        <p:nvCxnSpPr>
          <p:cNvPr id="56" name="Connector 55"/>
          <p:cNvCxnSpPr/>
          <p:nvPr/>
        </p:nvCxnSpPr>
        <p:spPr>
          <a:xfrm>
            <a:off x="438912" y="4809744"/>
            <a:ext cx="17410176" cy="0"/>
          </a:xfrm>
          <a:prstGeom prst="line">
            <a:avLst/>
          </a:prstGeom>
          <a:ln w="6350">
            <a:solidFill>
              <a:srgbClr val="E1E1E1"/>
            </a:solidFill>
          </a:ln>
        </p:spPr>
      </p:cxnSp>
      <p:sp>
        <p:nvSpPr>
          <p:cNvPr id="57" name="TextBox 56"/>
          <p:cNvSpPr txBox="1"/>
          <p:nvPr/>
        </p:nvSpPr>
        <p:spPr>
          <a:xfrm>
            <a:off x="521207" y="4936845"/>
            <a:ext cx="457200" cy="182880"/>
          </a:xfrm>
          <a:prstGeom prst="rect">
            <a:avLst/>
          </a:prstGeom>
          <a:noFill/>
        </p:spPr>
        <p:txBody>
          <a:bodyPr wrap="square" lIns="0" rIns="0" tIns="0" bIns="0" anchor="t">
            <a:spAutoFit/>
          </a:bodyPr>
          <a:lstStyle/>
          <a:p>
            <a:pPr algn="l"/>
            <a:r>
              <a:rPr sz="1150" b="1" i="0">
                <a:solidFill>
                  <a:srgbClr val="2B3A8F"/>
                </a:solidFill>
                <a:latin typeface="Aptos"/>
              </a:rPr>
              <a:t>F03</a:t>
            </a:r>
          </a:p>
        </p:txBody>
      </p:sp>
      <p:sp>
        <p:nvSpPr>
          <p:cNvPr id="58" name="TextBox 57"/>
          <p:cNvSpPr txBox="1"/>
          <p:nvPr/>
        </p:nvSpPr>
        <p:spPr>
          <a:xfrm>
            <a:off x="978407" y="4909413"/>
            <a:ext cx="4782312" cy="202996"/>
          </a:xfrm>
          <a:prstGeom prst="rect">
            <a:avLst/>
          </a:prstGeom>
          <a:noFill/>
        </p:spPr>
        <p:txBody>
          <a:bodyPr wrap="square" lIns="0" rIns="0" tIns="0" bIns="0" anchor="t">
            <a:spAutoFit/>
          </a:bodyPr>
          <a:lstStyle/>
          <a:p>
            <a:pPr algn="l"/>
            <a:r>
              <a:rPr sz="1440" b="1" i="0">
                <a:solidFill>
                  <a:srgbClr val="171717"/>
                </a:solidFill>
                <a:latin typeface="Aptos"/>
              </a:rPr>
              <a:t>Clinical Definitions Integration</a:t>
            </a:r>
          </a:p>
        </p:txBody>
      </p:sp>
      <p:sp>
        <p:nvSpPr>
          <p:cNvPr id="59" name="TextBox 58"/>
          <p:cNvSpPr txBox="1"/>
          <p:nvPr/>
        </p:nvSpPr>
        <p:spPr>
          <a:xfrm>
            <a:off x="978407" y="5124297"/>
            <a:ext cx="4782312" cy="310896"/>
          </a:xfrm>
          <a:prstGeom prst="rect">
            <a:avLst/>
          </a:prstGeom>
          <a:noFill/>
        </p:spPr>
        <p:txBody>
          <a:bodyPr wrap="square" lIns="0" rIns="0" tIns="0" bIns="0" anchor="t">
            <a:spAutoFit/>
          </a:bodyPr>
          <a:lstStyle/>
          <a:p>
            <a:pPr algn="l"/>
            <a:r>
              <a:rPr sz="1000" b="0" i="0">
                <a:solidFill>
                  <a:srgbClr val="595959"/>
                </a:solidFill>
                <a:latin typeface="Aptos"/>
              </a:rPr>
              <a:t>Approved concept sets with identifier, version, intended use and exclusions, referenced by contracts</a:t>
            </a:r>
          </a:p>
        </p:txBody>
      </p:sp>
      <p:sp>
        <p:nvSpPr>
          <p:cNvPr id="60" name="TextBox 59"/>
          <p:cNvSpPr txBox="1"/>
          <p:nvPr/>
        </p:nvSpPr>
        <p:spPr>
          <a:xfrm>
            <a:off x="5870448" y="4837176"/>
            <a:ext cx="2176272" cy="658368"/>
          </a:xfrm>
          <a:prstGeom prst="rect">
            <a:avLst/>
          </a:prstGeom>
          <a:noFill/>
        </p:spPr>
        <p:txBody>
          <a:bodyPr wrap="square" lIns="0" rIns="0" tIns="0" bIns="0" anchor="ctr">
            <a:spAutoFit/>
          </a:bodyPr>
          <a:lstStyle/>
          <a:p>
            <a:pPr algn="l"/>
            <a:r>
              <a:rPr sz="1000" b="0" i="0">
                <a:solidFill>
                  <a:srgbClr val="2B3A8F"/>
                </a:solidFill>
                <a:latin typeface="Aptos"/>
              </a:rPr>
              <a:t>Retrieves candidate concepts and flags ambiguity for review</a:t>
            </a:r>
          </a:p>
        </p:txBody>
      </p:sp>
      <p:sp>
        <p:nvSpPr>
          <p:cNvPr id="61" name="Rectangle 60"/>
          <p:cNvSpPr/>
          <p:nvPr/>
        </p:nvSpPr>
        <p:spPr>
          <a:xfrm>
            <a:off x="12029846" y="5084064"/>
            <a:ext cx="3818534" cy="164592"/>
          </a:xfrm>
          <a:prstGeom prst="rect">
            <a:avLst/>
          </a:prstGeom>
          <a:solidFill>
            <a:srgbClr val="E4461E"/>
          </a:solidFill>
          <a:ln>
            <a:noFill/>
          </a:ln>
        </p:spPr>
        <p:txBody>
          <a:bodyPr rtlCol="0" anchor="ctr"/>
          <a:lstStyle/>
          <a:p>
            <a:pPr algn="ctr"/>
          </a:p>
        </p:txBody>
      </p:sp>
      <p:sp>
        <p:nvSpPr>
          <p:cNvPr id="62" name="TextBox 61"/>
          <p:cNvSpPr txBox="1"/>
          <p:nvPr/>
        </p:nvSpPr>
        <p:spPr>
          <a:xfrm>
            <a:off x="12075566" y="5084064"/>
            <a:ext cx="3635654" cy="164592"/>
          </a:xfrm>
          <a:prstGeom prst="rect">
            <a:avLst/>
          </a:prstGeom>
          <a:noFill/>
        </p:spPr>
        <p:txBody>
          <a:bodyPr wrap="square" lIns="0" rIns="0" tIns="0" bIns="0" anchor="ctr">
            <a:spAutoFit/>
          </a:bodyPr>
          <a:lstStyle/>
          <a:p>
            <a:pPr algn="ctr"/>
            <a:r>
              <a:rPr sz="800" b="1" i="0">
                <a:solidFill>
                  <a:srgbClr val="FFFFFF"/>
                </a:solidFill>
                <a:latin typeface="Aptos"/>
              </a:rPr>
              <a:t>Delivered elsewhere · integrated here</a:t>
            </a:r>
          </a:p>
        </p:txBody>
      </p:sp>
      <p:sp>
        <p:nvSpPr>
          <p:cNvPr id="63" name="Diamond 62"/>
          <p:cNvSpPr/>
          <p:nvPr/>
        </p:nvSpPr>
        <p:spPr>
          <a:xfrm>
            <a:off x="15793516" y="5113782"/>
            <a:ext cx="109728" cy="105156"/>
          </a:xfrm>
          <a:prstGeom prst="diamond">
            <a:avLst/>
          </a:prstGeom>
          <a:solidFill>
            <a:srgbClr val="171717"/>
          </a:solidFill>
          <a:ln>
            <a:noFill/>
          </a:ln>
        </p:spPr>
        <p:txBody>
          <a:bodyPr rtlCol="0" anchor="ctr"/>
          <a:lstStyle/>
          <a:p>
            <a:pPr algn="ctr"/>
          </a:p>
        </p:txBody>
      </p:sp>
      <p:cxnSp>
        <p:nvCxnSpPr>
          <p:cNvPr id="64" name="Connector 63"/>
          <p:cNvCxnSpPr/>
          <p:nvPr/>
        </p:nvCxnSpPr>
        <p:spPr>
          <a:xfrm>
            <a:off x="438912" y="5522976"/>
            <a:ext cx="17410176" cy="0"/>
          </a:xfrm>
          <a:prstGeom prst="line">
            <a:avLst/>
          </a:prstGeom>
          <a:ln w="6350">
            <a:solidFill>
              <a:srgbClr val="E1E1E1"/>
            </a:solidFill>
          </a:ln>
        </p:spPr>
      </p:cxnSp>
      <p:sp>
        <p:nvSpPr>
          <p:cNvPr id="65" name="TextBox 64"/>
          <p:cNvSpPr txBox="1"/>
          <p:nvPr/>
        </p:nvSpPr>
        <p:spPr>
          <a:xfrm>
            <a:off x="521207" y="5650077"/>
            <a:ext cx="457200" cy="182880"/>
          </a:xfrm>
          <a:prstGeom prst="rect">
            <a:avLst/>
          </a:prstGeom>
          <a:noFill/>
        </p:spPr>
        <p:txBody>
          <a:bodyPr wrap="square" lIns="0" rIns="0" tIns="0" bIns="0" anchor="t">
            <a:spAutoFit/>
          </a:bodyPr>
          <a:lstStyle/>
          <a:p>
            <a:pPr algn="l"/>
            <a:r>
              <a:rPr sz="1150" b="1" i="0">
                <a:solidFill>
                  <a:srgbClr val="2B3A8F"/>
                </a:solidFill>
                <a:latin typeface="Aptos"/>
              </a:rPr>
              <a:t>F04</a:t>
            </a:r>
          </a:p>
        </p:txBody>
      </p:sp>
      <p:sp>
        <p:nvSpPr>
          <p:cNvPr id="66" name="TextBox 65"/>
          <p:cNvSpPr txBox="1"/>
          <p:nvPr/>
        </p:nvSpPr>
        <p:spPr>
          <a:xfrm>
            <a:off x="978407" y="5622645"/>
            <a:ext cx="4782312" cy="202996"/>
          </a:xfrm>
          <a:prstGeom prst="rect">
            <a:avLst/>
          </a:prstGeom>
          <a:noFill/>
        </p:spPr>
        <p:txBody>
          <a:bodyPr wrap="square" lIns="0" rIns="0" tIns="0" bIns="0" anchor="t">
            <a:spAutoFit/>
          </a:bodyPr>
          <a:lstStyle/>
          <a:p>
            <a:pPr algn="l"/>
            <a:r>
              <a:rPr sz="1440" b="1" i="0">
                <a:solidFill>
                  <a:srgbClr val="171717"/>
                </a:solidFill>
                <a:latin typeface="Aptos"/>
              </a:rPr>
              <a:t>Source Qualification &amp; Study-Variable Mapping</a:t>
            </a:r>
          </a:p>
        </p:txBody>
      </p:sp>
      <p:sp>
        <p:nvSpPr>
          <p:cNvPr id="67" name="TextBox 66"/>
          <p:cNvSpPr txBox="1"/>
          <p:nvPr/>
        </p:nvSpPr>
        <p:spPr>
          <a:xfrm>
            <a:off x="978407" y="5837529"/>
            <a:ext cx="4782312" cy="310896"/>
          </a:xfrm>
          <a:prstGeom prst="rect">
            <a:avLst/>
          </a:prstGeom>
          <a:noFill/>
        </p:spPr>
        <p:txBody>
          <a:bodyPr wrap="square" lIns="0" rIns="0" tIns="0" bIns="0" anchor="t">
            <a:spAutoFit/>
          </a:bodyPr>
          <a:lstStyle/>
          <a:p>
            <a:pPr algn="l"/>
            <a:r>
              <a:rPr sz="1000" b="0" i="0">
                <a:solidFill>
                  <a:srgbClr val="595959"/>
                </a:solidFill>
                <a:latin typeface="Aptos"/>
              </a:rPr>
              <a:t>Assesses source suitability and supplies the source fields that contract mappings reference; clinical notes optional</a:t>
            </a:r>
          </a:p>
        </p:txBody>
      </p:sp>
      <p:sp>
        <p:nvSpPr>
          <p:cNvPr id="68" name="TextBox 67"/>
          <p:cNvSpPr txBox="1"/>
          <p:nvPr/>
        </p:nvSpPr>
        <p:spPr>
          <a:xfrm>
            <a:off x="5870448" y="5550408"/>
            <a:ext cx="2176272" cy="658368"/>
          </a:xfrm>
          <a:prstGeom prst="rect">
            <a:avLst/>
          </a:prstGeom>
          <a:noFill/>
        </p:spPr>
        <p:txBody>
          <a:bodyPr wrap="square" lIns="0" rIns="0" tIns="0" bIns="0" anchor="ctr">
            <a:spAutoFit/>
          </a:bodyPr>
          <a:lstStyle/>
          <a:p>
            <a:pPr algn="l"/>
            <a:r>
              <a:rPr sz="1000" b="0" i="0">
                <a:solidFill>
                  <a:srgbClr val="2B3A8F"/>
                </a:solidFill>
                <a:latin typeface="Aptos"/>
              </a:rPr>
              <a:t>Proposes variable-to-source bindings for review</a:t>
            </a:r>
          </a:p>
        </p:txBody>
      </p:sp>
      <p:sp>
        <p:nvSpPr>
          <p:cNvPr id="69" name="Rectangle 68"/>
          <p:cNvSpPr/>
          <p:nvPr/>
        </p:nvSpPr>
        <p:spPr>
          <a:xfrm>
            <a:off x="12029846" y="5797296"/>
            <a:ext cx="3818534" cy="164592"/>
          </a:xfrm>
          <a:prstGeom prst="rect">
            <a:avLst/>
          </a:prstGeom>
          <a:solidFill>
            <a:srgbClr val="E4461E"/>
          </a:solidFill>
          <a:ln>
            <a:noFill/>
          </a:ln>
        </p:spPr>
        <p:txBody>
          <a:bodyPr rtlCol="0" anchor="ctr"/>
          <a:lstStyle/>
          <a:p>
            <a:pPr algn="ctr"/>
          </a:p>
        </p:txBody>
      </p:sp>
      <p:sp>
        <p:nvSpPr>
          <p:cNvPr id="70" name="TextBox 69"/>
          <p:cNvSpPr txBox="1"/>
          <p:nvPr/>
        </p:nvSpPr>
        <p:spPr>
          <a:xfrm>
            <a:off x="12075566" y="5797296"/>
            <a:ext cx="3635654" cy="164592"/>
          </a:xfrm>
          <a:prstGeom prst="rect">
            <a:avLst/>
          </a:prstGeom>
          <a:noFill/>
        </p:spPr>
        <p:txBody>
          <a:bodyPr wrap="square" lIns="0" rIns="0" tIns="0" bIns="0" anchor="ctr">
            <a:spAutoFit/>
          </a:bodyPr>
          <a:lstStyle/>
          <a:p>
            <a:pPr algn="ctr"/>
            <a:r>
              <a:rPr sz="800" b="1" i="0">
                <a:solidFill>
                  <a:srgbClr val="FFFFFF"/>
                </a:solidFill>
                <a:latin typeface="Aptos"/>
              </a:rPr>
              <a:t>Delivered elsewhere · integrated here</a:t>
            </a:r>
          </a:p>
        </p:txBody>
      </p:sp>
      <p:sp>
        <p:nvSpPr>
          <p:cNvPr id="71" name="Diamond 70"/>
          <p:cNvSpPr/>
          <p:nvPr/>
        </p:nvSpPr>
        <p:spPr>
          <a:xfrm>
            <a:off x="15793516" y="5827014"/>
            <a:ext cx="109728" cy="105156"/>
          </a:xfrm>
          <a:prstGeom prst="diamond">
            <a:avLst/>
          </a:prstGeom>
          <a:solidFill>
            <a:srgbClr val="171717"/>
          </a:solidFill>
          <a:ln>
            <a:noFill/>
          </a:ln>
        </p:spPr>
        <p:txBody>
          <a:bodyPr rtlCol="0" anchor="ctr"/>
          <a:lstStyle/>
          <a:p>
            <a:pPr algn="ctr"/>
          </a:p>
        </p:txBody>
      </p:sp>
      <p:cxnSp>
        <p:nvCxnSpPr>
          <p:cNvPr id="72" name="Connector 71"/>
          <p:cNvCxnSpPr/>
          <p:nvPr/>
        </p:nvCxnSpPr>
        <p:spPr>
          <a:xfrm>
            <a:off x="438912" y="6236208"/>
            <a:ext cx="17410176" cy="0"/>
          </a:xfrm>
          <a:prstGeom prst="line">
            <a:avLst/>
          </a:prstGeom>
          <a:ln w="6350">
            <a:solidFill>
              <a:srgbClr val="E1E1E1"/>
            </a:solidFill>
          </a:ln>
        </p:spPr>
      </p:cxnSp>
      <p:sp>
        <p:nvSpPr>
          <p:cNvPr id="73" name="Rectangle 72"/>
          <p:cNvSpPr/>
          <p:nvPr/>
        </p:nvSpPr>
        <p:spPr>
          <a:xfrm>
            <a:off x="438912" y="6236208"/>
            <a:ext cx="17410176" cy="237744"/>
          </a:xfrm>
          <a:prstGeom prst="rect">
            <a:avLst/>
          </a:prstGeom>
          <a:solidFill>
            <a:srgbClr val="393F9E"/>
          </a:solidFill>
          <a:ln>
            <a:noFill/>
          </a:ln>
        </p:spPr>
        <p:txBody>
          <a:bodyPr rtlCol="0" anchor="ctr"/>
          <a:lstStyle/>
          <a:p>
            <a:pPr algn="ctr"/>
          </a:p>
        </p:txBody>
      </p:sp>
      <p:sp>
        <p:nvSpPr>
          <p:cNvPr id="74" name="Rectangle 73"/>
          <p:cNvSpPr/>
          <p:nvPr/>
        </p:nvSpPr>
        <p:spPr>
          <a:xfrm>
            <a:off x="438912" y="6236208"/>
            <a:ext cx="45720" cy="237744"/>
          </a:xfrm>
          <a:prstGeom prst="rect">
            <a:avLst/>
          </a:prstGeom>
          <a:solidFill>
            <a:srgbClr val="1B1F5C"/>
          </a:solidFill>
          <a:ln>
            <a:noFill/>
          </a:ln>
        </p:spPr>
        <p:txBody>
          <a:bodyPr rtlCol="0" anchor="ctr"/>
          <a:lstStyle/>
          <a:p>
            <a:pPr algn="ctr"/>
          </a:p>
        </p:txBody>
      </p:sp>
      <p:sp>
        <p:nvSpPr>
          <p:cNvPr id="75" name="TextBox 74"/>
          <p:cNvSpPr txBox="1"/>
          <p:nvPr/>
        </p:nvSpPr>
        <p:spPr>
          <a:xfrm>
            <a:off x="548640" y="6268212"/>
            <a:ext cx="7415783" cy="187452"/>
          </a:xfrm>
          <a:prstGeom prst="rect">
            <a:avLst/>
          </a:prstGeom>
          <a:noFill/>
        </p:spPr>
        <p:txBody>
          <a:bodyPr wrap="square" lIns="0" rIns="0" tIns="0" bIns="0" anchor="t">
            <a:spAutoFit/>
          </a:bodyPr>
          <a:lstStyle/>
          <a:p>
            <a:pPr algn="l"/>
            <a:r>
              <a:rPr sz="1120" b="1" i="0">
                <a:solidFill>
                  <a:srgbClr val="FFFFFF"/>
                </a:solidFill>
                <a:latin typeface="Aptos"/>
              </a:rPr>
              <a:t>B  ANALYTICAL EXECUTION &amp; EVIDENCE OUTPUTS</a:t>
            </a:r>
          </a:p>
        </p:txBody>
      </p:sp>
      <p:sp>
        <p:nvSpPr>
          <p:cNvPr id="76" name="TextBox 75"/>
          <p:cNvSpPr txBox="1"/>
          <p:nvPr/>
        </p:nvSpPr>
        <p:spPr>
          <a:xfrm>
            <a:off x="521207" y="6601053"/>
            <a:ext cx="457200" cy="182880"/>
          </a:xfrm>
          <a:prstGeom prst="rect">
            <a:avLst/>
          </a:prstGeom>
          <a:noFill/>
        </p:spPr>
        <p:txBody>
          <a:bodyPr wrap="square" lIns="0" rIns="0" tIns="0" bIns="0" anchor="t">
            <a:spAutoFit/>
          </a:bodyPr>
          <a:lstStyle/>
          <a:p>
            <a:pPr algn="l"/>
            <a:r>
              <a:rPr sz="1150" b="1" i="0">
                <a:solidFill>
                  <a:srgbClr val="2B3A8F"/>
                </a:solidFill>
                <a:latin typeface="Aptos"/>
              </a:rPr>
              <a:t>F05</a:t>
            </a:r>
          </a:p>
        </p:txBody>
      </p:sp>
      <p:sp>
        <p:nvSpPr>
          <p:cNvPr id="77" name="TextBox 76"/>
          <p:cNvSpPr txBox="1"/>
          <p:nvPr/>
        </p:nvSpPr>
        <p:spPr>
          <a:xfrm>
            <a:off x="978407" y="6573621"/>
            <a:ext cx="4782312" cy="202996"/>
          </a:xfrm>
          <a:prstGeom prst="rect">
            <a:avLst/>
          </a:prstGeom>
          <a:noFill/>
        </p:spPr>
        <p:txBody>
          <a:bodyPr wrap="square" lIns="0" rIns="0" tIns="0" bIns="0" anchor="t">
            <a:spAutoFit/>
          </a:bodyPr>
          <a:lstStyle/>
          <a:p>
            <a:pPr algn="l"/>
            <a:r>
              <a:rPr sz="1440" b="1" i="0">
                <a:solidFill>
                  <a:srgbClr val="171717"/>
                </a:solidFill>
                <a:latin typeface="Aptos"/>
              </a:rPr>
              <a:t>Analysis Dataset Engine</a:t>
            </a:r>
          </a:p>
        </p:txBody>
      </p:sp>
      <p:sp>
        <p:nvSpPr>
          <p:cNvPr id="78" name="TextBox 77"/>
          <p:cNvSpPr txBox="1"/>
          <p:nvPr/>
        </p:nvSpPr>
        <p:spPr>
          <a:xfrm>
            <a:off x="978407" y="6788505"/>
            <a:ext cx="4782312" cy="310896"/>
          </a:xfrm>
          <a:prstGeom prst="rect">
            <a:avLst/>
          </a:prstGeom>
          <a:noFill/>
        </p:spPr>
        <p:txBody>
          <a:bodyPr wrap="square" lIns="0" rIns="0" tIns="0" bIns="0" anchor="t">
            <a:spAutoFit/>
          </a:bodyPr>
          <a:lstStyle/>
          <a:p>
            <a:pPr algn="l"/>
            <a:r>
              <a:rPr sz="1000" b="0" i="0">
                <a:solidFill>
                  <a:srgbClr val="595959"/>
                </a:solidFill>
                <a:latin typeface="Aptos"/>
              </a:rPr>
              <a:t>Implements approved clinical rules on qualified sources and assembles verified, reusable longitudinal products and study datasets</a:t>
            </a:r>
          </a:p>
        </p:txBody>
      </p:sp>
      <p:sp>
        <p:nvSpPr>
          <p:cNvPr id="79" name="TextBox 78"/>
          <p:cNvSpPr txBox="1"/>
          <p:nvPr/>
        </p:nvSpPr>
        <p:spPr>
          <a:xfrm>
            <a:off x="5870448" y="6501384"/>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code for missing rules and explains sequence decisions for review</a:t>
            </a:r>
          </a:p>
        </p:txBody>
      </p:sp>
      <p:sp>
        <p:nvSpPr>
          <p:cNvPr id="80" name="Rectangle 79"/>
          <p:cNvSpPr/>
          <p:nvPr/>
        </p:nvSpPr>
        <p:spPr>
          <a:xfrm>
            <a:off x="12029846" y="6748272"/>
            <a:ext cx="5764377" cy="164592"/>
          </a:xfrm>
          <a:prstGeom prst="rect">
            <a:avLst/>
          </a:prstGeom>
          <a:solidFill>
            <a:srgbClr val="E4461E"/>
          </a:solidFill>
          <a:ln>
            <a:noFill/>
          </a:ln>
        </p:spPr>
        <p:txBody>
          <a:bodyPr rtlCol="0" anchor="ctr"/>
          <a:lstStyle/>
          <a:p>
            <a:pPr algn="ctr"/>
          </a:p>
        </p:txBody>
      </p:sp>
      <p:sp>
        <p:nvSpPr>
          <p:cNvPr id="81" name="Diamond 80"/>
          <p:cNvSpPr/>
          <p:nvPr/>
        </p:nvSpPr>
        <p:spPr>
          <a:xfrm>
            <a:off x="17739360" y="6777990"/>
            <a:ext cx="109728" cy="105156"/>
          </a:xfrm>
          <a:prstGeom prst="diamond">
            <a:avLst/>
          </a:prstGeom>
          <a:solidFill>
            <a:srgbClr val="171717"/>
          </a:solidFill>
          <a:ln>
            <a:noFill/>
          </a:ln>
        </p:spPr>
        <p:txBody>
          <a:bodyPr rtlCol="0" anchor="ctr"/>
          <a:lstStyle/>
          <a:p>
            <a:pPr algn="ctr"/>
          </a:p>
        </p:txBody>
      </p:sp>
      <p:cxnSp>
        <p:nvCxnSpPr>
          <p:cNvPr id="82" name="Connector 81"/>
          <p:cNvCxnSpPr/>
          <p:nvPr/>
        </p:nvCxnSpPr>
        <p:spPr>
          <a:xfrm>
            <a:off x="438912" y="7187184"/>
            <a:ext cx="17410176" cy="0"/>
          </a:xfrm>
          <a:prstGeom prst="line">
            <a:avLst/>
          </a:prstGeom>
          <a:ln w="6350">
            <a:solidFill>
              <a:srgbClr val="E1E1E1"/>
            </a:solidFill>
          </a:ln>
        </p:spPr>
      </p:cxnSp>
      <p:sp>
        <p:nvSpPr>
          <p:cNvPr id="83" name="TextBox 82"/>
          <p:cNvSpPr txBox="1"/>
          <p:nvPr/>
        </p:nvSpPr>
        <p:spPr>
          <a:xfrm>
            <a:off x="521207" y="7314285"/>
            <a:ext cx="457200" cy="182880"/>
          </a:xfrm>
          <a:prstGeom prst="rect">
            <a:avLst/>
          </a:prstGeom>
          <a:noFill/>
        </p:spPr>
        <p:txBody>
          <a:bodyPr wrap="square" lIns="0" rIns="0" tIns="0" bIns="0" anchor="t">
            <a:spAutoFit/>
          </a:bodyPr>
          <a:lstStyle/>
          <a:p>
            <a:pPr algn="l"/>
            <a:r>
              <a:rPr sz="1150" b="1" i="0">
                <a:solidFill>
                  <a:srgbClr val="2B3A8F"/>
                </a:solidFill>
                <a:latin typeface="Aptos"/>
              </a:rPr>
              <a:t>F06</a:t>
            </a:r>
          </a:p>
        </p:txBody>
      </p:sp>
      <p:sp>
        <p:nvSpPr>
          <p:cNvPr id="84" name="TextBox 83"/>
          <p:cNvSpPr txBox="1"/>
          <p:nvPr/>
        </p:nvSpPr>
        <p:spPr>
          <a:xfrm>
            <a:off x="978407" y="7286853"/>
            <a:ext cx="4782312" cy="202996"/>
          </a:xfrm>
          <a:prstGeom prst="rect">
            <a:avLst/>
          </a:prstGeom>
          <a:noFill/>
        </p:spPr>
        <p:txBody>
          <a:bodyPr wrap="square" lIns="0" rIns="0" tIns="0" bIns="0" anchor="t">
            <a:spAutoFit/>
          </a:bodyPr>
          <a:lstStyle/>
          <a:p>
            <a:pPr algn="l"/>
            <a:r>
              <a:rPr sz="1440" b="1" i="0">
                <a:solidFill>
                  <a:srgbClr val="171717"/>
                </a:solidFill>
                <a:latin typeface="Aptos"/>
              </a:rPr>
              <a:t>Reusable Study Analysis Packages</a:t>
            </a:r>
          </a:p>
        </p:txBody>
      </p:sp>
      <p:sp>
        <p:nvSpPr>
          <p:cNvPr id="85" name="TextBox 84"/>
          <p:cNvSpPr txBox="1"/>
          <p:nvPr/>
        </p:nvSpPr>
        <p:spPr>
          <a:xfrm>
            <a:off x="978407" y="7501737"/>
            <a:ext cx="4782312" cy="310896"/>
          </a:xfrm>
          <a:prstGeom prst="rect">
            <a:avLst/>
          </a:prstGeom>
          <a:noFill/>
        </p:spPr>
        <p:txBody>
          <a:bodyPr wrap="square" lIns="0" rIns="0" tIns="0" bIns="0" anchor="t">
            <a:spAutoFit/>
          </a:bodyPr>
          <a:lstStyle/>
          <a:p>
            <a:pPr algn="l"/>
            <a:r>
              <a:rPr sz="1000" b="0" i="0">
                <a:solidFill>
                  <a:srgbClr val="595959"/>
                </a:solidFill>
                <a:latin typeface="Aptos"/>
              </a:rPr>
              <a:t>Analyses and standard plots on the standard ADS: attrition, baseline tables, treatment patterns, outcomes, resource use and incidence</a:t>
            </a:r>
          </a:p>
        </p:txBody>
      </p:sp>
      <p:sp>
        <p:nvSpPr>
          <p:cNvPr id="86" name="TextBox 85"/>
          <p:cNvSpPr txBox="1"/>
          <p:nvPr/>
        </p:nvSpPr>
        <p:spPr>
          <a:xfrm>
            <a:off x="5870448" y="7214616"/>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analysis configuration; reviewed modules estimate</a:t>
            </a:r>
          </a:p>
        </p:txBody>
      </p:sp>
      <p:sp>
        <p:nvSpPr>
          <p:cNvPr id="87" name="Rectangle 86"/>
          <p:cNvSpPr/>
          <p:nvPr/>
        </p:nvSpPr>
        <p:spPr>
          <a:xfrm>
            <a:off x="13975689" y="7461504"/>
            <a:ext cx="3818534" cy="164592"/>
          </a:xfrm>
          <a:prstGeom prst="rect">
            <a:avLst/>
          </a:prstGeom>
          <a:solidFill>
            <a:srgbClr val="E4461E"/>
          </a:solidFill>
          <a:ln>
            <a:noFill/>
          </a:ln>
        </p:spPr>
        <p:txBody>
          <a:bodyPr rtlCol="0" anchor="ctr"/>
          <a:lstStyle/>
          <a:p>
            <a:pPr algn="ctr"/>
          </a:p>
        </p:txBody>
      </p:sp>
      <p:sp>
        <p:nvSpPr>
          <p:cNvPr id="88" name="Diamond 87"/>
          <p:cNvSpPr/>
          <p:nvPr/>
        </p:nvSpPr>
        <p:spPr>
          <a:xfrm>
            <a:off x="17739360" y="7491222"/>
            <a:ext cx="109728" cy="105156"/>
          </a:xfrm>
          <a:prstGeom prst="diamond">
            <a:avLst/>
          </a:prstGeom>
          <a:solidFill>
            <a:srgbClr val="171717"/>
          </a:solidFill>
          <a:ln>
            <a:noFill/>
          </a:ln>
        </p:spPr>
        <p:txBody>
          <a:bodyPr rtlCol="0" anchor="ctr"/>
          <a:lstStyle/>
          <a:p>
            <a:pPr algn="ctr"/>
          </a:p>
        </p:txBody>
      </p:sp>
      <p:cxnSp>
        <p:nvCxnSpPr>
          <p:cNvPr id="89" name="Connector 88"/>
          <p:cNvCxnSpPr/>
          <p:nvPr/>
        </p:nvCxnSpPr>
        <p:spPr>
          <a:xfrm>
            <a:off x="438912" y="7900416"/>
            <a:ext cx="17410176" cy="0"/>
          </a:xfrm>
          <a:prstGeom prst="line">
            <a:avLst/>
          </a:prstGeom>
          <a:ln w="6350">
            <a:solidFill>
              <a:srgbClr val="E1E1E1"/>
            </a:solidFill>
          </a:ln>
        </p:spPr>
      </p:cxnSp>
      <p:sp>
        <p:nvSpPr>
          <p:cNvPr id="90" name="TextBox 89"/>
          <p:cNvSpPr txBox="1"/>
          <p:nvPr/>
        </p:nvSpPr>
        <p:spPr>
          <a:xfrm>
            <a:off x="521207" y="8027517"/>
            <a:ext cx="457200" cy="182880"/>
          </a:xfrm>
          <a:prstGeom prst="rect">
            <a:avLst/>
          </a:prstGeom>
          <a:noFill/>
        </p:spPr>
        <p:txBody>
          <a:bodyPr wrap="square" lIns="0" rIns="0" tIns="0" bIns="0" anchor="t">
            <a:spAutoFit/>
          </a:bodyPr>
          <a:lstStyle/>
          <a:p>
            <a:pPr algn="l"/>
            <a:r>
              <a:rPr sz="1150" b="1" i="0">
                <a:solidFill>
                  <a:srgbClr val="2B3A8F"/>
                </a:solidFill>
                <a:latin typeface="Aptos"/>
              </a:rPr>
              <a:t>F07</a:t>
            </a:r>
          </a:p>
        </p:txBody>
      </p:sp>
      <p:sp>
        <p:nvSpPr>
          <p:cNvPr id="91" name="TextBox 90"/>
          <p:cNvSpPr txBox="1"/>
          <p:nvPr/>
        </p:nvSpPr>
        <p:spPr>
          <a:xfrm>
            <a:off x="978407" y="8000085"/>
            <a:ext cx="4782312" cy="202996"/>
          </a:xfrm>
          <a:prstGeom prst="rect">
            <a:avLst/>
          </a:prstGeom>
          <a:noFill/>
        </p:spPr>
        <p:txBody>
          <a:bodyPr wrap="square" lIns="0" rIns="0" tIns="0" bIns="0" anchor="t">
            <a:spAutoFit/>
          </a:bodyPr>
          <a:lstStyle/>
          <a:p>
            <a:pPr algn="l"/>
            <a:r>
              <a:rPr sz="1440" b="1" i="0">
                <a:solidFill>
                  <a:srgbClr val="171717"/>
                </a:solidFill>
                <a:latin typeface="Aptos"/>
              </a:rPr>
              <a:t>Evidence Outputs: TFLs &amp; Insight Views</a:t>
            </a:r>
          </a:p>
        </p:txBody>
      </p:sp>
      <p:sp>
        <p:nvSpPr>
          <p:cNvPr id="92" name="TextBox 91"/>
          <p:cNvSpPr txBox="1"/>
          <p:nvPr/>
        </p:nvSpPr>
        <p:spPr>
          <a:xfrm>
            <a:off x="978407" y="8214969"/>
            <a:ext cx="4782312" cy="310896"/>
          </a:xfrm>
          <a:prstGeom prst="rect">
            <a:avLst/>
          </a:prstGeom>
          <a:noFill/>
        </p:spPr>
        <p:txBody>
          <a:bodyPr wrap="square" lIns="0" rIns="0" tIns="0" bIns="0" anchor="t">
            <a:spAutoFit/>
          </a:bodyPr>
          <a:lstStyle/>
          <a:p>
            <a:pPr algn="l"/>
            <a:r>
              <a:rPr sz="1000" b="0" i="0">
                <a:solidFill>
                  <a:srgbClr val="595959"/>
                </a:solidFill>
                <a:latin typeface="Aptos"/>
              </a:rPr>
              <a:t>Versioned results rendered into TFL packages, plus feasibility and data-quality views with denominators visible</a:t>
            </a:r>
          </a:p>
        </p:txBody>
      </p:sp>
      <p:sp>
        <p:nvSpPr>
          <p:cNvPr id="93" name="TextBox 92"/>
          <p:cNvSpPr txBox="1"/>
          <p:nvPr/>
        </p:nvSpPr>
        <p:spPr>
          <a:xfrm>
            <a:off x="5870448" y="7927848"/>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narratives and summaries; flags anomalies for review</a:t>
            </a:r>
          </a:p>
        </p:txBody>
      </p:sp>
      <p:sp>
        <p:nvSpPr>
          <p:cNvPr id="94" name="Rectangle 93"/>
          <p:cNvSpPr/>
          <p:nvPr/>
        </p:nvSpPr>
        <p:spPr>
          <a:xfrm>
            <a:off x="13975689" y="8174736"/>
            <a:ext cx="3818534" cy="164592"/>
          </a:xfrm>
          <a:prstGeom prst="rect">
            <a:avLst/>
          </a:prstGeom>
          <a:solidFill>
            <a:srgbClr val="E4461E"/>
          </a:solidFill>
          <a:ln>
            <a:noFill/>
          </a:ln>
        </p:spPr>
        <p:txBody>
          <a:bodyPr rtlCol="0" anchor="ctr"/>
          <a:lstStyle/>
          <a:p>
            <a:pPr algn="ctr"/>
          </a:p>
        </p:txBody>
      </p:sp>
      <p:sp>
        <p:nvSpPr>
          <p:cNvPr id="95" name="Diamond 94"/>
          <p:cNvSpPr/>
          <p:nvPr/>
        </p:nvSpPr>
        <p:spPr>
          <a:xfrm>
            <a:off x="17739360" y="8204454"/>
            <a:ext cx="109728" cy="105156"/>
          </a:xfrm>
          <a:prstGeom prst="diamond">
            <a:avLst/>
          </a:prstGeom>
          <a:solidFill>
            <a:srgbClr val="171717"/>
          </a:solidFill>
          <a:ln>
            <a:noFill/>
          </a:ln>
        </p:spPr>
        <p:txBody>
          <a:bodyPr rtlCol="0" anchor="ctr"/>
          <a:lstStyle/>
          <a:p>
            <a:pPr algn="ctr"/>
          </a:p>
        </p:txBody>
      </p:sp>
      <p:cxnSp>
        <p:nvCxnSpPr>
          <p:cNvPr id="96" name="Connector 95"/>
          <p:cNvCxnSpPr/>
          <p:nvPr/>
        </p:nvCxnSpPr>
        <p:spPr>
          <a:xfrm>
            <a:off x="438912" y="8613648"/>
            <a:ext cx="17410176" cy="0"/>
          </a:xfrm>
          <a:prstGeom prst="line">
            <a:avLst/>
          </a:prstGeom>
          <a:ln w="6350">
            <a:solidFill>
              <a:srgbClr val="E1E1E1"/>
            </a:solidFill>
          </a:ln>
        </p:spPr>
      </p:cxnSp>
      <p:sp>
        <p:nvSpPr>
          <p:cNvPr id="97" name="TextBox 96"/>
          <p:cNvSpPr txBox="1"/>
          <p:nvPr/>
        </p:nvSpPr>
        <p:spPr>
          <a:xfrm>
            <a:off x="438912" y="9198864"/>
            <a:ext cx="17410176" cy="182880"/>
          </a:xfrm>
          <a:prstGeom prst="rect">
            <a:avLst/>
          </a:prstGeom>
          <a:noFill/>
        </p:spPr>
        <p:txBody>
          <a:bodyPr wrap="square" lIns="0" rIns="0" tIns="0" bIns="0" anchor="t">
            <a:spAutoFit/>
          </a:bodyPr>
          <a:lstStyle/>
          <a:p>
            <a:pPr algn="ctr"/>
            <a:r>
              <a:rPr sz="1080" b="1" i="0">
                <a:solidFill>
                  <a:srgbClr val="2B3A8F"/>
                </a:solidFill>
                <a:latin typeface="Aptos"/>
              </a:rPr>
              <a:t>ACCEPTANCE GATES  |  LT DECISION: ENDORSE INITIAL SCOPE, CONFIRM DELIVERY AND REVIEW CAPACITY, SECURE SOURCE, RUNTIME AND DEFINITION DEPENDENCIES</a:t>
            </a:r>
          </a:p>
        </p:txBody>
      </p:sp>
      <p:sp>
        <p:nvSpPr>
          <p:cNvPr id="98" name="Rectangle 97"/>
          <p:cNvSpPr/>
          <p:nvPr/>
        </p:nvSpPr>
        <p:spPr>
          <a:xfrm>
            <a:off x="438912" y="9464040"/>
            <a:ext cx="4270248" cy="566928"/>
          </a:xfrm>
          <a:prstGeom prst="rect">
            <a:avLst/>
          </a:prstGeom>
          <a:solidFill>
            <a:srgbClr val="F6F6F6"/>
          </a:solidFill>
          <a:ln>
            <a:noFill/>
          </a:ln>
        </p:spPr>
        <p:txBody>
          <a:bodyPr rtlCol="0" anchor="ctr"/>
          <a:lstStyle/>
          <a:p>
            <a:pPr algn="ctr"/>
          </a:p>
        </p:txBody>
      </p:sp>
      <p:sp>
        <p:nvSpPr>
          <p:cNvPr id="99" name="Rectangle 98"/>
          <p:cNvSpPr/>
          <p:nvPr/>
        </p:nvSpPr>
        <p:spPr>
          <a:xfrm>
            <a:off x="438912" y="9464040"/>
            <a:ext cx="47548" cy="566928"/>
          </a:xfrm>
          <a:prstGeom prst="rect">
            <a:avLst/>
          </a:prstGeom>
          <a:solidFill>
            <a:srgbClr val="1B1F5C"/>
          </a:solidFill>
          <a:ln>
            <a:noFill/>
          </a:ln>
        </p:spPr>
        <p:txBody>
          <a:bodyPr rtlCol="0" anchor="ctr"/>
          <a:lstStyle/>
          <a:p>
            <a:pPr algn="ctr"/>
          </a:p>
        </p:txBody>
      </p:sp>
      <p:sp>
        <p:nvSpPr>
          <p:cNvPr id="100" name="TextBox 99"/>
          <p:cNvSpPr txBox="1"/>
          <p:nvPr/>
        </p:nvSpPr>
        <p:spPr>
          <a:xfrm>
            <a:off x="548640" y="9578340"/>
            <a:ext cx="4050791" cy="155448"/>
          </a:xfrm>
          <a:prstGeom prst="rect">
            <a:avLst/>
          </a:prstGeom>
          <a:noFill/>
        </p:spPr>
        <p:txBody>
          <a:bodyPr wrap="square" lIns="0" rIns="0" tIns="0" bIns="0" anchor="t">
            <a:spAutoFit/>
          </a:bodyPr>
          <a:lstStyle/>
          <a:p>
            <a:pPr algn="l"/>
            <a:r>
              <a:rPr sz="1070" b="1" i="0">
                <a:solidFill>
                  <a:srgbClr val="2B3A8F"/>
                </a:solidFill>
                <a:latin typeface="Aptos"/>
              </a:rPr>
              <a:t>M1 · SCOPE &amp; READINESS AGREED</a:t>
            </a:r>
          </a:p>
        </p:txBody>
      </p:sp>
      <p:sp>
        <p:nvSpPr>
          <p:cNvPr id="101" name="TextBox 100"/>
          <p:cNvSpPr txBox="1"/>
          <p:nvPr/>
        </p:nvSpPr>
        <p:spPr>
          <a:xfrm>
            <a:off x="548640" y="9770364"/>
            <a:ext cx="4050791" cy="164592"/>
          </a:xfrm>
          <a:prstGeom prst="rect">
            <a:avLst/>
          </a:prstGeom>
          <a:noFill/>
        </p:spPr>
        <p:txBody>
          <a:bodyPr wrap="square" lIns="0" rIns="0" tIns="0" bIns="0" anchor="t">
            <a:spAutoFit/>
          </a:bodyPr>
          <a:lstStyle/>
          <a:p>
            <a:pPr algn="l"/>
            <a:r>
              <a:rPr sz="1230" b="1" i="0">
                <a:solidFill>
                  <a:srgbClr val="171717"/>
                </a:solidFill>
                <a:latin typeface="Aptos"/>
              </a:rPr>
              <a:t>Use cases, sources and runtime agreed</a:t>
            </a:r>
          </a:p>
        </p:txBody>
      </p:sp>
      <p:sp>
        <p:nvSpPr>
          <p:cNvPr id="102" name="Rectangle 101"/>
          <p:cNvSpPr/>
          <p:nvPr/>
        </p:nvSpPr>
        <p:spPr>
          <a:xfrm>
            <a:off x="4818888" y="9464040"/>
            <a:ext cx="4270248" cy="566928"/>
          </a:xfrm>
          <a:prstGeom prst="rect">
            <a:avLst/>
          </a:prstGeom>
          <a:solidFill>
            <a:srgbClr val="F6F6F6"/>
          </a:solidFill>
          <a:ln>
            <a:noFill/>
          </a:ln>
        </p:spPr>
        <p:txBody>
          <a:bodyPr rtlCol="0" anchor="ctr"/>
          <a:lstStyle/>
          <a:p>
            <a:pPr algn="ctr"/>
          </a:p>
        </p:txBody>
      </p:sp>
      <p:sp>
        <p:nvSpPr>
          <p:cNvPr id="103" name="Rectangle 102"/>
          <p:cNvSpPr/>
          <p:nvPr/>
        </p:nvSpPr>
        <p:spPr>
          <a:xfrm>
            <a:off x="4818888" y="9464040"/>
            <a:ext cx="47548" cy="566928"/>
          </a:xfrm>
          <a:prstGeom prst="rect">
            <a:avLst/>
          </a:prstGeom>
          <a:solidFill>
            <a:srgbClr val="1B1F5C"/>
          </a:solidFill>
          <a:ln>
            <a:noFill/>
          </a:ln>
        </p:spPr>
        <p:txBody>
          <a:bodyPr rtlCol="0" anchor="ctr"/>
          <a:lstStyle/>
          <a:p>
            <a:pPr algn="ctr"/>
          </a:p>
        </p:txBody>
      </p:sp>
      <p:sp>
        <p:nvSpPr>
          <p:cNvPr id="104" name="TextBox 103"/>
          <p:cNvSpPr txBox="1"/>
          <p:nvPr/>
        </p:nvSpPr>
        <p:spPr>
          <a:xfrm>
            <a:off x="4928616" y="9578340"/>
            <a:ext cx="4050791" cy="155448"/>
          </a:xfrm>
          <a:prstGeom prst="rect">
            <a:avLst/>
          </a:prstGeom>
          <a:noFill/>
        </p:spPr>
        <p:txBody>
          <a:bodyPr wrap="square" lIns="0" rIns="0" tIns="0" bIns="0" anchor="t">
            <a:spAutoFit/>
          </a:bodyPr>
          <a:lstStyle/>
          <a:p>
            <a:pPr algn="l"/>
            <a:r>
              <a:rPr sz="1070" b="1" i="0">
                <a:solidFill>
                  <a:srgbClr val="2B3A8F"/>
                </a:solidFill>
                <a:latin typeface="Aptos"/>
              </a:rPr>
              <a:t>M3 · FIRST SPEC-TO-DATASET WORKFLOW</a:t>
            </a:r>
          </a:p>
        </p:txBody>
      </p:sp>
      <p:sp>
        <p:nvSpPr>
          <p:cNvPr id="105" name="TextBox 104"/>
          <p:cNvSpPr txBox="1"/>
          <p:nvPr/>
        </p:nvSpPr>
        <p:spPr>
          <a:xfrm>
            <a:off x="4928616" y="9770364"/>
            <a:ext cx="4050791" cy="164592"/>
          </a:xfrm>
          <a:prstGeom prst="rect">
            <a:avLst/>
          </a:prstGeom>
          <a:noFill/>
        </p:spPr>
        <p:txBody>
          <a:bodyPr wrap="square" lIns="0" rIns="0" tIns="0" bIns="0" anchor="t">
            <a:spAutoFit/>
          </a:bodyPr>
          <a:lstStyle/>
          <a:p>
            <a:pPr algn="l"/>
            <a:r>
              <a:rPr sz="1230" b="1" i="0">
                <a:solidFill>
                  <a:srgbClr val="171717"/>
                </a:solidFill>
                <a:latin typeface="Aptos"/>
              </a:rPr>
              <a:t>Demonstrated on test inputs</a:t>
            </a:r>
          </a:p>
        </p:txBody>
      </p:sp>
      <p:sp>
        <p:nvSpPr>
          <p:cNvPr id="106" name="Rectangle 105"/>
          <p:cNvSpPr/>
          <p:nvPr/>
        </p:nvSpPr>
        <p:spPr>
          <a:xfrm>
            <a:off x="9198864" y="9464040"/>
            <a:ext cx="4270248" cy="566928"/>
          </a:xfrm>
          <a:prstGeom prst="rect">
            <a:avLst/>
          </a:prstGeom>
          <a:solidFill>
            <a:srgbClr val="F6F6F6"/>
          </a:solidFill>
          <a:ln>
            <a:noFill/>
          </a:ln>
        </p:spPr>
        <p:txBody>
          <a:bodyPr rtlCol="0" anchor="ctr"/>
          <a:lstStyle/>
          <a:p>
            <a:pPr algn="ctr"/>
          </a:p>
        </p:txBody>
      </p:sp>
      <p:sp>
        <p:nvSpPr>
          <p:cNvPr id="107" name="Rectangle 106"/>
          <p:cNvSpPr/>
          <p:nvPr/>
        </p:nvSpPr>
        <p:spPr>
          <a:xfrm>
            <a:off x="9198864" y="9464040"/>
            <a:ext cx="47548" cy="566928"/>
          </a:xfrm>
          <a:prstGeom prst="rect">
            <a:avLst/>
          </a:prstGeom>
          <a:solidFill>
            <a:srgbClr val="1B1F5C"/>
          </a:solidFill>
          <a:ln>
            <a:noFill/>
          </a:ln>
        </p:spPr>
        <p:txBody>
          <a:bodyPr rtlCol="0" anchor="ctr"/>
          <a:lstStyle/>
          <a:p>
            <a:pPr algn="ctr"/>
          </a:p>
        </p:txBody>
      </p:sp>
      <p:sp>
        <p:nvSpPr>
          <p:cNvPr id="108" name="TextBox 107"/>
          <p:cNvSpPr txBox="1"/>
          <p:nvPr/>
        </p:nvSpPr>
        <p:spPr>
          <a:xfrm>
            <a:off x="9308592" y="9578340"/>
            <a:ext cx="4050791" cy="155448"/>
          </a:xfrm>
          <a:prstGeom prst="rect">
            <a:avLst/>
          </a:prstGeom>
          <a:noFill/>
        </p:spPr>
        <p:txBody>
          <a:bodyPr wrap="square" lIns="0" rIns="0" tIns="0" bIns="0" anchor="t">
            <a:spAutoFit/>
          </a:bodyPr>
          <a:lstStyle/>
          <a:p>
            <a:pPr algn="l"/>
            <a:r>
              <a:rPr sz="1070" b="1" i="0">
                <a:solidFill>
                  <a:srgbClr val="2B3A8F"/>
                </a:solidFill>
                <a:latin typeface="Aptos"/>
              </a:rPr>
              <a:t>M4 · CONTRACTS EXECUTION-READY</a:t>
            </a:r>
          </a:p>
        </p:txBody>
      </p:sp>
      <p:sp>
        <p:nvSpPr>
          <p:cNvPr id="109" name="TextBox 108"/>
          <p:cNvSpPr txBox="1"/>
          <p:nvPr/>
        </p:nvSpPr>
        <p:spPr>
          <a:xfrm>
            <a:off x="9308592" y="9770364"/>
            <a:ext cx="4050791" cy="164592"/>
          </a:xfrm>
          <a:prstGeom prst="rect">
            <a:avLst/>
          </a:prstGeom>
          <a:noFill/>
        </p:spPr>
        <p:txBody>
          <a:bodyPr wrap="square" lIns="0" rIns="0" tIns="0" bIns="0" anchor="t">
            <a:spAutoFit/>
          </a:bodyPr>
          <a:lstStyle/>
          <a:p>
            <a:pPr algn="l"/>
            <a:r>
              <a:rPr sz="1230" b="1" i="0">
                <a:solidFill>
                  <a:srgbClr val="171717"/>
                </a:solidFill>
                <a:latin typeface="Aptos"/>
              </a:rPr>
              <a:t>Definitions and source bindings approved</a:t>
            </a:r>
          </a:p>
        </p:txBody>
      </p:sp>
      <p:sp>
        <p:nvSpPr>
          <p:cNvPr id="110" name="Rectangle 109"/>
          <p:cNvSpPr/>
          <p:nvPr/>
        </p:nvSpPr>
        <p:spPr>
          <a:xfrm>
            <a:off x="13578840" y="9464040"/>
            <a:ext cx="4270248" cy="566928"/>
          </a:xfrm>
          <a:prstGeom prst="rect">
            <a:avLst/>
          </a:prstGeom>
          <a:solidFill>
            <a:srgbClr val="F6F6F6"/>
          </a:solidFill>
          <a:ln>
            <a:noFill/>
          </a:ln>
        </p:spPr>
        <p:txBody>
          <a:bodyPr rtlCol="0" anchor="ctr"/>
          <a:lstStyle/>
          <a:p>
            <a:pPr algn="ctr"/>
          </a:p>
        </p:txBody>
      </p:sp>
      <p:sp>
        <p:nvSpPr>
          <p:cNvPr id="111" name="Rectangle 110"/>
          <p:cNvSpPr/>
          <p:nvPr/>
        </p:nvSpPr>
        <p:spPr>
          <a:xfrm>
            <a:off x="13578840" y="9464040"/>
            <a:ext cx="47548" cy="566928"/>
          </a:xfrm>
          <a:prstGeom prst="rect">
            <a:avLst/>
          </a:prstGeom>
          <a:solidFill>
            <a:srgbClr val="1B1F5C"/>
          </a:solidFill>
          <a:ln>
            <a:noFill/>
          </a:ln>
        </p:spPr>
        <p:txBody>
          <a:bodyPr rtlCol="0" anchor="ctr"/>
          <a:lstStyle/>
          <a:p>
            <a:pPr algn="ctr"/>
          </a:p>
        </p:txBody>
      </p:sp>
      <p:sp>
        <p:nvSpPr>
          <p:cNvPr id="112" name="TextBox 111"/>
          <p:cNvSpPr txBox="1"/>
          <p:nvPr/>
        </p:nvSpPr>
        <p:spPr>
          <a:xfrm>
            <a:off x="13688568" y="9578340"/>
            <a:ext cx="4050791" cy="155448"/>
          </a:xfrm>
          <a:prstGeom prst="rect">
            <a:avLst/>
          </a:prstGeom>
          <a:noFill/>
        </p:spPr>
        <p:txBody>
          <a:bodyPr wrap="square" lIns="0" rIns="0" tIns="0" bIns="0" anchor="t">
            <a:spAutoFit/>
          </a:bodyPr>
          <a:lstStyle/>
          <a:p>
            <a:pPr algn="l"/>
            <a:r>
              <a:rPr sz="1070" b="1" i="0">
                <a:solidFill>
                  <a:srgbClr val="2B3A8F"/>
                </a:solidFill>
                <a:latin typeface="Aptos"/>
              </a:rPr>
              <a:t>M5 · FIRST RELEASE DECISION</a:t>
            </a:r>
          </a:p>
        </p:txBody>
      </p:sp>
      <p:sp>
        <p:nvSpPr>
          <p:cNvPr id="113" name="TextBox 112"/>
          <p:cNvSpPr txBox="1"/>
          <p:nvPr/>
        </p:nvSpPr>
        <p:spPr>
          <a:xfrm>
            <a:off x="13688568" y="9770364"/>
            <a:ext cx="4050791" cy="164592"/>
          </a:xfrm>
          <a:prstGeom prst="rect">
            <a:avLst/>
          </a:prstGeom>
          <a:noFill/>
        </p:spPr>
        <p:txBody>
          <a:bodyPr wrap="square" lIns="0" rIns="0" tIns="0" bIns="0" anchor="t">
            <a:spAutoFit/>
          </a:bodyPr>
          <a:lstStyle/>
          <a:p>
            <a:pPr algn="l"/>
            <a:r>
              <a:rPr sz="1230" b="1" i="0">
                <a:solidFill>
                  <a:srgbClr val="171717"/>
                </a:solidFill>
                <a:latin typeface="Aptos"/>
              </a:rPr>
              <a:t>Use cases accepted for controlled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38912" y="365760"/>
            <a:ext cx="12801600" cy="210312"/>
          </a:xfrm>
          <a:prstGeom prst="rect">
            <a:avLst/>
          </a:prstGeom>
          <a:noFill/>
        </p:spPr>
        <p:txBody>
          <a:bodyPr wrap="square" lIns="0" rIns="0" tIns="0" bIns="0" anchor="t">
            <a:spAutoFit/>
          </a:bodyPr>
          <a:lstStyle/>
          <a:p>
            <a:pPr algn="l"/>
            <a:r>
              <a:rPr sz="1150" b="1" i="0">
                <a:solidFill>
                  <a:srgbClr val="2B3A8F"/>
                </a:solidFill>
                <a:latin typeface="Aptos"/>
              </a:rPr>
              <a:t>RWDPLATFORM  /  GOVERNED ANALYTICS DELIVERY</a:t>
            </a:r>
          </a:p>
        </p:txBody>
      </p:sp>
      <p:sp>
        <p:nvSpPr>
          <p:cNvPr id="4" name="TextBox 3"/>
          <p:cNvSpPr txBox="1"/>
          <p:nvPr/>
        </p:nvSpPr>
        <p:spPr>
          <a:xfrm>
            <a:off x="438912" y="694944"/>
            <a:ext cx="14904720" cy="438912"/>
          </a:xfrm>
          <a:prstGeom prst="rect">
            <a:avLst/>
          </a:prstGeom>
          <a:noFill/>
        </p:spPr>
        <p:txBody>
          <a:bodyPr wrap="square" lIns="0" rIns="0" tIns="0" bIns="0" anchor="ctr">
            <a:spAutoFit/>
          </a:bodyPr>
          <a:lstStyle/>
          <a:p>
            <a:pPr algn="l"/>
            <a:r>
              <a:rPr sz="2980" b="1" i="0">
                <a:solidFill>
                  <a:srgbClr val="2B3A8F"/>
                </a:solidFill>
                <a:latin typeface="Aptos"/>
              </a:rPr>
              <a:t>F02 | Functional Contract Library</a:t>
            </a:r>
          </a:p>
        </p:txBody>
      </p:sp>
      <p:sp>
        <p:nvSpPr>
          <p:cNvPr id="5" name="Rectangle 4"/>
          <p:cNvSpPr/>
          <p:nvPr/>
        </p:nvSpPr>
        <p:spPr>
          <a:xfrm>
            <a:off x="15563088" y="621792"/>
            <a:ext cx="2276856" cy="457200"/>
          </a:xfrm>
          <a:prstGeom prst="rect">
            <a:avLst/>
          </a:prstGeom>
          <a:solidFill>
            <a:srgbClr val="ECECF6"/>
          </a:solidFill>
          <a:ln>
            <a:noFill/>
          </a:ln>
        </p:spPr>
        <p:txBody>
          <a:bodyPr rtlCol="0" anchor="ctr"/>
          <a:lstStyle/>
          <a:p>
            <a:pPr algn="ctr"/>
          </a:p>
        </p:txBody>
      </p:sp>
      <p:sp>
        <p:nvSpPr>
          <p:cNvPr id="6" name="TextBox 5"/>
          <p:cNvSpPr txBox="1"/>
          <p:nvPr/>
        </p:nvSpPr>
        <p:spPr>
          <a:xfrm>
            <a:off x="15563088" y="621792"/>
            <a:ext cx="2276856" cy="457200"/>
          </a:xfrm>
          <a:prstGeom prst="rect">
            <a:avLst/>
          </a:prstGeom>
          <a:noFill/>
        </p:spPr>
        <p:txBody>
          <a:bodyPr wrap="square" lIns="0" rIns="0" tIns="0" bIns="0" anchor="ctr">
            <a:spAutoFit/>
          </a:bodyPr>
          <a:lstStyle/>
          <a:p>
            <a:pPr algn="ctr"/>
            <a:r>
              <a:rPr sz="1200" b="1" i="0">
                <a:solidFill>
                  <a:srgbClr val="171717"/>
                </a:solidFill>
                <a:latin typeface="Aptos"/>
              </a:rPr>
              <a:t>F02 · Months 2–3</a:t>
            </a:r>
          </a:p>
        </p:txBody>
      </p:sp>
      <p:sp>
        <p:nvSpPr>
          <p:cNvPr id="7" name="TextBox 6"/>
          <p:cNvSpPr txBox="1"/>
          <p:nvPr/>
        </p:nvSpPr>
        <p:spPr>
          <a:xfrm>
            <a:off x="438912" y="1170432"/>
            <a:ext cx="17373600" cy="246888"/>
          </a:xfrm>
          <a:prstGeom prst="rect">
            <a:avLst/>
          </a:prstGeom>
          <a:noFill/>
        </p:spPr>
        <p:txBody>
          <a:bodyPr wrap="square" lIns="0" rIns="0" tIns="0" bIns="0" anchor="t">
            <a:spAutoFit/>
          </a:bodyPr>
          <a:lstStyle/>
          <a:p>
            <a:pPr algn="l"/>
            <a:r>
              <a:rPr sz="1400" b="0" i="0">
                <a:solidFill>
                  <a:srgbClr val="595959"/>
                </a:solidFill>
                <a:latin typeface="Aptos"/>
              </a:rPr>
              <a:t>Functional contract: the machine-readable, approved instructions defining what each dataset and analysis must do.</a:t>
            </a:r>
          </a:p>
        </p:txBody>
      </p:sp>
      <p:sp>
        <p:nvSpPr>
          <p:cNvPr id="8" name="Rectangle 7"/>
          <p:cNvSpPr/>
          <p:nvPr/>
        </p:nvSpPr>
        <p:spPr>
          <a:xfrm>
            <a:off x="438912" y="1554480"/>
            <a:ext cx="17410176" cy="329184"/>
          </a:xfrm>
          <a:prstGeom prst="rect">
            <a:avLst/>
          </a:prstGeom>
          <a:solidFill>
            <a:srgbClr val="ECECF6"/>
          </a:solidFill>
          <a:ln>
            <a:noFill/>
          </a:ln>
        </p:spPr>
        <p:txBody>
          <a:bodyPr rtlCol="0" anchor="ctr"/>
          <a:lstStyle/>
          <a:p>
            <a:pPr algn="ctr"/>
          </a:p>
        </p:txBody>
      </p:sp>
      <p:sp>
        <p:nvSpPr>
          <p:cNvPr id="9" name="TextBox 8"/>
          <p:cNvSpPr txBox="1"/>
          <p:nvPr/>
        </p:nvSpPr>
        <p:spPr>
          <a:xfrm>
            <a:off x="566928" y="1554480"/>
            <a:ext cx="1554480" cy="329184"/>
          </a:xfrm>
          <a:prstGeom prst="rect">
            <a:avLst/>
          </a:prstGeom>
          <a:noFill/>
        </p:spPr>
        <p:txBody>
          <a:bodyPr wrap="square" lIns="0" rIns="0" tIns="0" bIns="0" anchor="ctr">
            <a:spAutoFit/>
          </a:bodyPr>
          <a:lstStyle/>
          <a:p>
            <a:pPr algn="l"/>
            <a:r>
              <a:rPr sz="1100" b="1" i="0">
                <a:solidFill>
                  <a:srgbClr val="2B3A8F"/>
                </a:solidFill>
                <a:latin typeface="Aptos"/>
              </a:rPr>
              <a:t>OUTCOME</a:t>
            </a:r>
          </a:p>
        </p:txBody>
      </p:sp>
      <p:sp>
        <p:nvSpPr>
          <p:cNvPr id="10" name="TextBox 9"/>
          <p:cNvSpPr txBox="1"/>
          <p:nvPr/>
        </p:nvSpPr>
        <p:spPr>
          <a:xfrm>
            <a:off x="2148840" y="1554480"/>
            <a:ext cx="15544800" cy="329184"/>
          </a:xfrm>
          <a:prstGeom prst="rect">
            <a:avLst/>
          </a:prstGeom>
          <a:noFill/>
        </p:spPr>
        <p:txBody>
          <a:bodyPr wrap="square" lIns="0" rIns="0" tIns="0" bIns="0" anchor="ctr">
            <a:spAutoFit/>
          </a:bodyPr>
          <a:lstStyle/>
          <a:p>
            <a:pPr algn="l"/>
            <a:r>
              <a:rPr sz="1200" b="1" i="0">
                <a:solidFill>
                  <a:srgbClr val="171717"/>
                </a:solidFill>
                <a:latin typeface="Aptos"/>
              </a:rPr>
              <a:t>Contracts become definition-complete in Month 3 and execution-ready in Month 4, once required concept sets, source bindings and engine support are accepted.</a:t>
            </a:r>
          </a:p>
        </p:txBody>
      </p:sp>
      <p:sp>
        <p:nvSpPr>
          <p:cNvPr id="11" name="Rectangle 10"/>
          <p:cNvSpPr/>
          <p:nvPr/>
        </p:nvSpPr>
        <p:spPr>
          <a:xfrm>
            <a:off x="438912" y="1938528"/>
            <a:ext cx="17410176" cy="329184"/>
          </a:xfrm>
          <a:prstGeom prst="rect">
            <a:avLst/>
          </a:prstGeom>
          <a:solidFill>
            <a:srgbClr val="F6F6F6"/>
          </a:solidFill>
          <a:ln>
            <a:noFill/>
          </a:ln>
        </p:spPr>
        <p:txBody>
          <a:bodyPr rtlCol="0" anchor="ctr"/>
          <a:lstStyle/>
          <a:p>
            <a:pPr algn="ctr"/>
          </a:p>
        </p:txBody>
      </p:sp>
      <p:sp>
        <p:nvSpPr>
          <p:cNvPr id="12" name="TextBox 11"/>
          <p:cNvSpPr txBox="1"/>
          <p:nvPr/>
        </p:nvSpPr>
        <p:spPr>
          <a:xfrm>
            <a:off x="566928" y="1938528"/>
            <a:ext cx="1554480" cy="329184"/>
          </a:xfrm>
          <a:prstGeom prst="rect">
            <a:avLst/>
          </a:prstGeom>
          <a:noFill/>
        </p:spPr>
        <p:txBody>
          <a:bodyPr wrap="square" lIns="0" rIns="0" tIns="0" bIns="0" anchor="ctr">
            <a:spAutoFit/>
          </a:bodyPr>
          <a:lstStyle/>
          <a:p>
            <a:pPr algn="l"/>
            <a:r>
              <a:rPr sz="1100" b="1" i="0">
                <a:solidFill>
                  <a:srgbClr val="2B3A8F"/>
                </a:solidFill>
                <a:latin typeface="Aptos"/>
              </a:rPr>
              <a:t>DEPENDS ON</a:t>
            </a:r>
          </a:p>
        </p:txBody>
      </p:sp>
      <p:sp>
        <p:nvSpPr>
          <p:cNvPr id="13" name="TextBox 12"/>
          <p:cNvSpPr txBox="1"/>
          <p:nvPr/>
        </p:nvSpPr>
        <p:spPr>
          <a:xfrm>
            <a:off x="2148840" y="1938528"/>
            <a:ext cx="15544800" cy="329184"/>
          </a:xfrm>
          <a:prstGeom prst="rect">
            <a:avLst/>
          </a:prstGeom>
          <a:noFill/>
        </p:spPr>
        <p:txBody>
          <a:bodyPr wrap="square" lIns="0" rIns="0" tIns="0" bIns="0" anchor="ctr">
            <a:spAutoFit/>
          </a:bodyPr>
          <a:lstStyle/>
          <a:p>
            <a:pPr algn="l"/>
            <a:r>
              <a:rPr sz="1200" b="1" i="0">
                <a:solidFill>
                  <a:srgbClr val="171717"/>
                </a:solidFill>
                <a:latin typeface="Aptos"/>
              </a:rPr>
              <a:t>Specification builder output (F01)  ·  Contract format decision (Month 1)  ·  Source fields from source qualification (F04)  ·  Concept sets (F03)</a:t>
            </a:r>
          </a:p>
        </p:txBody>
      </p:sp>
      <p:sp>
        <p:nvSpPr>
          <p:cNvPr id="14" name="TextBox 13"/>
          <p:cNvSpPr txBox="1"/>
          <p:nvPr/>
        </p:nvSpPr>
        <p:spPr>
          <a:xfrm>
            <a:off x="521207" y="2660904"/>
            <a:ext cx="5029200" cy="182880"/>
          </a:xfrm>
          <a:prstGeom prst="rect">
            <a:avLst/>
          </a:prstGeom>
          <a:noFill/>
        </p:spPr>
        <p:txBody>
          <a:bodyPr wrap="square" lIns="0" rIns="0" tIns="0" bIns="0" anchor="t">
            <a:spAutoFit/>
          </a:bodyPr>
          <a:lstStyle/>
          <a:p>
            <a:pPr algn="l"/>
            <a:r>
              <a:rPr sz="1160" b="1" i="0">
                <a:solidFill>
                  <a:srgbClr val="2B3A8F"/>
                </a:solidFill>
                <a:latin typeface="Aptos"/>
              </a:rPr>
              <a:t>DELIVERABLE</a:t>
            </a:r>
          </a:p>
        </p:txBody>
      </p:sp>
      <p:sp>
        <p:nvSpPr>
          <p:cNvPr id="15" name="TextBox 14"/>
          <p:cNvSpPr txBox="1"/>
          <p:nvPr/>
        </p:nvSpPr>
        <p:spPr>
          <a:xfrm>
            <a:off x="5870448" y="2660904"/>
            <a:ext cx="2194560" cy="182880"/>
          </a:xfrm>
          <a:prstGeom prst="rect">
            <a:avLst/>
          </a:prstGeom>
          <a:noFill/>
        </p:spPr>
        <p:txBody>
          <a:bodyPr wrap="square" lIns="0" rIns="0" tIns="0" bIns="0" anchor="t">
            <a:spAutoFit/>
          </a:bodyPr>
          <a:lstStyle/>
          <a:p>
            <a:pPr algn="l"/>
            <a:r>
              <a:rPr sz="1000" b="1" i="0">
                <a:solidFill>
                  <a:srgbClr val="2B3A8F"/>
                </a:solidFill>
                <a:latin typeface="Aptos"/>
              </a:rPr>
              <a:t>AI ASSISTANCE</a:t>
            </a:r>
          </a:p>
        </p:txBody>
      </p:sp>
      <p:sp>
        <p:nvSpPr>
          <p:cNvPr id="16" name="Rectangle 15"/>
          <p:cNvSpPr/>
          <p:nvPr/>
        </p:nvSpPr>
        <p:spPr>
          <a:xfrm>
            <a:off x="8113471" y="2606040"/>
            <a:ext cx="4840833" cy="214884"/>
          </a:xfrm>
          <a:prstGeom prst="rect">
            <a:avLst/>
          </a:prstGeom>
          <a:solidFill>
            <a:srgbClr val="F1F1F1"/>
          </a:solidFill>
          <a:ln>
            <a:noFill/>
          </a:ln>
        </p:spPr>
        <p:txBody>
          <a:bodyPr rtlCol="0" anchor="ctr"/>
          <a:lstStyle/>
          <a:p>
            <a:pPr algn="ctr"/>
          </a:p>
        </p:txBody>
      </p:sp>
      <p:sp>
        <p:nvSpPr>
          <p:cNvPr id="17" name="TextBox 16"/>
          <p:cNvSpPr txBox="1"/>
          <p:nvPr/>
        </p:nvSpPr>
        <p:spPr>
          <a:xfrm>
            <a:off x="8113471" y="2606040"/>
            <a:ext cx="4840833" cy="214884"/>
          </a:xfrm>
          <a:prstGeom prst="rect">
            <a:avLst/>
          </a:prstGeom>
          <a:noFill/>
        </p:spPr>
        <p:txBody>
          <a:bodyPr wrap="square" lIns="0" rIns="0" tIns="0" bIns="0" anchor="ctr">
            <a:spAutoFit/>
          </a:bodyPr>
          <a:lstStyle/>
          <a:p>
            <a:pPr algn="ctr"/>
            <a:r>
              <a:rPr sz="1040" b="1" i="0">
                <a:solidFill>
                  <a:srgbClr val="2B2B2B"/>
                </a:solidFill>
                <a:latin typeface="Aptos"/>
              </a:rPr>
              <a:t>DESIGN + MAPPING</a:t>
            </a:r>
          </a:p>
        </p:txBody>
      </p:sp>
      <p:sp>
        <p:nvSpPr>
          <p:cNvPr id="18" name="Rectangle 17"/>
          <p:cNvSpPr/>
          <p:nvPr/>
        </p:nvSpPr>
        <p:spPr>
          <a:xfrm>
            <a:off x="12978079" y="2606040"/>
            <a:ext cx="4840833" cy="214884"/>
          </a:xfrm>
          <a:prstGeom prst="rect">
            <a:avLst/>
          </a:prstGeom>
          <a:solidFill>
            <a:srgbClr val="F1F1F1"/>
          </a:solidFill>
          <a:ln>
            <a:noFill/>
          </a:ln>
        </p:spPr>
        <p:txBody>
          <a:bodyPr rtlCol="0" anchor="ctr"/>
          <a:lstStyle/>
          <a:p>
            <a:pPr algn="ctr"/>
          </a:p>
        </p:txBody>
      </p:sp>
      <p:sp>
        <p:nvSpPr>
          <p:cNvPr id="19" name="TextBox 18"/>
          <p:cNvSpPr txBox="1"/>
          <p:nvPr/>
        </p:nvSpPr>
        <p:spPr>
          <a:xfrm>
            <a:off x="12978079" y="2606040"/>
            <a:ext cx="4840833" cy="214884"/>
          </a:xfrm>
          <a:prstGeom prst="rect">
            <a:avLst/>
          </a:prstGeom>
          <a:noFill/>
        </p:spPr>
        <p:txBody>
          <a:bodyPr wrap="square" lIns="0" rIns="0" tIns="0" bIns="0" anchor="ctr">
            <a:spAutoFit/>
          </a:bodyPr>
          <a:lstStyle/>
          <a:p>
            <a:pPr algn="ctr"/>
            <a:r>
              <a:rPr sz="1040" b="1" i="0">
                <a:solidFill>
                  <a:srgbClr val="2B2B2B"/>
                </a:solidFill>
                <a:latin typeface="Aptos"/>
              </a:rPr>
              <a:t>TRACEABILITY, READINESS + RELEASE</a:t>
            </a:r>
          </a:p>
        </p:txBody>
      </p:sp>
      <p:sp>
        <p:nvSpPr>
          <p:cNvPr id="20" name="TextBox 19"/>
          <p:cNvSpPr txBox="1"/>
          <p:nvPr/>
        </p:nvSpPr>
        <p:spPr>
          <a:xfrm>
            <a:off x="8101583" y="2862072"/>
            <a:ext cx="4864608" cy="182880"/>
          </a:xfrm>
          <a:prstGeom prst="rect">
            <a:avLst/>
          </a:prstGeom>
          <a:noFill/>
        </p:spPr>
        <p:txBody>
          <a:bodyPr wrap="square" lIns="0" rIns="0" tIns="0" bIns="0" anchor="t">
            <a:spAutoFit/>
          </a:bodyPr>
          <a:lstStyle/>
          <a:p>
            <a:pPr algn="ctr"/>
            <a:r>
              <a:rPr sz="1150" b="1" i="0">
                <a:solidFill>
                  <a:srgbClr val="171717"/>
                </a:solidFill>
                <a:latin typeface="Aptos"/>
              </a:rPr>
              <a:t>Month 2</a:t>
            </a:r>
          </a:p>
        </p:txBody>
      </p:sp>
      <p:sp>
        <p:nvSpPr>
          <p:cNvPr id="21" name="TextBox 20"/>
          <p:cNvSpPr txBox="1"/>
          <p:nvPr/>
        </p:nvSpPr>
        <p:spPr>
          <a:xfrm>
            <a:off x="12966192" y="2862072"/>
            <a:ext cx="4864608" cy="182880"/>
          </a:xfrm>
          <a:prstGeom prst="rect">
            <a:avLst/>
          </a:prstGeom>
          <a:noFill/>
        </p:spPr>
        <p:txBody>
          <a:bodyPr wrap="square" lIns="0" rIns="0" tIns="0" bIns="0" anchor="t">
            <a:spAutoFit/>
          </a:bodyPr>
          <a:lstStyle/>
          <a:p>
            <a:pPr algn="ctr"/>
            <a:r>
              <a:rPr sz="1150" b="1" i="0">
                <a:solidFill>
                  <a:srgbClr val="171717"/>
                </a:solidFill>
                <a:latin typeface="Aptos"/>
              </a:rPr>
              <a:t>Month 3</a:t>
            </a:r>
          </a:p>
        </p:txBody>
      </p:sp>
      <p:sp>
        <p:nvSpPr>
          <p:cNvPr id="22" name="Rectangle 21"/>
          <p:cNvSpPr/>
          <p:nvPr/>
        </p:nvSpPr>
        <p:spPr>
          <a:xfrm>
            <a:off x="8101583" y="3145536"/>
            <a:ext cx="4864608" cy="5907024"/>
          </a:xfrm>
          <a:prstGeom prst="rect">
            <a:avLst/>
          </a:prstGeom>
          <a:solidFill>
            <a:srgbClr val="FAFAFA"/>
          </a:solidFill>
          <a:ln>
            <a:noFill/>
          </a:ln>
        </p:spPr>
        <p:txBody>
          <a:bodyPr rtlCol="0" anchor="ctr"/>
          <a:lstStyle/>
          <a:p>
            <a:pPr algn="ctr"/>
          </a:p>
        </p:txBody>
      </p:sp>
      <p:cxnSp>
        <p:nvCxnSpPr>
          <p:cNvPr id="23" name="Connector 22"/>
          <p:cNvCxnSpPr/>
          <p:nvPr/>
        </p:nvCxnSpPr>
        <p:spPr>
          <a:xfrm>
            <a:off x="8101583" y="3145536"/>
            <a:ext cx="0" cy="5907024"/>
          </a:xfrm>
          <a:prstGeom prst="line">
            <a:avLst/>
          </a:prstGeom>
          <a:ln w="6350">
            <a:solidFill>
              <a:srgbClr val="E1E1E1"/>
            </a:solidFill>
          </a:ln>
        </p:spPr>
      </p:cxnSp>
      <p:cxnSp>
        <p:nvCxnSpPr>
          <p:cNvPr id="24" name="Connector 23"/>
          <p:cNvCxnSpPr/>
          <p:nvPr/>
        </p:nvCxnSpPr>
        <p:spPr>
          <a:xfrm>
            <a:off x="12966192" y="3145536"/>
            <a:ext cx="0" cy="5907024"/>
          </a:xfrm>
          <a:prstGeom prst="line">
            <a:avLst/>
          </a:prstGeom>
          <a:ln w="6350">
            <a:solidFill>
              <a:srgbClr val="E1E1E1"/>
            </a:solidFill>
          </a:ln>
        </p:spPr>
      </p:cxnSp>
      <p:cxnSp>
        <p:nvCxnSpPr>
          <p:cNvPr id="25" name="Connector 24"/>
          <p:cNvCxnSpPr/>
          <p:nvPr/>
        </p:nvCxnSpPr>
        <p:spPr>
          <a:xfrm>
            <a:off x="17830800" y="3145536"/>
            <a:ext cx="0" cy="5907024"/>
          </a:xfrm>
          <a:prstGeom prst="line">
            <a:avLst/>
          </a:prstGeom>
          <a:ln w="6350">
            <a:solidFill>
              <a:srgbClr val="E1E1E1"/>
            </a:solidFill>
          </a:ln>
        </p:spPr>
      </p:cxnSp>
      <p:sp>
        <p:nvSpPr>
          <p:cNvPr id="26" name="Rectangle 25"/>
          <p:cNvSpPr/>
          <p:nvPr/>
        </p:nvSpPr>
        <p:spPr>
          <a:xfrm>
            <a:off x="438912" y="3145536"/>
            <a:ext cx="17410176" cy="237744"/>
          </a:xfrm>
          <a:prstGeom prst="rect">
            <a:avLst/>
          </a:prstGeom>
          <a:solidFill>
            <a:srgbClr val="1B1F5C"/>
          </a:solidFill>
          <a:ln>
            <a:noFill/>
          </a:ln>
        </p:spPr>
        <p:txBody>
          <a:bodyPr rtlCol="0" anchor="ctr"/>
          <a:lstStyle/>
          <a:p>
            <a:pPr algn="ctr"/>
          </a:p>
        </p:txBody>
      </p:sp>
      <p:sp>
        <p:nvSpPr>
          <p:cNvPr id="27" name="Rectangle 26"/>
          <p:cNvSpPr/>
          <p:nvPr/>
        </p:nvSpPr>
        <p:spPr>
          <a:xfrm>
            <a:off x="438912" y="3145536"/>
            <a:ext cx="45720" cy="237744"/>
          </a:xfrm>
          <a:prstGeom prst="rect">
            <a:avLst/>
          </a:prstGeom>
          <a:solidFill>
            <a:srgbClr val="1B1F5C"/>
          </a:solidFill>
          <a:ln>
            <a:noFill/>
          </a:ln>
        </p:spPr>
        <p:txBody>
          <a:bodyPr rtlCol="0" anchor="ctr"/>
          <a:lstStyle/>
          <a:p>
            <a:pPr algn="ctr"/>
          </a:p>
        </p:txBody>
      </p:sp>
      <p:sp>
        <p:nvSpPr>
          <p:cNvPr id="28" name="TextBox 27"/>
          <p:cNvSpPr txBox="1"/>
          <p:nvPr/>
        </p:nvSpPr>
        <p:spPr>
          <a:xfrm>
            <a:off x="548640" y="3177540"/>
            <a:ext cx="7415783" cy="187452"/>
          </a:xfrm>
          <a:prstGeom prst="rect">
            <a:avLst/>
          </a:prstGeom>
          <a:noFill/>
        </p:spPr>
        <p:txBody>
          <a:bodyPr wrap="square" lIns="0" rIns="0" tIns="0" bIns="0" anchor="t">
            <a:spAutoFit/>
          </a:bodyPr>
          <a:lstStyle/>
          <a:p>
            <a:pPr algn="l"/>
            <a:r>
              <a:rPr sz="1120" b="1" i="0">
                <a:solidFill>
                  <a:srgbClr val="FFFFFF"/>
                </a:solidFill>
                <a:latin typeface="Aptos"/>
              </a:rPr>
              <a:t>A  CONTRACT DESIGN &amp; VARIABLE MAPPING</a:t>
            </a:r>
          </a:p>
        </p:txBody>
      </p:sp>
      <p:sp>
        <p:nvSpPr>
          <p:cNvPr id="29" name="TextBox 28"/>
          <p:cNvSpPr txBox="1"/>
          <p:nvPr/>
        </p:nvSpPr>
        <p:spPr>
          <a:xfrm>
            <a:off x="521207" y="3493236"/>
            <a:ext cx="566928" cy="182880"/>
          </a:xfrm>
          <a:prstGeom prst="rect">
            <a:avLst/>
          </a:prstGeom>
          <a:noFill/>
        </p:spPr>
        <p:txBody>
          <a:bodyPr wrap="square" lIns="0" rIns="0" tIns="0" bIns="0" anchor="t">
            <a:spAutoFit/>
          </a:bodyPr>
          <a:lstStyle/>
          <a:p>
            <a:pPr algn="l"/>
            <a:r>
              <a:rPr sz="1150" b="1" i="0">
                <a:solidFill>
                  <a:srgbClr val="2B3A8F"/>
                </a:solidFill>
                <a:latin typeface="Aptos"/>
              </a:rPr>
              <a:t>F02.1</a:t>
            </a:r>
          </a:p>
        </p:txBody>
      </p:sp>
      <p:sp>
        <p:nvSpPr>
          <p:cNvPr id="30" name="TextBox 29"/>
          <p:cNvSpPr txBox="1"/>
          <p:nvPr/>
        </p:nvSpPr>
        <p:spPr>
          <a:xfrm>
            <a:off x="1088136" y="3465804"/>
            <a:ext cx="4672583" cy="202996"/>
          </a:xfrm>
          <a:prstGeom prst="rect">
            <a:avLst/>
          </a:prstGeom>
          <a:noFill/>
        </p:spPr>
        <p:txBody>
          <a:bodyPr wrap="square" lIns="0" rIns="0" tIns="0" bIns="0" anchor="t">
            <a:spAutoFit/>
          </a:bodyPr>
          <a:lstStyle/>
          <a:p>
            <a:pPr algn="l"/>
            <a:r>
              <a:rPr sz="1440" b="1" i="0">
                <a:solidFill>
                  <a:srgbClr val="171717"/>
                </a:solidFill>
                <a:latin typeface="Aptos"/>
              </a:rPr>
              <a:t>Contract Standard &amp; Schema</a:t>
            </a:r>
          </a:p>
        </p:txBody>
      </p:sp>
      <p:sp>
        <p:nvSpPr>
          <p:cNvPr id="31" name="TextBox 30"/>
          <p:cNvSpPr txBox="1"/>
          <p:nvPr/>
        </p:nvSpPr>
        <p:spPr>
          <a:xfrm>
            <a:off x="1088136" y="3680688"/>
            <a:ext cx="4672583" cy="310896"/>
          </a:xfrm>
          <a:prstGeom prst="rect">
            <a:avLst/>
          </a:prstGeom>
          <a:noFill/>
        </p:spPr>
        <p:txBody>
          <a:bodyPr wrap="square" lIns="0" rIns="0" tIns="0" bIns="0" anchor="t">
            <a:spAutoFit/>
          </a:bodyPr>
          <a:lstStyle/>
          <a:p>
            <a:pPr algn="l"/>
            <a:r>
              <a:rPr sz="1000" b="0" i="0">
                <a:solidFill>
                  <a:srgbClr val="595959"/>
                </a:solidFill>
                <a:latin typeface="Aptos"/>
              </a:rPr>
              <a:t>Defines the required structure of every contract: population, index date, variables and their mapping type, endpoints and time windows</a:t>
            </a:r>
          </a:p>
        </p:txBody>
      </p:sp>
      <p:sp>
        <p:nvSpPr>
          <p:cNvPr id="32" name="Rectangle 31"/>
          <p:cNvSpPr/>
          <p:nvPr/>
        </p:nvSpPr>
        <p:spPr>
          <a:xfrm>
            <a:off x="8138159" y="3640455"/>
            <a:ext cx="2359152" cy="164592"/>
          </a:xfrm>
          <a:prstGeom prst="rect">
            <a:avLst/>
          </a:prstGeom>
          <a:solidFill>
            <a:srgbClr val="E4461E"/>
          </a:solidFill>
          <a:ln>
            <a:noFill/>
          </a:ln>
        </p:spPr>
        <p:txBody>
          <a:bodyPr rtlCol="0" anchor="ctr"/>
          <a:lstStyle/>
          <a:p>
            <a:pPr algn="ctr"/>
          </a:p>
        </p:txBody>
      </p:sp>
      <p:sp>
        <p:nvSpPr>
          <p:cNvPr id="33" name="Diamond 32"/>
          <p:cNvSpPr/>
          <p:nvPr/>
        </p:nvSpPr>
        <p:spPr>
          <a:xfrm>
            <a:off x="10442448" y="3670173"/>
            <a:ext cx="109728" cy="105156"/>
          </a:xfrm>
          <a:prstGeom prst="diamond">
            <a:avLst/>
          </a:prstGeom>
          <a:solidFill>
            <a:srgbClr val="171717"/>
          </a:solidFill>
          <a:ln>
            <a:noFill/>
          </a:ln>
        </p:spPr>
        <p:txBody>
          <a:bodyPr rtlCol="0" anchor="ctr"/>
          <a:lstStyle/>
          <a:p>
            <a:pPr algn="ctr"/>
          </a:p>
        </p:txBody>
      </p:sp>
      <p:cxnSp>
        <p:nvCxnSpPr>
          <p:cNvPr id="34" name="Connector 33"/>
          <p:cNvCxnSpPr/>
          <p:nvPr/>
        </p:nvCxnSpPr>
        <p:spPr>
          <a:xfrm>
            <a:off x="438912" y="4062222"/>
            <a:ext cx="17410176" cy="0"/>
          </a:xfrm>
          <a:prstGeom prst="line">
            <a:avLst/>
          </a:prstGeom>
          <a:ln w="6350">
            <a:solidFill>
              <a:srgbClr val="E1E1E1"/>
            </a:solidFill>
          </a:ln>
        </p:spPr>
      </p:cxnSp>
      <p:sp>
        <p:nvSpPr>
          <p:cNvPr id="35" name="TextBox 34"/>
          <p:cNvSpPr txBox="1"/>
          <p:nvPr/>
        </p:nvSpPr>
        <p:spPr>
          <a:xfrm>
            <a:off x="521207" y="4172178"/>
            <a:ext cx="566928" cy="182880"/>
          </a:xfrm>
          <a:prstGeom prst="rect">
            <a:avLst/>
          </a:prstGeom>
          <a:noFill/>
        </p:spPr>
        <p:txBody>
          <a:bodyPr wrap="square" lIns="0" rIns="0" tIns="0" bIns="0" anchor="t">
            <a:spAutoFit/>
          </a:bodyPr>
          <a:lstStyle/>
          <a:p>
            <a:pPr algn="l"/>
            <a:r>
              <a:rPr sz="1150" b="1" i="0">
                <a:solidFill>
                  <a:srgbClr val="2B3A8F"/>
                </a:solidFill>
                <a:latin typeface="Aptos"/>
              </a:rPr>
              <a:t>F02.2</a:t>
            </a:r>
          </a:p>
        </p:txBody>
      </p:sp>
      <p:sp>
        <p:nvSpPr>
          <p:cNvPr id="36" name="TextBox 35"/>
          <p:cNvSpPr txBox="1"/>
          <p:nvPr/>
        </p:nvSpPr>
        <p:spPr>
          <a:xfrm>
            <a:off x="1088136" y="4144746"/>
            <a:ext cx="4672583" cy="202996"/>
          </a:xfrm>
          <a:prstGeom prst="rect">
            <a:avLst/>
          </a:prstGeom>
          <a:noFill/>
        </p:spPr>
        <p:txBody>
          <a:bodyPr wrap="square" lIns="0" rIns="0" tIns="0" bIns="0" anchor="t">
            <a:spAutoFit/>
          </a:bodyPr>
          <a:lstStyle/>
          <a:p>
            <a:pPr algn="l"/>
            <a:r>
              <a:rPr sz="1440" b="1" i="0">
                <a:solidFill>
                  <a:srgbClr val="171717"/>
                </a:solidFill>
                <a:latin typeface="Aptos"/>
              </a:rPr>
              <a:t>Standard Variable Library</a:t>
            </a:r>
          </a:p>
        </p:txBody>
      </p:sp>
      <p:sp>
        <p:nvSpPr>
          <p:cNvPr id="37" name="TextBox 36"/>
          <p:cNvSpPr txBox="1"/>
          <p:nvPr/>
        </p:nvSpPr>
        <p:spPr>
          <a:xfrm>
            <a:off x="1088136" y="4359630"/>
            <a:ext cx="4672583" cy="310896"/>
          </a:xfrm>
          <a:prstGeom prst="rect">
            <a:avLst/>
          </a:prstGeom>
          <a:noFill/>
        </p:spPr>
        <p:txBody>
          <a:bodyPr wrap="square" lIns="0" rIns="0" tIns="0" bIns="0" anchor="t">
            <a:spAutoFit/>
          </a:bodyPr>
          <a:lstStyle/>
          <a:p>
            <a:pPr algn="l"/>
            <a:r>
              <a:rPr sz="1000" b="0" i="0">
                <a:solidFill>
                  <a:srgbClr val="595959"/>
                </a:solidFill>
                <a:latin typeface="Aptos"/>
              </a:rPr>
              <a:t>Master variable definitions with parameters, TA examples and citations; reviewers confirm each definition and default used</a:t>
            </a:r>
          </a:p>
        </p:txBody>
      </p:sp>
      <p:sp>
        <p:nvSpPr>
          <p:cNvPr id="38" name="TextBox 37"/>
          <p:cNvSpPr txBox="1"/>
          <p:nvPr/>
        </p:nvSpPr>
        <p:spPr>
          <a:xfrm>
            <a:off x="5870448" y="4089654"/>
            <a:ext cx="2176272" cy="624078"/>
          </a:xfrm>
          <a:prstGeom prst="rect">
            <a:avLst/>
          </a:prstGeom>
          <a:noFill/>
        </p:spPr>
        <p:txBody>
          <a:bodyPr wrap="square" lIns="0" rIns="0" tIns="0" bIns="0" anchor="ctr">
            <a:spAutoFit/>
          </a:bodyPr>
          <a:lstStyle/>
          <a:p>
            <a:pPr algn="l"/>
            <a:r>
              <a:rPr sz="1000" b="0" i="0">
                <a:solidFill>
                  <a:srgbClr val="2B3A8F"/>
                </a:solidFill>
                <a:latin typeface="Aptos"/>
              </a:rPr>
              <a:t>Recommends reusable variables per study</a:t>
            </a:r>
          </a:p>
        </p:txBody>
      </p:sp>
      <p:sp>
        <p:nvSpPr>
          <p:cNvPr id="39" name="Rectangle 38"/>
          <p:cNvSpPr/>
          <p:nvPr/>
        </p:nvSpPr>
        <p:spPr>
          <a:xfrm>
            <a:off x="9354311" y="4319397"/>
            <a:ext cx="4791456" cy="164592"/>
          </a:xfrm>
          <a:prstGeom prst="rect">
            <a:avLst/>
          </a:prstGeom>
          <a:solidFill>
            <a:srgbClr val="E4461E"/>
          </a:solidFill>
          <a:ln>
            <a:noFill/>
          </a:ln>
        </p:spPr>
        <p:txBody>
          <a:bodyPr rtlCol="0" anchor="ctr"/>
          <a:lstStyle/>
          <a:p>
            <a:pPr algn="ctr"/>
          </a:p>
        </p:txBody>
      </p:sp>
      <p:sp>
        <p:nvSpPr>
          <p:cNvPr id="40" name="Diamond 39"/>
          <p:cNvSpPr/>
          <p:nvPr/>
        </p:nvSpPr>
        <p:spPr>
          <a:xfrm>
            <a:off x="14090904" y="4349115"/>
            <a:ext cx="109728" cy="105156"/>
          </a:xfrm>
          <a:prstGeom prst="diamond">
            <a:avLst/>
          </a:prstGeom>
          <a:solidFill>
            <a:srgbClr val="171717"/>
          </a:solidFill>
          <a:ln>
            <a:noFill/>
          </a:ln>
        </p:spPr>
        <p:txBody>
          <a:bodyPr rtlCol="0" anchor="ctr"/>
          <a:lstStyle/>
          <a:p>
            <a:pPr algn="ctr"/>
          </a:p>
        </p:txBody>
      </p:sp>
      <p:cxnSp>
        <p:nvCxnSpPr>
          <p:cNvPr id="41" name="Connector 40"/>
          <p:cNvCxnSpPr/>
          <p:nvPr/>
        </p:nvCxnSpPr>
        <p:spPr>
          <a:xfrm>
            <a:off x="438912" y="4741164"/>
            <a:ext cx="17410176" cy="0"/>
          </a:xfrm>
          <a:prstGeom prst="line">
            <a:avLst/>
          </a:prstGeom>
          <a:ln w="6350">
            <a:solidFill>
              <a:srgbClr val="E1E1E1"/>
            </a:solidFill>
          </a:ln>
        </p:spPr>
      </p:cxnSp>
      <p:sp>
        <p:nvSpPr>
          <p:cNvPr id="42" name="TextBox 41"/>
          <p:cNvSpPr txBox="1"/>
          <p:nvPr/>
        </p:nvSpPr>
        <p:spPr>
          <a:xfrm>
            <a:off x="521207" y="4851120"/>
            <a:ext cx="566928" cy="182880"/>
          </a:xfrm>
          <a:prstGeom prst="rect">
            <a:avLst/>
          </a:prstGeom>
          <a:noFill/>
        </p:spPr>
        <p:txBody>
          <a:bodyPr wrap="square" lIns="0" rIns="0" tIns="0" bIns="0" anchor="t">
            <a:spAutoFit/>
          </a:bodyPr>
          <a:lstStyle/>
          <a:p>
            <a:pPr algn="l"/>
            <a:r>
              <a:rPr sz="1150" b="1" i="0">
                <a:solidFill>
                  <a:srgbClr val="2B3A8F"/>
                </a:solidFill>
                <a:latin typeface="Aptos"/>
              </a:rPr>
              <a:t>F02.3</a:t>
            </a:r>
          </a:p>
        </p:txBody>
      </p:sp>
      <p:sp>
        <p:nvSpPr>
          <p:cNvPr id="43" name="TextBox 42"/>
          <p:cNvSpPr txBox="1"/>
          <p:nvPr/>
        </p:nvSpPr>
        <p:spPr>
          <a:xfrm>
            <a:off x="1088136" y="4823688"/>
            <a:ext cx="4672583" cy="202996"/>
          </a:xfrm>
          <a:prstGeom prst="rect">
            <a:avLst/>
          </a:prstGeom>
          <a:noFill/>
        </p:spPr>
        <p:txBody>
          <a:bodyPr wrap="square" lIns="0" rIns="0" tIns="0" bIns="0" anchor="t">
            <a:spAutoFit/>
          </a:bodyPr>
          <a:lstStyle/>
          <a:p>
            <a:pPr algn="l"/>
            <a:r>
              <a:rPr sz="1440" b="1" i="0">
                <a:solidFill>
                  <a:srgbClr val="171717"/>
                </a:solidFill>
                <a:latin typeface="Aptos"/>
              </a:rPr>
              <a:t>Variable Mapping Specification</a:t>
            </a:r>
          </a:p>
        </p:txBody>
      </p:sp>
      <p:sp>
        <p:nvSpPr>
          <p:cNvPr id="44" name="TextBox 43"/>
          <p:cNvSpPr txBox="1"/>
          <p:nvPr/>
        </p:nvSpPr>
        <p:spPr>
          <a:xfrm>
            <a:off x="1088136" y="5038572"/>
            <a:ext cx="4672583" cy="310896"/>
          </a:xfrm>
          <a:prstGeom prst="rect">
            <a:avLst/>
          </a:prstGeom>
          <a:noFill/>
        </p:spPr>
        <p:txBody>
          <a:bodyPr wrap="square" lIns="0" rIns="0" tIns="0" bIns="0" anchor="t">
            <a:spAutoFit/>
          </a:bodyPr>
          <a:lstStyle/>
          <a:p>
            <a:pPr algn="l"/>
            <a:r>
              <a:rPr sz="1000" b="0" i="0">
                <a:solidFill>
                  <a:srgbClr val="595959"/>
                </a:solidFill>
                <a:latin typeface="Aptos"/>
              </a:rPr>
              <a:t>Each variable gets a mapping type (direct, derived, mixture, constant) and a readiness status (supported, pending, unavailable)</a:t>
            </a:r>
          </a:p>
        </p:txBody>
      </p:sp>
      <p:sp>
        <p:nvSpPr>
          <p:cNvPr id="45" name="TextBox 44"/>
          <p:cNvSpPr txBox="1"/>
          <p:nvPr/>
        </p:nvSpPr>
        <p:spPr>
          <a:xfrm>
            <a:off x="5870448" y="4768596"/>
            <a:ext cx="2176272" cy="624078"/>
          </a:xfrm>
          <a:prstGeom prst="rect">
            <a:avLst/>
          </a:prstGeom>
          <a:noFill/>
        </p:spPr>
        <p:txBody>
          <a:bodyPr wrap="square" lIns="0" rIns="0" tIns="0" bIns="0" anchor="ctr">
            <a:spAutoFit/>
          </a:bodyPr>
          <a:lstStyle/>
          <a:p>
            <a:pPr algn="l"/>
            <a:r>
              <a:rPr sz="1000" b="0" i="0">
                <a:solidFill>
                  <a:srgbClr val="2B3A8F"/>
                </a:solidFill>
                <a:latin typeface="Aptos"/>
              </a:rPr>
              <a:t>Proposes mapping type and candidate source fields for review</a:t>
            </a:r>
          </a:p>
        </p:txBody>
      </p:sp>
      <p:sp>
        <p:nvSpPr>
          <p:cNvPr id="46" name="Rectangle 45"/>
          <p:cNvSpPr/>
          <p:nvPr/>
        </p:nvSpPr>
        <p:spPr>
          <a:xfrm>
            <a:off x="10570463" y="4998339"/>
            <a:ext cx="4791456" cy="164592"/>
          </a:xfrm>
          <a:prstGeom prst="rect">
            <a:avLst/>
          </a:prstGeom>
          <a:solidFill>
            <a:srgbClr val="E4461E"/>
          </a:solidFill>
          <a:ln>
            <a:noFill/>
          </a:ln>
        </p:spPr>
        <p:txBody>
          <a:bodyPr rtlCol="0" anchor="ctr"/>
          <a:lstStyle/>
          <a:p>
            <a:pPr algn="ctr"/>
          </a:p>
        </p:txBody>
      </p:sp>
      <p:sp>
        <p:nvSpPr>
          <p:cNvPr id="47" name="Diamond 46"/>
          <p:cNvSpPr/>
          <p:nvPr/>
        </p:nvSpPr>
        <p:spPr>
          <a:xfrm>
            <a:off x="15307056" y="5028057"/>
            <a:ext cx="109728" cy="105156"/>
          </a:xfrm>
          <a:prstGeom prst="diamond">
            <a:avLst/>
          </a:prstGeom>
          <a:solidFill>
            <a:srgbClr val="171717"/>
          </a:solidFill>
          <a:ln>
            <a:noFill/>
          </a:ln>
        </p:spPr>
        <p:txBody>
          <a:bodyPr rtlCol="0" anchor="ctr"/>
          <a:lstStyle/>
          <a:p>
            <a:pPr algn="ctr"/>
          </a:p>
        </p:txBody>
      </p:sp>
      <p:cxnSp>
        <p:nvCxnSpPr>
          <p:cNvPr id="48" name="Connector 47"/>
          <p:cNvCxnSpPr/>
          <p:nvPr/>
        </p:nvCxnSpPr>
        <p:spPr>
          <a:xfrm>
            <a:off x="438912" y="5420106"/>
            <a:ext cx="17410176" cy="0"/>
          </a:xfrm>
          <a:prstGeom prst="line">
            <a:avLst/>
          </a:prstGeom>
          <a:ln w="6350">
            <a:solidFill>
              <a:srgbClr val="E1E1E1"/>
            </a:solidFill>
          </a:ln>
        </p:spPr>
      </p:cxnSp>
      <p:sp>
        <p:nvSpPr>
          <p:cNvPr id="49" name="TextBox 48"/>
          <p:cNvSpPr txBox="1"/>
          <p:nvPr/>
        </p:nvSpPr>
        <p:spPr>
          <a:xfrm>
            <a:off x="521207" y="5530062"/>
            <a:ext cx="566928" cy="182880"/>
          </a:xfrm>
          <a:prstGeom prst="rect">
            <a:avLst/>
          </a:prstGeom>
          <a:noFill/>
        </p:spPr>
        <p:txBody>
          <a:bodyPr wrap="square" lIns="0" rIns="0" tIns="0" bIns="0" anchor="t">
            <a:spAutoFit/>
          </a:bodyPr>
          <a:lstStyle/>
          <a:p>
            <a:pPr algn="l"/>
            <a:r>
              <a:rPr sz="1150" b="1" i="0">
                <a:solidFill>
                  <a:srgbClr val="2B3A8F"/>
                </a:solidFill>
                <a:latin typeface="Aptos"/>
              </a:rPr>
              <a:t>F02.4</a:t>
            </a:r>
          </a:p>
        </p:txBody>
      </p:sp>
      <p:sp>
        <p:nvSpPr>
          <p:cNvPr id="50" name="TextBox 49"/>
          <p:cNvSpPr txBox="1"/>
          <p:nvPr/>
        </p:nvSpPr>
        <p:spPr>
          <a:xfrm>
            <a:off x="1088136" y="5502630"/>
            <a:ext cx="4672583" cy="202996"/>
          </a:xfrm>
          <a:prstGeom prst="rect">
            <a:avLst/>
          </a:prstGeom>
          <a:noFill/>
        </p:spPr>
        <p:txBody>
          <a:bodyPr wrap="square" lIns="0" rIns="0" tIns="0" bIns="0" anchor="t">
            <a:spAutoFit/>
          </a:bodyPr>
          <a:lstStyle/>
          <a:p>
            <a:pPr algn="l"/>
            <a:r>
              <a:rPr sz="1440" b="1" i="0">
                <a:solidFill>
                  <a:srgbClr val="171717"/>
                </a:solidFill>
                <a:latin typeface="Aptos"/>
              </a:rPr>
              <a:t>Automated Specification Conversion</a:t>
            </a:r>
          </a:p>
        </p:txBody>
      </p:sp>
      <p:sp>
        <p:nvSpPr>
          <p:cNvPr id="51" name="TextBox 50"/>
          <p:cNvSpPr txBox="1"/>
          <p:nvPr/>
        </p:nvSpPr>
        <p:spPr>
          <a:xfrm>
            <a:off x="1088136" y="5717514"/>
            <a:ext cx="4672583" cy="310896"/>
          </a:xfrm>
          <a:prstGeom prst="rect">
            <a:avLst/>
          </a:prstGeom>
          <a:noFill/>
        </p:spPr>
        <p:txBody>
          <a:bodyPr wrap="square" lIns="0" rIns="0" tIns="0" bIns="0" anchor="t">
            <a:spAutoFit/>
          </a:bodyPr>
          <a:lstStyle/>
          <a:p>
            <a:pPr algn="l"/>
            <a:r>
              <a:rPr sz="1000" b="0" i="0">
                <a:solidFill>
                  <a:srgbClr val="595959"/>
                </a:solidFill>
                <a:latin typeface="Aptos"/>
              </a:rPr>
              <a:t>Supported specification fields convert automatically; ambiguities and unsupported rules are routed for review</a:t>
            </a:r>
          </a:p>
        </p:txBody>
      </p:sp>
      <p:sp>
        <p:nvSpPr>
          <p:cNvPr id="52" name="TextBox 51"/>
          <p:cNvSpPr txBox="1"/>
          <p:nvPr/>
        </p:nvSpPr>
        <p:spPr>
          <a:xfrm>
            <a:off x="5870448" y="5447538"/>
            <a:ext cx="2176272" cy="624078"/>
          </a:xfrm>
          <a:prstGeom prst="rect">
            <a:avLst/>
          </a:prstGeom>
          <a:noFill/>
        </p:spPr>
        <p:txBody>
          <a:bodyPr wrap="square" lIns="0" rIns="0" tIns="0" bIns="0" anchor="ctr">
            <a:spAutoFit/>
          </a:bodyPr>
          <a:lstStyle/>
          <a:p>
            <a:pPr algn="l"/>
            <a:r>
              <a:rPr sz="1000" b="0" i="0">
                <a:solidFill>
                  <a:srgbClr val="2B3A8F"/>
                </a:solidFill>
                <a:latin typeface="Aptos"/>
              </a:rPr>
              <a:t>Proposes structured parameters from free-text rules</a:t>
            </a:r>
          </a:p>
        </p:txBody>
      </p:sp>
      <p:sp>
        <p:nvSpPr>
          <p:cNvPr id="53" name="Rectangle 52"/>
          <p:cNvSpPr/>
          <p:nvPr/>
        </p:nvSpPr>
        <p:spPr>
          <a:xfrm>
            <a:off x="10570463" y="5677281"/>
            <a:ext cx="3575304" cy="164592"/>
          </a:xfrm>
          <a:prstGeom prst="rect">
            <a:avLst/>
          </a:prstGeom>
          <a:solidFill>
            <a:srgbClr val="E4461E"/>
          </a:solidFill>
          <a:ln>
            <a:noFill/>
          </a:ln>
        </p:spPr>
        <p:txBody>
          <a:bodyPr rtlCol="0" anchor="ctr"/>
          <a:lstStyle/>
          <a:p>
            <a:pPr algn="ctr"/>
          </a:p>
        </p:txBody>
      </p:sp>
      <p:sp>
        <p:nvSpPr>
          <p:cNvPr id="54" name="Diamond 53"/>
          <p:cNvSpPr/>
          <p:nvPr/>
        </p:nvSpPr>
        <p:spPr>
          <a:xfrm>
            <a:off x="14090904" y="5706999"/>
            <a:ext cx="109728" cy="105156"/>
          </a:xfrm>
          <a:prstGeom prst="diamond">
            <a:avLst/>
          </a:prstGeom>
          <a:solidFill>
            <a:srgbClr val="171717"/>
          </a:solidFill>
          <a:ln>
            <a:noFill/>
          </a:ln>
        </p:spPr>
        <p:txBody>
          <a:bodyPr rtlCol="0" anchor="ctr"/>
          <a:lstStyle/>
          <a:p>
            <a:pPr algn="ctr"/>
          </a:p>
        </p:txBody>
      </p:sp>
      <p:cxnSp>
        <p:nvCxnSpPr>
          <p:cNvPr id="55" name="Connector 54"/>
          <p:cNvCxnSpPr/>
          <p:nvPr/>
        </p:nvCxnSpPr>
        <p:spPr>
          <a:xfrm>
            <a:off x="438912" y="6099048"/>
            <a:ext cx="17410176" cy="0"/>
          </a:xfrm>
          <a:prstGeom prst="line">
            <a:avLst/>
          </a:prstGeom>
          <a:ln w="6350">
            <a:solidFill>
              <a:srgbClr val="E1E1E1"/>
            </a:solidFill>
          </a:ln>
        </p:spPr>
      </p:cxnSp>
      <p:sp>
        <p:nvSpPr>
          <p:cNvPr id="56" name="Rectangle 55"/>
          <p:cNvSpPr/>
          <p:nvPr/>
        </p:nvSpPr>
        <p:spPr>
          <a:xfrm>
            <a:off x="438912" y="6099048"/>
            <a:ext cx="17410176" cy="237744"/>
          </a:xfrm>
          <a:prstGeom prst="rect">
            <a:avLst/>
          </a:prstGeom>
          <a:solidFill>
            <a:srgbClr val="393F9E"/>
          </a:solidFill>
          <a:ln>
            <a:noFill/>
          </a:ln>
        </p:spPr>
        <p:txBody>
          <a:bodyPr rtlCol="0" anchor="ctr"/>
          <a:lstStyle/>
          <a:p>
            <a:pPr algn="ctr"/>
          </a:p>
        </p:txBody>
      </p:sp>
      <p:sp>
        <p:nvSpPr>
          <p:cNvPr id="57" name="Rectangle 56"/>
          <p:cNvSpPr/>
          <p:nvPr/>
        </p:nvSpPr>
        <p:spPr>
          <a:xfrm>
            <a:off x="438912" y="6099048"/>
            <a:ext cx="45720" cy="237744"/>
          </a:xfrm>
          <a:prstGeom prst="rect">
            <a:avLst/>
          </a:prstGeom>
          <a:solidFill>
            <a:srgbClr val="1B1F5C"/>
          </a:solidFill>
          <a:ln>
            <a:noFill/>
          </a:ln>
        </p:spPr>
        <p:txBody>
          <a:bodyPr rtlCol="0" anchor="ctr"/>
          <a:lstStyle/>
          <a:p>
            <a:pPr algn="ctr"/>
          </a:p>
        </p:txBody>
      </p:sp>
      <p:sp>
        <p:nvSpPr>
          <p:cNvPr id="58" name="TextBox 57"/>
          <p:cNvSpPr txBox="1"/>
          <p:nvPr/>
        </p:nvSpPr>
        <p:spPr>
          <a:xfrm>
            <a:off x="548640" y="6131052"/>
            <a:ext cx="7415783" cy="187452"/>
          </a:xfrm>
          <a:prstGeom prst="rect">
            <a:avLst/>
          </a:prstGeom>
          <a:noFill/>
        </p:spPr>
        <p:txBody>
          <a:bodyPr wrap="square" lIns="0" rIns="0" tIns="0" bIns="0" anchor="t">
            <a:spAutoFit/>
          </a:bodyPr>
          <a:lstStyle/>
          <a:p>
            <a:pPr algn="l"/>
            <a:r>
              <a:rPr sz="1120" b="1" i="0">
                <a:solidFill>
                  <a:srgbClr val="FFFFFF"/>
                </a:solidFill>
                <a:latin typeface="Aptos"/>
              </a:rPr>
              <a:t>B  TRACEABILITY, READINESS &amp; CHANGE CONTROL</a:t>
            </a:r>
          </a:p>
        </p:txBody>
      </p:sp>
      <p:sp>
        <p:nvSpPr>
          <p:cNvPr id="59" name="TextBox 58"/>
          <p:cNvSpPr txBox="1"/>
          <p:nvPr/>
        </p:nvSpPr>
        <p:spPr>
          <a:xfrm>
            <a:off x="521207" y="6446748"/>
            <a:ext cx="566928" cy="182880"/>
          </a:xfrm>
          <a:prstGeom prst="rect">
            <a:avLst/>
          </a:prstGeom>
          <a:noFill/>
        </p:spPr>
        <p:txBody>
          <a:bodyPr wrap="square" lIns="0" rIns="0" tIns="0" bIns="0" anchor="t">
            <a:spAutoFit/>
          </a:bodyPr>
          <a:lstStyle/>
          <a:p>
            <a:pPr algn="l"/>
            <a:r>
              <a:rPr sz="1150" b="1" i="0">
                <a:solidFill>
                  <a:srgbClr val="2B3A8F"/>
                </a:solidFill>
                <a:latin typeface="Aptos"/>
              </a:rPr>
              <a:t>F02.5</a:t>
            </a:r>
          </a:p>
        </p:txBody>
      </p:sp>
      <p:sp>
        <p:nvSpPr>
          <p:cNvPr id="60" name="TextBox 59"/>
          <p:cNvSpPr txBox="1"/>
          <p:nvPr/>
        </p:nvSpPr>
        <p:spPr>
          <a:xfrm>
            <a:off x="1088136" y="6419316"/>
            <a:ext cx="4672583" cy="202996"/>
          </a:xfrm>
          <a:prstGeom prst="rect">
            <a:avLst/>
          </a:prstGeom>
          <a:noFill/>
        </p:spPr>
        <p:txBody>
          <a:bodyPr wrap="square" lIns="0" rIns="0" tIns="0" bIns="0" anchor="t">
            <a:spAutoFit/>
          </a:bodyPr>
          <a:lstStyle/>
          <a:p>
            <a:pPr algn="l"/>
            <a:r>
              <a:rPr sz="1440" b="1" i="0">
                <a:solidFill>
                  <a:srgbClr val="171717"/>
                </a:solidFill>
                <a:latin typeface="Aptos"/>
              </a:rPr>
              <a:t>Specification Traceability</a:t>
            </a:r>
          </a:p>
        </p:txBody>
      </p:sp>
      <p:sp>
        <p:nvSpPr>
          <p:cNvPr id="61" name="TextBox 60"/>
          <p:cNvSpPr txBox="1"/>
          <p:nvPr/>
        </p:nvSpPr>
        <p:spPr>
          <a:xfrm>
            <a:off x="1088136" y="6634200"/>
            <a:ext cx="4672583" cy="310896"/>
          </a:xfrm>
          <a:prstGeom prst="rect">
            <a:avLst/>
          </a:prstGeom>
          <a:noFill/>
        </p:spPr>
        <p:txBody>
          <a:bodyPr wrap="square" lIns="0" rIns="0" tIns="0" bIns="0" anchor="t">
            <a:spAutoFit/>
          </a:bodyPr>
          <a:lstStyle/>
          <a:p>
            <a:pPr algn="l"/>
            <a:r>
              <a:rPr sz="1000" b="0" i="0">
                <a:solidFill>
                  <a:srgbClr val="595959"/>
                </a:solidFill>
                <a:latin typeface="Aptos"/>
              </a:rPr>
              <a:t>Links every contract element back to its specification line and protocol section for audit</a:t>
            </a:r>
          </a:p>
        </p:txBody>
      </p:sp>
      <p:sp>
        <p:nvSpPr>
          <p:cNvPr id="62" name="TextBox 61"/>
          <p:cNvSpPr txBox="1"/>
          <p:nvPr/>
        </p:nvSpPr>
        <p:spPr>
          <a:xfrm>
            <a:off x="5870448" y="6364224"/>
            <a:ext cx="2176272" cy="624078"/>
          </a:xfrm>
          <a:prstGeom prst="rect">
            <a:avLst/>
          </a:prstGeom>
          <a:noFill/>
        </p:spPr>
        <p:txBody>
          <a:bodyPr wrap="square" lIns="0" rIns="0" tIns="0" bIns="0" anchor="ctr">
            <a:spAutoFit/>
          </a:bodyPr>
          <a:lstStyle/>
          <a:p>
            <a:pPr algn="l"/>
            <a:r>
              <a:rPr sz="1000" b="0" i="0">
                <a:solidFill>
                  <a:srgbClr val="2B3A8F"/>
                </a:solidFill>
                <a:latin typeface="Aptos"/>
              </a:rPr>
              <a:t>Maps contract elements to protocol sections</a:t>
            </a:r>
          </a:p>
        </p:txBody>
      </p:sp>
      <p:sp>
        <p:nvSpPr>
          <p:cNvPr id="63" name="Rectangle 62"/>
          <p:cNvSpPr/>
          <p:nvPr/>
        </p:nvSpPr>
        <p:spPr>
          <a:xfrm>
            <a:off x="11786615" y="6593967"/>
            <a:ext cx="3575304" cy="164592"/>
          </a:xfrm>
          <a:prstGeom prst="rect">
            <a:avLst/>
          </a:prstGeom>
          <a:solidFill>
            <a:srgbClr val="E4461E"/>
          </a:solidFill>
          <a:ln>
            <a:noFill/>
          </a:ln>
        </p:spPr>
        <p:txBody>
          <a:bodyPr rtlCol="0" anchor="ctr"/>
          <a:lstStyle/>
          <a:p>
            <a:pPr algn="ctr"/>
          </a:p>
        </p:txBody>
      </p:sp>
      <p:sp>
        <p:nvSpPr>
          <p:cNvPr id="64" name="Diamond 63"/>
          <p:cNvSpPr/>
          <p:nvPr/>
        </p:nvSpPr>
        <p:spPr>
          <a:xfrm>
            <a:off x="15307056" y="6623684"/>
            <a:ext cx="109728" cy="105156"/>
          </a:xfrm>
          <a:prstGeom prst="diamond">
            <a:avLst/>
          </a:prstGeom>
          <a:solidFill>
            <a:srgbClr val="171717"/>
          </a:solidFill>
          <a:ln>
            <a:noFill/>
          </a:ln>
        </p:spPr>
        <p:txBody>
          <a:bodyPr rtlCol="0" anchor="ctr"/>
          <a:lstStyle/>
          <a:p>
            <a:pPr algn="ctr"/>
          </a:p>
        </p:txBody>
      </p:sp>
      <p:cxnSp>
        <p:nvCxnSpPr>
          <p:cNvPr id="65" name="Connector 64"/>
          <p:cNvCxnSpPr/>
          <p:nvPr/>
        </p:nvCxnSpPr>
        <p:spPr>
          <a:xfrm>
            <a:off x="438912" y="7015733"/>
            <a:ext cx="17410176" cy="0"/>
          </a:xfrm>
          <a:prstGeom prst="line">
            <a:avLst/>
          </a:prstGeom>
          <a:ln w="6350">
            <a:solidFill>
              <a:srgbClr val="E1E1E1"/>
            </a:solidFill>
          </a:ln>
        </p:spPr>
      </p:cxnSp>
      <p:sp>
        <p:nvSpPr>
          <p:cNvPr id="66" name="TextBox 65"/>
          <p:cNvSpPr txBox="1"/>
          <p:nvPr/>
        </p:nvSpPr>
        <p:spPr>
          <a:xfrm>
            <a:off x="521207" y="7125690"/>
            <a:ext cx="566928" cy="182880"/>
          </a:xfrm>
          <a:prstGeom prst="rect">
            <a:avLst/>
          </a:prstGeom>
          <a:noFill/>
        </p:spPr>
        <p:txBody>
          <a:bodyPr wrap="square" lIns="0" rIns="0" tIns="0" bIns="0" anchor="t">
            <a:spAutoFit/>
          </a:bodyPr>
          <a:lstStyle/>
          <a:p>
            <a:pPr algn="l"/>
            <a:r>
              <a:rPr sz="1150" b="1" i="0">
                <a:solidFill>
                  <a:srgbClr val="2B3A8F"/>
                </a:solidFill>
                <a:latin typeface="Aptos"/>
              </a:rPr>
              <a:t>F02.6</a:t>
            </a:r>
          </a:p>
        </p:txBody>
      </p:sp>
      <p:sp>
        <p:nvSpPr>
          <p:cNvPr id="67" name="TextBox 66"/>
          <p:cNvSpPr txBox="1"/>
          <p:nvPr/>
        </p:nvSpPr>
        <p:spPr>
          <a:xfrm>
            <a:off x="1088136" y="7098258"/>
            <a:ext cx="4672583" cy="202996"/>
          </a:xfrm>
          <a:prstGeom prst="rect">
            <a:avLst/>
          </a:prstGeom>
          <a:noFill/>
        </p:spPr>
        <p:txBody>
          <a:bodyPr wrap="square" lIns="0" rIns="0" tIns="0" bIns="0" anchor="t">
            <a:spAutoFit/>
          </a:bodyPr>
          <a:lstStyle/>
          <a:p>
            <a:pPr algn="l"/>
            <a:r>
              <a:rPr sz="1440" b="1" i="0">
                <a:solidFill>
                  <a:srgbClr val="171717"/>
                </a:solidFill>
                <a:latin typeface="Aptos"/>
              </a:rPr>
              <a:t>Contract Readiness Review</a:t>
            </a:r>
          </a:p>
        </p:txBody>
      </p:sp>
      <p:sp>
        <p:nvSpPr>
          <p:cNvPr id="68" name="TextBox 67"/>
          <p:cNvSpPr txBox="1"/>
          <p:nvPr/>
        </p:nvSpPr>
        <p:spPr>
          <a:xfrm>
            <a:off x="1088136" y="7313142"/>
            <a:ext cx="4672583" cy="310896"/>
          </a:xfrm>
          <a:prstGeom prst="rect">
            <a:avLst/>
          </a:prstGeom>
          <a:noFill/>
        </p:spPr>
        <p:txBody>
          <a:bodyPr wrap="square" lIns="0" rIns="0" tIns="0" bIns="0" anchor="t">
            <a:spAutoFit/>
          </a:bodyPr>
          <a:lstStyle/>
          <a:p>
            <a:pPr algn="l"/>
            <a:r>
              <a:rPr sz="1000" b="0" i="0">
                <a:solidFill>
                  <a:srgbClr val="595959"/>
                </a:solidFill>
                <a:latin typeface="Aptos"/>
              </a:rPr>
              <a:t>Four checks: structurally valid, scientifically reviewed, supported by available data, supported by the engine</a:t>
            </a:r>
          </a:p>
        </p:txBody>
      </p:sp>
      <p:sp>
        <p:nvSpPr>
          <p:cNvPr id="69" name="TextBox 68"/>
          <p:cNvSpPr txBox="1"/>
          <p:nvPr/>
        </p:nvSpPr>
        <p:spPr>
          <a:xfrm>
            <a:off x="5870448" y="7043166"/>
            <a:ext cx="2176272" cy="624078"/>
          </a:xfrm>
          <a:prstGeom prst="rect">
            <a:avLst/>
          </a:prstGeom>
          <a:noFill/>
        </p:spPr>
        <p:txBody>
          <a:bodyPr wrap="square" lIns="0" rIns="0" tIns="0" bIns="0" anchor="ctr">
            <a:spAutoFit/>
          </a:bodyPr>
          <a:lstStyle/>
          <a:p>
            <a:pPr algn="l"/>
            <a:r>
              <a:rPr sz="1000" b="0" i="0">
                <a:solidFill>
                  <a:srgbClr val="2B3A8F"/>
                </a:solidFill>
                <a:latin typeface="Aptos"/>
              </a:rPr>
              <a:t>Flags gaps and inconsistencies for reviewers</a:t>
            </a:r>
          </a:p>
        </p:txBody>
      </p:sp>
      <p:sp>
        <p:nvSpPr>
          <p:cNvPr id="70" name="Rectangle 69"/>
          <p:cNvSpPr/>
          <p:nvPr/>
        </p:nvSpPr>
        <p:spPr>
          <a:xfrm>
            <a:off x="13002767" y="7272908"/>
            <a:ext cx="3575304" cy="164592"/>
          </a:xfrm>
          <a:prstGeom prst="rect">
            <a:avLst/>
          </a:prstGeom>
          <a:solidFill>
            <a:srgbClr val="E4461E"/>
          </a:solidFill>
          <a:ln>
            <a:noFill/>
          </a:ln>
        </p:spPr>
        <p:txBody>
          <a:bodyPr rtlCol="0" anchor="ctr"/>
          <a:lstStyle/>
          <a:p>
            <a:pPr algn="ctr"/>
          </a:p>
        </p:txBody>
      </p:sp>
      <p:sp>
        <p:nvSpPr>
          <p:cNvPr id="71" name="Diamond 70"/>
          <p:cNvSpPr/>
          <p:nvPr/>
        </p:nvSpPr>
        <p:spPr>
          <a:xfrm>
            <a:off x="16523208" y="7302626"/>
            <a:ext cx="109728" cy="105156"/>
          </a:xfrm>
          <a:prstGeom prst="diamond">
            <a:avLst/>
          </a:prstGeom>
          <a:solidFill>
            <a:srgbClr val="171717"/>
          </a:solidFill>
          <a:ln>
            <a:noFill/>
          </a:ln>
        </p:spPr>
        <p:txBody>
          <a:bodyPr rtlCol="0" anchor="ctr"/>
          <a:lstStyle/>
          <a:p>
            <a:pPr algn="ctr"/>
          </a:p>
        </p:txBody>
      </p:sp>
      <p:cxnSp>
        <p:nvCxnSpPr>
          <p:cNvPr id="72" name="Connector 71"/>
          <p:cNvCxnSpPr/>
          <p:nvPr/>
        </p:nvCxnSpPr>
        <p:spPr>
          <a:xfrm>
            <a:off x="438912" y="7694675"/>
            <a:ext cx="17410176" cy="0"/>
          </a:xfrm>
          <a:prstGeom prst="line">
            <a:avLst/>
          </a:prstGeom>
          <a:ln w="6350">
            <a:solidFill>
              <a:srgbClr val="E1E1E1"/>
            </a:solidFill>
          </a:ln>
        </p:spPr>
      </p:cxnSp>
      <p:sp>
        <p:nvSpPr>
          <p:cNvPr id="73" name="TextBox 72"/>
          <p:cNvSpPr txBox="1"/>
          <p:nvPr/>
        </p:nvSpPr>
        <p:spPr>
          <a:xfrm>
            <a:off x="521207" y="7804632"/>
            <a:ext cx="566928" cy="182880"/>
          </a:xfrm>
          <a:prstGeom prst="rect">
            <a:avLst/>
          </a:prstGeom>
          <a:noFill/>
        </p:spPr>
        <p:txBody>
          <a:bodyPr wrap="square" lIns="0" rIns="0" tIns="0" bIns="0" anchor="t">
            <a:spAutoFit/>
          </a:bodyPr>
          <a:lstStyle/>
          <a:p>
            <a:pPr algn="l"/>
            <a:r>
              <a:rPr sz="1150" b="1" i="0">
                <a:solidFill>
                  <a:srgbClr val="2B3A8F"/>
                </a:solidFill>
                <a:latin typeface="Aptos"/>
              </a:rPr>
              <a:t>F02.7</a:t>
            </a:r>
          </a:p>
        </p:txBody>
      </p:sp>
      <p:sp>
        <p:nvSpPr>
          <p:cNvPr id="74" name="TextBox 73"/>
          <p:cNvSpPr txBox="1"/>
          <p:nvPr/>
        </p:nvSpPr>
        <p:spPr>
          <a:xfrm>
            <a:off x="1088136" y="7777200"/>
            <a:ext cx="4672583" cy="202996"/>
          </a:xfrm>
          <a:prstGeom prst="rect">
            <a:avLst/>
          </a:prstGeom>
          <a:noFill/>
        </p:spPr>
        <p:txBody>
          <a:bodyPr wrap="square" lIns="0" rIns="0" tIns="0" bIns="0" anchor="t">
            <a:spAutoFit/>
          </a:bodyPr>
          <a:lstStyle/>
          <a:p>
            <a:pPr algn="l"/>
            <a:r>
              <a:rPr sz="1440" b="1" i="0">
                <a:solidFill>
                  <a:srgbClr val="171717"/>
                </a:solidFill>
                <a:latin typeface="Aptos"/>
              </a:rPr>
              <a:t>Change Control &amp; Decision Log</a:t>
            </a:r>
          </a:p>
        </p:txBody>
      </p:sp>
      <p:sp>
        <p:nvSpPr>
          <p:cNvPr id="75" name="TextBox 74"/>
          <p:cNvSpPr txBox="1"/>
          <p:nvPr/>
        </p:nvSpPr>
        <p:spPr>
          <a:xfrm>
            <a:off x="1088136" y="7992084"/>
            <a:ext cx="4672583" cy="310896"/>
          </a:xfrm>
          <a:prstGeom prst="rect">
            <a:avLst/>
          </a:prstGeom>
          <a:noFill/>
        </p:spPr>
        <p:txBody>
          <a:bodyPr wrap="square" lIns="0" rIns="0" tIns="0" bIns="0" anchor="t">
            <a:spAutoFit/>
          </a:bodyPr>
          <a:lstStyle/>
          <a:p>
            <a:pPr algn="l"/>
            <a:r>
              <a:rPr sz="1000" b="0" i="0">
                <a:solidFill>
                  <a:srgbClr val="595959"/>
                </a:solidFill>
                <a:latin typeface="Aptos"/>
              </a:rPr>
              <a:t>Records every contract version, who drafted and accepted each definition, and clinical rulings with rationale</a:t>
            </a:r>
          </a:p>
        </p:txBody>
      </p:sp>
      <p:sp>
        <p:nvSpPr>
          <p:cNvPr id="76" name="TextBox 75"/>
          <p:cNvSpPr txBox="1"/>
          <p:nvPr/>
        </p:nvSpPr>
        <p:spPr>
          <a:xfrm>
            <a:off x="5870448" y="7722107"/>
            <a:ext cx="2176272" cy="624078"/>
          </a:xfrm>
          <a:prstGeom prst="rect">
            <a:avLst/>
          </a:prstGeom>
          <a:noFill/>
        </p:spPr>
        <p:txBody>
          <a:bodyPr wrap="square" lIns="0" rIns="0" tIns="0" bIns="0" anchor="ctr">
            <a:spAutoFit/>
          </a:bodyPr>
          <a:lstStyle/>
          <a:p>
            <a:pPr algn="l"/>
            <a:r>
              <a:rPr sz="1000" b="0" i="0">
                <a:solidFill>
                  <a:srgbClr val="2B3A8F"/>
                </a:solidFill>
                <a:latin typeface="Aptos"/>
              </a:rPr>
              <a:t>Summarizes changes for reviewers</a:t>
            </a:r>
          </a:p>
        </p:txBody>
      </p:sp>
      <p:sp>
        <p:nvSpPr>
          <p:cNvPr id="77" name="Rectangle 76"/>
          <p:cNvSpPr/>
          <p:nvPr/>
        </p:nvSpPr>
        <p:spPr>
          <a:xfrm>
            <a:off x="13002767" y="7951850"/>
            <a:ext cx="3575304" cy="164592"/>
          </a:xfrm>
          <a:prstGeom prst="rect">
            <a:avLst/>
          </a:prstGeom>
          <a:solidFill>
            <a:srgbClr val="E4461E"/>
          </a:solidFill>
          <a:ln>
            <a:noFill/>
          </a:ln>
        </p:spPr>
        <p:txBody>
          <a:bodyPr rtlCol="0" anchor="ctr"/>
          <a:lstStyle/>
          <a:p>
            <a:pPr algn="ctr"/>
          </a:p>
        </p:txBody>
      </p:sp>
      <p:sp>
        <p:nvSpPr>
          <p:cNvPr id="78" name="Diamond 77"/>
          <p:cNvSpPr/>
          <p:nvPr/>
        </p:nvSpPr>
        <p:spPr>
          <a:xfrm>
            <a:off x="16523208" y="7981569"/>
            <a:ext cx="109728" cy="105156"/>
          </a:xfrm>
          <a:prstGeom prst="diamond">
            <a:avLst/>
          </a:prstGeom>
          <a:solidFill>
            <a:srgbClr val="171717"/>
          </a:solidFill>
          <a:ln>
            <a:noFill/>
          </a:ln>
        </p:spPr>
        <p:txBody>
          <a:bodyPr rtlCol="0" anchor="ctr"/>
          <a:lstStyle/>
          <a:p>
            <a:pPr algn="ctr"/>
          </a:p>
        </p:txBody>
      </p:sp>
      <p:cxnSp>
        <p:nvCxnSpPr>
          <p:cNvPr id="79" name="Connector 78"/>
          <p:cNvCxnSpPr/>
          <p:nvPr/>
        </p:nvCxnSpPr>
        <p:spPr>
          <a:xfrm>
            <a:off x="438912" y="8373617"/>
            <a:ext cx="17410176" cy="0"/>
          </a:xfrm>
          <a:prstGeom prst="line">
            <a:avLst/>
          </a:prstGeom>
          <a:ln w="6350">
            <a:solidFill>
              <a:srgbClr val="E1E1E1"/>
            </a:solidFill>
          </a:ln>
        </p:spPr>
      </p:cxnSp>
      <p:sp>
        <p:nvSpPr>
          <p:cNvPr id="80" name="TextBox 79"/>
          <p:cNvSpPr txBox="1"/>
          <p:nvPr/>
        </p:nvSpPr>
        <p:spPr>
          <a:xfrm>
            <a:off x="521207" y="8483574"/>
            <a:ext cx="566928" cy="182880"/>
          </a:xfrm>
          <a:prstGeom prst="rect">
            <a:avLst/>
          </a:prstGeom>
          <a:noFill/>
        </p:spPr>
        <p:txBody>
          <a:bodyPr wrap="square" lIns="0" rIns="0" tIns="0" bIns="0" anchor="t">
            <a:spAutoFit/>
          </a:bodyPr>
          <a:lstStyle/>
          <a:p>
            <a:pPr algn="l"/>
            <a:r>
              <a:rPr sz="1150" b="1" i="0">
                <a:solidFill>
                  <a:srgbClr val="2B3A8F"/>
                </a:solidFill>
                <a:latin typeface="Aptos"/>
              </a:rPr>
              <a:t>F02.8</a:t>
            </a:r>
          </a:p>
        </p:txBody>
      </p:sp>
      <p:sp>
        <p:nvSpPr>
          <p:cNvPr id="81" name="TextBox 80"/>
          <p:cNvSpPr txBox="1"/>
          <p:nvPr/>
        </p:nvSpPr>
        <p:spPr>
          <a:xfrm>
            <a:off x="1088136" y="8456142"/>
            <a:ext cx="4672583" cy="202996"/>
          </a:xfrm>
          <a:prstGeom prst="rect">
            <a:avLst/>
          </a:prstGeom>
          <a:noFill/>
        </p:spPr>
        <p:txBody>
          <a:bodyPr wrap="square" lIns="0" rIns="0" tIns="0" bIns="0" anchor="t">
            <a:spAutoFit/>
          </a:bodyPr>
          <a:lstStyle/>
          <a:p>
            <a:pPr algn="l"/>
            <a:r>
              <a:rPr sz="1440" b="1" i="0">
                <a:solidFill>
                  <a:srgbClr val="171717"/>
                </a:solidFill>
                <a:latin typeface="Aptos"/>
              </a:rPr>
              <a:t>Pilot Contract Definitions</a:t>
            </a:r>
          </a:p>
        </p:txBody>
      </p:sp>
      <p:sp>
        <p:nvSpPr>
          <p:cNvPr id="82" name="TextBox 81"/>
          <p:cNvSpPr txBox="1"/>
          <p:nvPr/>
        </p:nvSpPr>
        <p:spPr>
          <a:xfrm>
            <a:off x="1088136" y="8671026"/>
            <a:ext cx="4672583" cy="310896"/>
          </a:xfrm>
          <a:prstGeom prst="rect">
            <a:avLst/>
          </a:prstGeom>
          <a:noFill/>
        </p:spPr>
        <p:txBody>
          <a:bodyPr wrap="square" lIns="0" rIns="0" tIns="0" bIns="0" anchor="t">
            <a:spAutoFit/>
          </a:bodyPr>
          <a:lstStyle/>
          <a:p>
            <a:pPr algn="l"/>
            <a:r>
              <a:rPr sz="1000" b="0" i="0">
                <a:solidFill>
                  <a:srgbClr val="595959"/>
                </a:solidFill>
                <a:latin typeface="Aptos"/>
              </a:rPr>
              <a:t>Definition-complete contracts for the initial use cases; every variable has a documented mapping disposition</a:t>
            </a:r>
          </a:p>
        </p:txBody>
      </p:sp>
      <p:sp>
        <p:nvSpPr>
          <p:cNvPr id="83" name="Rectangle 82"/>
          <p:cNvSpPr/>
          <p:nvPr/>
        </p:nvSpPr>
        <p:spPr>
          <a:xfrm>
            <a:off x="15435072" y="8630792"/>
            <a:ext cx="2359152" cy="164592"/>
          </a:xfrm>
          <a:prstGeom prst="rect">
            <a:avLst/>
          </a:prstGeom>
          <a:solidFill>
            <a:srgbClr val="E4461E"/>
          </a:solidFill>
          <a:ln>
            <a:noFill/>
          </a:ln>
        </p:spPr>
        <p:txBody>
          <a:bodyPr rtlCol="0" anchor="ctr"/>
          <a:lstStyle/>
          <a:p>
            <a:pPr algn="ctr"/>
          </a:p>
        </p:txBody>
      </p:sp>
      <p:sp>
        <p:nvSpPr>
          <p:cNvPr id="84" name="Diamond 83"/>
          <p:cNvSpPr/>
          <p:nvPr/>
        </p:nvSpPr>
        <p:spPr>
          <a:xfrm>
            <a:off x="17739360" y="8660511"/>
            <a:ext cx="109728" cy="105156"/>
          </a:xfrm>
          <a:prstGeom prst="diamond">
            <a:avLst/>
          </a:prstGeom>
          <a:solidFill>
            <a:srgbClr val="171717"/>
          </a:solidFill>
          <a:ln>
            <a:noFill/>
          </a:ln>
        </p:spPr>
        <p:txBody>
          <a:bodyPr rtlCol="0" anchor="ctr"/>
          <a:lstStyle/>
          <a:p>
            <a:pPr algn="ctr"/>
          </a:p>
        </p:txBody>
      </p:sp>
      <p:cxnSp>
        <p:nvCxnSpPr>
          <p:cNvPr id="85" name="Connector 84"/>
          <p:cNvCxnSpPr/>
          <p:nvPr/>
        </p:nvCxnSpPr>
        <p:spPr>
          <a:xfrm>
            <a:off x="438912" y="9052559"/>
            <a:ext cx="17410176" cy="0"/>
          </a:xfrm>
          <a:prstGeom prst="line">
            <a:avLst/>
          </a:prstGeom>
          <a:ln w="6350">
            <a:solidFill>
              <a:srgbClr val="E1E1E1"/>
            </a:solidFill>
          </a:ln>
        </p:spPr>
      </p:cxnSp>
      <p:sp>
        <p:nvSpPr>
          <p:cNvPr id="86" name="TextBox 85"/>
          <p:cNvSpPr txBox="1"/>
          <p:nvPr/>
        </p:nvSpPr>
        <p:spPr>
          <a:xfrm>
            <a:off x="438912" y="9198864"/>
            <a:ext cx="17410176" cy="182880"/>
          </a:xfrm>
          <a:prstGeom prst="rect">
            <a:avLst/>
          </a:prstGeom>
          <a:noFill/>
        </p:spPr>
        <p:txBody>
          <a:bodyPr wrap="square" lIns="0" rIns="0" tIns="0" bIns="0" anchor="t">
            <a:spAutoFit/>
          </a:bodyPr>
          <a:lstStyle/>
          <a:p>
            <a:pPr algn="ctr"/>
            <a:r>
              <a:rPr sz="1080" b="1" i="0">
                <a:solidFill>
                  <a:srgbClr val="2B3A8F"/>
                </a:solidFill>
                <a:latin typeface="Aptos"/>
              </a:rPr>
              <a:t>ACCEPTANCE GATES  |  WORKSTREAMS RUN IN PARALLEL; GATES CONTROL USE OF APPROVED INPUTS AND PROMOTION OF RELEASES</a:t>
            </a:r>
          </a:p>
        </p:txBody>
      </p:sp>
      <p:sp>
        <p:nvSpPr>
          <p:cNvPr id="87" name="Rectangle 86"/>
          <p:cNvSpPr/>
          <p:nvPr/>
        </p:nvSpPr>
        <p:spPr>
          <a:xfrm>
            <a:off x="438912" y="9464040"/>
            <a:ext cx="5730240" cy="566928"/>
          </a:xfrm>
          <a:prstGeom prst="rect">
            <a:avLst/>
          </a:prstGeom>
          <a:solidFill>
            <a:srgbClr val="F6F6F6"/>
          </a:solidFill>
          <a:ln>
            <a:noFill/>
          </a:ln>
        </p:spPr>
        <p:txBody>
          <a:bodyPr rtlCol="0" anchor="ctr"/>
          <a:lstStyle/>
          <a:p>
            <a:pPr algn="ctr"/>
          </a:p>
        </p:txBody>
      </p:sp>
      <p:sp>
        <p:nvSpPr>
          <p:cNvPr id="88" name="Rectangle 87"/>
          <p:cNvSpPr/>
          <p:nvPr/>
        </p:nvSpPr>
        <p:spPr>
          <a:xfrm>
            <a:off x="438912" y="9464040"/>
            <a:ext cx="47548" cy="566928"/>
          </a:xfrm>
          <a:prstGeom prst="rect">
            <a:avLst/>
          </a:prstGeom>
          <a:solidFill>
            <a:srgbClr val="1B1F5C"/>
          </a:solidFill>
          <a:ln>
            <a:noFill/>
          </a:ln>
        </p:spPr>
        <p:txBody>
          <a:bodyPr rtlCol="0" anchor="ctr"/>
          <a:lstStyle/>
          <a:p>
            <a:pPr algn="ctr"/>
          </a:p>
        </p:txBody>
      </p:sp>
      <p:sp>
        <p:nvSpPr>
          <p:cNvPr id="89" name="TextBox 88"/>
          <p:cNvSpPr txBox="1"/>
          <p:nvPr/>
        </p:nvSpPr>
        <p:spPr>
          <a:xfrm>
            <a:off x="548640"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MID MONTH 2 · STANDARD APPROVED</a:t>
            </a:r>
          </a:p>
        </p:txBody>
      </p:sp>
      <p:sp>
        <p:nvSpPr>
          <p:cNvPr id="90" name="TextBox 89"/>
          <p:cNvSpPr txBox="1"/>
          <p:nvPr/>
        </p:nvSpPr>
        <p:spPr>
          <a:xfrm>
            <a:off x="548640"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Contract structure and mapping types signed off</a:t>
            </a:r>
          </a:p>
        </p:txBody>
      </p:sp>
      <p:sp>
        <p:nvSpPr>
          <p:cNvPr id="91" name="Rectangle 90"/>
          <p:cNvSpPr/>
          <p:nvPr/>
        </p:nvSpPr>
        <p:spPr>
          <a:xfrm>
            <a:off x="6278880" y="9464040"/>
            <a:ext cx="5730240" cy="566928"/>
          </a:xfrm>
          <a:prstGeom prst="rect">
            <a:avLst/>
          </a:prstGeom>
          <a:solidFill>
            <a:srgbClr val="F6F6F6"/>
          </a:solidFill>
          <a:ln>
            <a:noFill/>
          </a:ln>
        </p:spPr>
        <p:txBody>
          <a:bodyPr rtlCol="0" anchor="ctr"/>
          <a:lstStyle/>
          <a:p>
            <a:pPr algn="ctr"/>
          </a:p>
        </p:txBody>
      </p:sp>
      <p:sp>
        <p:nvSpPr>
          <p:cNvPr id="92" name="Rectangle 91"/>
          <p:cNvSpPr/>
          <p:nvPr/>
        </p:nvSpPr>
        <p:spPr>
          <a:xfrm>
            <a:off x="6278880" y="9464040"/>
            <a:ext cx="47548" cy="566928"/>
          </a:xfrm>
          <a:prstGeom prst="rect">
            <a:avLst/>
          </a:prstGeom>
          <a:solidFill>
            <a:srgbClr val="1B1F5C"/>
          </a:solidFill>
          <a:ln>
            <a:noFill/>
          </a:ln>
        </p:spPr>
        <p:txBody>
          <a:bodyPr rtlCol="0" anchor="ctr"/>
          <a:lstStyle/>
          <a:p>
            <a:pPr algn="ctr"/>
          </a:p>
        </p:txBody>
      </p:sp>
      <p:sp>
        <p:nvSpPr>
          <p:cNvPr id="93" name="TextBox 92"/>
          <p:cNvSpPr txBox="1"/>
          <p:nvPr/>
        </p:nvSpPr>
        <p:spPr>
          <a:xfrm>
            <a:off x="6388608"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EARLY MONTH 3 · CONVERSION OPERATIONAL</a:t>
            </a:r>
          </a:p>
        </p:txBody>
      </p:sp>
      <p:sp>
        <p:nvSpPr>
          <p:cNvPr id="94" name="TextBox 93"/>
          <p:cNvSpPr txBox="1"/>
          <p:nvPr/>
        </p:nvSpPr>
        <p:spPr>
          <a:xfrm>
            <a:off x="6388608"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Supported fields convert; ambiguities routed for review</a:t>
            </a:r>
          </a:p>
        </p:txBody>
      </p:sp>
      <p:sp>
        <p:nvSpPr>
          <p:cNvPr id="95" name="Rectangle 94"/>
          <p:cNvSpPr/>
          <p:nvPr/>
        </p:nvSpPr>
        <p:spPr>
          <a:xfrm>
            <a:off x="12118848" y="9464040"/>
            <a:ext cx="5730240" cy="566928"/>
          </a:xfrm>
          <a:prstGeom prst="rect">
            <a:avLst/>
          </a:prstGeom>
          <a:solidFill>
            <a:srgbClr val="F6F6F6"/>
          </a:solidFill>
          <a:ln>
            <a:noFill/>
          </a:ln>
        </p:spPr>
        <p:txBody>
          <a:bodyPr rtlCol="0" anchor="ctr"/>
          <a:lstStyle/>
          <a:p>
            <a:pPr algn="ctr"/>
          </a:p>
        </p:txBody>
      </p:sp>
      <p:sp>
        <p:nvSpPr>
          <p:cNvPr id="96" name="Rectangle 95"/>
          <p:cNvSpPr/>
          <p:nvPr/>
        </p:nvSpPr>
        <p:spPr>
          <a:xfrm>
            <a:off x="12118848" y="9464040"/>
            <a:ext cx="47548" cy="566928"/>
          </a:xfrm>
          <a:prstGeom prst="rect">
            <a:avLst/>
          </a:prstGeom>
          <a:solidFill>
            <a:srgbClr val="1B1F5C"/>
          </a:solidFill>
          <a:ln>
            <a:noFill/>
          </a:ln>
        </p:spPr>
        <p:txBody>
          <a:bodyPr rtlCol="0" anchor="ctr"/>
          <a:lstStyle/>
          <a:p>
            <a:pPr algn="ctr"/>
          </a:p>
        </p:txBody>
      </p:sp>
      <p:sp>
        <p:nvSpPr>
          <p:cNvPr id="97" name="TextBox 96"/>
          <p:cNvSpPr txBox="1"/>
          <p:nvPr/>
        </p:nvSpPr>
        <p:spPr>
          <a:xfrm>
            <a:off x="12228576"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END OF MONTH 3 · PILOT DEFINITIONS COMPLETE</a:t>
            </a:r>
          </a:p>
        </p:txBody>
      </p:sp>
      <p:sp>
        <p:nvSpPr>
          <p:cNvPr id="98" name="TextBox 97"/>
          <p:cNvSpPr txBox="1"/>
          <p:nvPr/>
        </p:nvSpPr>
        <p:spPr>
          <a:xfrm>
            <a:off x="12228576"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Source and capability dependencies identified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38912" y="365760"/>
            <a:ext cx="12801600" cy="210312"/>
          </a:xfrm>
          <a:prstGeom prst="rect">
            <a:avLst/>
          </a:prstGeom>
          <a:noFill/>
        </p:spPr>
        <p:txBody>
          <a:bodyPr wrap="square" lIns="0" rIns="0" tIns="0" bIns="0" anchor="t">
            <a:spAutoFit/>
          </a:bodyPr>
          <a:lstStyle/>
          <a:p>
            <a:pPr algn="l"/>
            <a:r>
              <a:rPr sz="1150" b="1" i="0">
                <a:solidFill>
                  <a:srgbClr val="2B3A8F"/>
                </a:solidFill>
                <a:latin typeface="Aptos"/>
              </a:rPr>
              <a:t>RWDPLATFORM  /  GOVERNED ANALYTICS DELIVERY</a:t>
            </a:r>
          </a:p>
        </p:txBody>
      </p:sp>
      <p:sp>
        <p:nvSpPr>
          <p:cNvPr id="4" name="TextBox 3"/>
          <p:cNvSpPr txBox="1"/>
          <p:nvPr/>
        </p:nvSpPr>
        <p:spPr>
          <a:xfrm>
            <a:off x="438912" y="694944"/>
            <a:ext cx="14904720" cy="438912"/>
          </a:xfrm>
          <a:prstGeom prst="rect">
            <a:avLst/>
          </a:prstGeom>
          <a:noFill/>
        </p:spPr>
        <p:txBody>
          <a:bodyPr wrap="square" lIns="0" rIns="0" tIns="0" bIns="0" anchor="ctr">
            <a:spAutoFit/>
          </a:bodyPr>
          <a:lstStyle/>
          <a:p>
            <a:pPr algn="l"/>
            <a:r>
              <a:rPr sz="2980" b="1" i="0">
                <a:solidFill>
                  <a:srgbClr val="2B3A8F"/>
                </a:solidFill>
                <a:latin typeface="Aptos"/>
              </a:rPr>
              <a:t>F05 | Analysis Dataset Engine</a:t>
            </a:r>
          </a:p>
        </p:txBody>
      </p:sp>
      <p:sp>
        <p:nvSpPr>
          <p:cNvPr id="5" name="Rectangle 4"/>
          <p:cNvSpPr/>
          <p:nvPr/>
        </p:nvSpPr>
        <p:spPr>
          <a:xfrm>
            <a:off x="15563088" y="621792"/>
            <a:ext cx="2276856" cy="457200"/>
          </a:xfrm>
          <a:prstGeom prst="rect">
            <a:avLst/>
          </a:prstGeom>
          <a:solidFill>
            <a:srgbClr val="ECECF6"/>
          </a:solidFill>
          <a:ln>
            <a:noFill/>
          </a:ln>
        </p:spPr>
        <p:txBody>
          <a:bodyPr rtlCol="0" anchor="ctr"/>
          <a:lstStyle/>
          <a:p>
            <a:pPr algn="ctr"/>
          </a:p>
        </p:txBody>
      </p:sp>
      <p:sp>
        <p:nvSpPr>
          <p:cNvPr id="6" name="TextBox 5"/>
          <p:cNvSpPr txBox="1"/>
          <p:nvPr/>
        </p:nvSpPr>
        <p:spPr>
          <a:xfrm>
            <a:off x="15563088" y="621792"/>
            <a:ext cx="2276856" cy="457200"/>
          </a:xfrm>
          <a:prstGeom prst="rect">
            <a:avLst/>
          </a:prstGeom>
          <a:noFill/>
        </p:spPr>
        <p:txBody>
          <a:bodyPr wrap="square" lIns="0" rIns="0" tIns="0" bIns="0" anchor="ctr">
            <a:spAutoFit/>
          </a:bodyPr>
          <a:lstStyle/>
          <a:p>
            <a:pPr algn="ctr"/>
            <a:r>
              <a:rPr sz="1200" b="1" i="0">
                <a:solidFill>
                  <a:srgbClr val="171717"/>
                </a:solidFill>
                <a:latin typeface="Aptos"/>
              </a:rPr>
              <a:t>F05 · Months 3–5</a:t>
            </a:r>
          </a:p>
        </p:txBody>
      </p:sp>
      <p:sp>
        <p:nvSpPr>
          <p:cNvPr id="7" name="TextBox 6"/>
          <p:cNvSpPr txBox="1"/>
          <p:nvPr/>
        </p:nvSpPr>
        <p:spPr>
          <a:xfrm>
            <a:off x="438912" y="1170432"/>
            <a:ext cx="17373600" cy="246888"/>
          </a:xfrm>
          <a:prstGeom prst="rect">
            <a:avLst/>
          </a:prstGeom>
          <a:noFill/>
        </p:spPr>
        <p:txBody>
          <a:bodyPr wrap="square" lIns="0" rIns="0" tIns="0" bIns="0" anchor="t">
            <a:spAutoFit/>
          </a:bodyPr>
          <a:lstStyle/>
          <a:p>
            <a:pPr algn="l"/>
            <a:r>
              <a:rPr sz="1400" b="0" i="0">
                <a:solidFill>
                  <a:srgbClr val="595959"/>
                </a:solidFill>
                <a:latin typeface="Aptos"/>
              </a:rPr>
              <a:t>Config-driven: approved clinical rules are implemented on qualified sources, assembled into reusable products and study datasets, and verified patient by patient.</a:t>
            </a:r>
          </a:p>
        </p:txBody>
      </p:sp>
      <p:sp>
        <p:nvSpPr>
          <p:cNvPr id="8" name="Rectangle 7"/>
          <p:cNvSpPr/>
          <p:nvPr/>
        </p:nvSpPr>
        <p:spPr>
          <a:xfrm>
            <a:off x="438912" y="1554480"/>
            <a:ext cx="17410176" cy="329184"/>
          </a:xfrm>
          <a:prstGeom prst="rect">
            <a:avLst/>
          </a:prstGeom>
          <a:solidFill>
            <a:srgbClr val="ECECF6"/>
          </a:solidFill>
          <a:ln>
            <a:noFill/>
          </a:ln>
        </p:spPr>
        <p:txBody>
          <a:bodyPr rtlCol="0" anchor="ctr"/>
          <a:lstStyle/>
          <a:p>
            <a:pPr algn="ctr"/>
          </a:p>
        </p:txBody>
      </p:sp>
      <p:sp>
        <p:nvSpPr>
          <p:cNvPr id="9" name="TextBox 8"/>
          <p:cNvSpPr txBox="1"/>
          <p:nvPr/>
        </p:nvSpPr>
        <p:spPr>
          <a:xfrm>
            <a:off x="566928" y="1554480"/>
            <a:ext cx="1554480" cy="329184"/>
          </a:xfrm>
          <a:prstGeom prst="rect">
            <a:avLst/>
          </a:prstGeom>
          <a:noFill/>
        </p:spPr>
        <p:txBody>
          <a:bodyPr wrap="square" lIns="0" rIns="0" tIns="0" bIns="0" anchor="ctr">
            <a:spAutoFit/>
          </a:bodyPr>
          <a:lstStyle/>
          <a:p>
            <a:pPr algn="l"/>
            <a:r>
              <a:rPr sz="1100" b="1" i="0">
                <a:solidFill>
                  <a:srgbClr val="2B3A8F"/>
                </a:solidFill>
                <a:latin typeface="Aptos"/>
              </a:rPr>
              <a:t>OUTCOME</a:t>
            </a:r>
          </a:p>
        </p:txBody>
      </p:sp>
      <p:sp>
        <p:nvSpPr>
          <p:cNvPr id="10" name="TextBox 9"/>
          <p:cNvSpPr txBox="1"/>
          <p:nvPr/>
        </p:nvSpPr>
        <p:spPr>
          <a:xfrm>
            <a:off x="2148840" y="1554480"/>
            <a:ext cx="15544800" cy="329184"/>
          </a:xfrm>
          <a:prstGeom prst="rect">
            <a:avLst/>
          </a:prstGeom>
          <a:noFill/>
        </p:spPr>
        <p:txBody>
          <a:bodyPr wrap="square" lIns="0" rIns="0" tIns="0" bIns="0" anchor="ctr">
            <a:spAutoFit/>
          </a:bodyPr>
          <a:lstStyle/>
          <a:p>
            <a:pPr algn="l"/>
            <a:r>
              <a:rPr sz="1200" b="1" i="0">
                <a:solidFill>
                  <a:srgbClr val="171717"/>
                </a:solidFill>
                <a:latin typeface="Aptos"/>
              </a:rPr>
              <a:t>For the agreed use cases: versioned datasets with explicit source support, tested derivation logic, reproducible execution and independent acceptance evidence.</a:t>
            </a:r>
          </a:p>
        </p:txBody>
      </p:sp>
      <p:sp>
        <p:nvSpPr>
          <p:cNvPr id="11" name="Rectangle 10"/>
          <p:cNvSpPr/>
          <p:nvPr/>
        </p:nvSpPr>
        <p:spPr>
          <a:xfrm>
            <a:off x="438912" y="1938528"/>
            <a:ext cx="17410176" cy="329184"/>
          </a:xfrm>
          <a:prstGeom prst="rect">
            <a:avLst/>
          </a:prstGeom>
          <a:solidFill>
            <a:srgbClr val="F6F6F6"/>
          </a:solidFill>
          <a:ln>
            <a:noFill/>
          </a:ln>
        </p:spPr>
        <p:txBody>
          <a:bodyPr rtlCol="0" anchor="ctr"/>
          <a:lstStyle/>
          <a:p>
            <a:pPr algn="ctr"/>
          </a:p>
        </p:txBody>
      </p:sp>
      <p:sp>
        <p:nvSpPr>
          <p:cNvPr id="12" name="TextBox 11"/>
          <p:cNvSpPr txBox="1"/>
          <p:nvPr/>
        </p:nvSpPr>
        <p:spPr>
          <a:xfrm>
            <a:off x="566928" y="1938528"/>
            <a:ext cx="1554480" cy="329184"/>
          </a:xfrm>
          <a:prstGeom prst="rect">
            <a:avLst/>
          </a:prstGeom>
          <a:noFill/>
        </p:spPr>
        <p:txBody>
          <a:bodyPr wrap="square" lIns="0" rIns="0" tIns="0" bIns="0" anchor="ctr">
            <a:spAutoFit/>
          </a:bodyPr>
          <a:lstStyle/>
          <a:p>
            <a:pPr algn="l"/>
            <a:r>
              <a:rPr sz="1100" b="1" i="0">
                <a:solidFill>
                  <a:srgbClr val="2B3A8F"/>
                </a:solidFill>
                <a:latin typeface="Aptos"/>
              </a:rPr>
              <a:t>DEPENDS ON</a:t>
            </a:r>
          </a:p>
        </p:txBody>
      </p:sp>
      <p:sp>
        <p:nvSpPr>
          <p:cNvPr id="13" name="TextBox 12"/>
          <p:cNvSpPr txBox="1"/>
          <p:nvPr/>
        </p:nvSpPr>
        <p:spPr>
          <a:xfrm>
            <a:off x="2148840" y="1938528"/>
            <a:ext cx="15544800" cy="329184"/>
          </a:xfrm>
          <a:prstGeom prst="rect">
            <a:avLst/>
          </a:prstGeom>
          <a:noFill/>
        </p:spPr>
        <p:txBody>
          <a:bodyPr wrap="square" lIns="0" rIns="0" tIns="0" bIns="0" anchor="ctr">
            <a:spAutoFit/>
          </a:bodyPr>
          <a:lstStyle/>
          <a:p>
            <a:pPr algn="l"/>
            <a:r>
              <a:rPr sz="1200" b="1" i="0">
                <a:solidFill>
                  <a:srgbClr val="171717"/>
                </a:solidFill>
                <a:latin typeface="Aptos"/>
              </a:rPr>
              <a:t>Execution-ready contracts (F02)  ·  Source fields and readiness (F04)  ·  Package input needs (F06)  ·  Databricks environment  ·  Independent reviewers</a:t>
            </a:r>
          </a:p>
        </p:txBody>
      </p:sp>
      <p:sp>
        <p:nvSpPr>
          <p:cNvPr id="14" name="TextBox 13"/>
          <p:cNvSpPr txBox="1"/>
          <p:nvPr/>
        </p:nvSpPr>
        <p:spPr>
          <a:xfrm>
            <a:off x="521207" y="2660904"/>
            <a:ext cx="5029200" cy="182880"/>
          </a:xfrm>
          <a:prstGeom prst="rect">
            <a:avLst/>
          </a:prstGeom>
          <a:noFill/>
        </p:spPr>
        <p:txBody>
          <a:bodyPr wrap="square" lIns="0" rIns="0" tIns="0" bIns="0" anchor="t">
            <a:spAutoFit/>
          </a:bodyPr>
          <a:lstStyle/>
          <a:p>
            <a:pPr algn="l"/>
            <a:r>
              <a:rPr sz="1160" b="1" i="0">
                <a:solidFill>
                  <a:srgbClr val="2B3A8F"/>
                </a:solidFill>
                <a:latin typeface="Aptos"/>
              </a:rPr>
              <a:t>DELIVERABLE</a:t>
            </a:r>
          </a:p>
        </p:txBody>
      </p:sp>
      <p:sp>
        <p:nvSpPr>
          <p:cNvPr id="15" name="TextBox 14"/>
          <p:cNvSpPr txBox="1"/>
          <p:nvPr/>
        </p:nvSpPr>
        <p:spPr>
          <a:xfrm>
            <a:off x="5870448" y="2660904"/>
            <a:ext cx="2194560" cy="182880"/>
          </a:xfrm>
          <a:prstGeom prst="rect">
            <a:avLst/>
          </a:prstGeom>
          <a:noFill/>
        </p:spPr>
        <p:txBody>
          <a:bodyPr wrap="square" lIns="0" rIns="0" tIns="0" bIns="0" anchor="t">
            <a:spAutoFit/>
          </a:bodyPr>
          <a:lstStyle/>
          <a:p>
            <a:pPr algn="l"/>
            <a:r>
              <a:rPr sz="1000" b="1" i="0">
                <a:solidFill>
                  <a:srgbClr val="2B3A8F"/>
                </a:solidFill>
                <a:latin typeface="Aptos"/>
              </a:rPr>
              <a:t>AI ASSISTANCE</a:t>
            </a:r>
          </a:p>
        </p:txBody>
      </p:sp>
      <p:sp>
        <p:nvSpPr>
          <p:cNvPr id="16" name="Rectangle 15"/>
          <p:cNvSpPr/>
          <p:nvPr/>
        </p:nvSpPr>
        <p:spPr>
          <a:xfrm>
            <a:off x="8113471" y="2606040"/>
            <a:ext cx="3219297" cy="214884"/>
          </a:xfrm>
          <a:prstGeom prst="rect">
            <a:avLst/>
          </a:prstGeom>
          <a:solidFill>
            <a:srgbClr val="F1F1F1"/>
          </a:solidFill>
          <a:ln>
            <a:noFill/>
          </a:ln>
        </p:spPr>
        <p:txBody>
          <a:bodyPr rtlCol="0" anchor="ctr"/>
          <a:lstStyle/>
          <a:p>
            <a:pPr algn="ctr"/>
          </a:p>
        </p:txBody>
      </p:sp>
      <p:sp>
        <p:nvSpPr>
          <p:cNvPr id="17" name="TextBox 16"/>
          <p:cNvSpPr txBox="1"/>
          <p:nvPr/>
        </p:nvSpPr>
        <p:spPr>
          <a:xfrm>
            <a:off x="8113471" y="2606040"/>
            <a:ext cx="3219297" cy="214884"/>
          </a:xfrm>
          <a:prstGeom prst="rect">
            <a:avLst/>
          </a:prstGeom>
          <a:noFill/>
        </p:spPr>
        <p:txBody>
          <a:bodyPr wrap="square" lIns="0" rIns="0" tIns="0" bIns="0" anchor="ctr">
            <a:spAutoFit/>
          </a:bodyPr>
          <a:lstStyle/>
          <a:p>
            <a:pPr algn="ctr"/>
            <a:r>
              <a:rPr sz="1040" b="1" i="0">
                <a:solidFill>
                  <a:srgbClr val="2B2B2B"/>
                </a:solidFill>
                <a:latin typeface="Aptos"/>
              </a:rPr>
              <a:t>DESIGN + FIRST BUILD</a:t>
            </a:r>
          </a:p>
        </p:txBody>
      </p:sp>
      <p:sp>
        <p:nvSpPr>
          <p:cNvPr id="18" name="Rectangle 17"/>
          <p:cNvSpPr/>
          <p:nvPr/>
        </p:nvSpPr>
        <p:spPr>
          <a:xfrm>
            <a:off x="11356543" y="2606040"/>
            <a:ext cx="3219297" cy="214884"/>
          </a:xfrm>
          <a:prstGeom prst="rect">
            <a:avLst/>
          </a:prstGeom>
          <a:solidFill>
            <a:srgbClr val="F1F1F1"/>
          </a:solidFill>
          <a:ln>
            <a:noFill/>
          </a:ln>
        </p:spPr>
        <p:txBody>
          <a:bodyPr rtlCol="0" anchor="ctr"/>
          <a:lstStyle/>
          <a:p>
            <a:pPr algn="ctr"/>
          </a:p>
        </p:txBody>
      </p:sp>
      <p:sp>
        <p:nvSpPr>
          <p:cNvPr id="19" name="TextBox 18"/>
          <p:cNvSpPr txBox="1"/>
          <p:nvPr/>
        </p:nvSpPr>
        <p:spPr>
          <a:xfrm>
            <a:off x="11356543" y="2606040"/>
            <a:ext cx="3219297" cy="214884"/>
          </a:xfrm>
          <a:prstGeom prst="rect">
            <a:avLst/>
          </a:prstGeom>
          <a:noFill/>
        </p:spPr>
        <p:txBody>
          <a:bodyPr wrap="square" lIns="0" rIns="0" tIns="0" bIns="0" anchor="ctr">
            <a:spAutoFit/>
          </a:bodyPr>
          <a:lstStyle/>
          <a:p>
            <a:pPr algn="ctr"/>
            <a:r>
              <a:rPr sz="1040" b="1" i="0">
                <a:solidFill>
                  <a:srgbClr val="2B2B2B"/>
                </a:solidFill>
                <a:latin typeface="Aptos"/>
              </a:rPr>
              <a:t>CLINICAL LOGIC + REUSE</a:t>
            </a:r>
          </a:p>
        </p:txBody>
      </p:sp>
      <p:sp>
        <p:nvSpPr>
          <p:cNvPr id="20" name="Rectangle 19"/>
          <p:cNvSpPr/>
          <p:nvPr/>
        </p:nvSpPr>
        <p:spPr>
          <a:xfrm>
            <a:off x="14599615" y="2606040"/>
            <a:ext cx="3219297" cy="214884"/>
          </a:xfrm>
          <a:prstGeom prst="rect">
            <a:avLst/>
          </a:prstGeom>
          <a:solidFill>
            <a:srgbClr val="F1F1F1"/>
          </a:solidFill>
          <a:ln>
            <a:noFill/>
          </a:ln>
        </p:spPr>
        <p:txBody>
          <a:bodyPr rtlCol="0" anchor="ctr"/>
          <a:lstStyle/>
          <a:p>
            <a:pPr algn="ctr"/>
          </a:p>
        </p:txBody>
      </p:sp>
      <p:sp>
        <p:nvSpPr>
          <p:cNvPr id="21" name="TextBox 20"/>
          <p:cNvSpPr txBox="1"/>
          <p:nvPr/>
        </p:nvSpPr>
        <p:spPr>
          <a:xfrm>
            <a:off x="14599615" y="2606040"/>
            <a:ext cx="3219297" cy="214884"/>
          </a:xfrm>
          <a:prstGeom prst="rect">
            <a:avLst/>
          </a:prstGeom>
          <a:noFill/>
        </p:spPr>
        <p:txBody>
          <a:bodyPr wrap="square" lIns="0" rIns="0" tIns="0" bIns="0" anchor="ctr">
            <a:spAutoFit/>
          </a:bodyPr>
          <a:lstStyle/>
          <a:p>
            <a:pPr algn="ctr"/>
            <a:r>
              <a:rPr sz="1040" b="1" i="0">
                <a:solidFill>
                  <a:srgbClr val="2B2B2B"/>
                </a:solidFill>
                <a:latin typeface="Aptos"/>
              </a:rPr>
              <a:t>QC + RELEASE</a:t>
            </a:r>
          </a:p>
        </p:txBody>
      </p:sp>
      <p:sp>
        <p:nvSpPr>
          <p:cNvPr id="22" name="TextBox 21"/>
          <p:cNvSpPr txBox="1"/>
          <p:nvPr/>
        </p:nvSpPr>
        <p:spPr>
          <a:xfrm>
            <a:off x="8101583" y="2862072"/>
            <a:ext cx="3243072" cy="182880"/>
          </a:xfrm>
          <a:prstGeom prst="rect">
            <a:avLst/>
          </a:prstGeom>
          <a:noFill/>
        </p:spPr>
        <p:txBody>
          <a:bodyPr wrap="square" lIns="0" rIns="0" tIns="0" bIns="0" anchor="t">
            <a:spAutoFit/>
          </a:bodyPr>
          <a:lstStyle/>
          <a:p>
            <a:pPr algn="ctr"/>
            <a:r>
              <a:rPr sz="1150" b="1" i="0">
                <a:solidFill>
                  <a:srgbClr val="171717"/>
                </a:solidFill>
                <a:latin typeface="Aptos"/>
              </a:rPr>
              <a:t>Month 3</a:t>
            </a:r>
          </a:p>
        </p:txBody>
      </p:sp>
      <p:sp>
        <p:nvSpPr>
          <p:cNvPr id="23" name="TextBox 22"/>
          <p:cNvSpPr txBox="1"/>
          <p:nvPr/>
        </p:nvSpPr>
        <p:spPr>
          <a:xfrm>
            <a:off x="11344656" y="2862072"/>
            <a:ext cx="3243072" cy="182880"/>
          </a:xfrm>
          <a:prstGeom prst="rect">
            <a:avLst/>
          </a:prstGeom>
          <a:noFill/>
        </p:spPr>
        <p:txBody>
          <a:bodyPr wrap="square" lIns="0" rIns="0" tIns="0" bIns="0" anchor="t">
            <a:spAutoFit/>
          </a:bodyPr>
          <a:lstStyle/>
          <a:p>
            <a:pPr algn="ctr"/>
            <a:r>
              <a:rPr sz="1150" b="1" i="0">
                <a:solidFill>
                  <a:srgbClr val="171717"/>
                </a:solidFill>
                <a:latin typeface="Aptos"/>
              </a:rPr>
              <a:t>Month 4</a:t>
            </a:r>
          </a:p>
        </p:txBody>
      </p:sp>
      <p:sp>
        <p:nvSpPr>
          <p:cNvPr id="24" name="TextBox 23"/>
          <p:cNvSpPr txBox="1"/>
          <p:nvPr/>
        </p:nvSpPr>
        <p:spPr>
          <a:xfrm>
            <a:off x="14587728" y="2862072"/>
            <a:ext cx="3243072" cy="182880"/>
          </a:xfrm>
          <a:prstGeom prst="rect">
            <a:avLst/>
          </a:prstGeom>
          <a:noFill/>
        </p:spPr>
        <p:txBody>
          <a:bodyPr wrap="square" lIns="0" rIns="0" tIns="0" bIns="0" anchor="t">
            <a:spAutoFit/>
          </a:bodyPr>
          <a:lstStyle/>
          <a:p>
            <a:pPr algn="ctr"/>
            <a:r>
              <a:rPr sz="1150" b="1" i="0">
                <a:solidFill>
                  <a:srgbClr val="171717"/>
                </a:solidFill>
                <a:latin typeface="Aptos"/>
              </a:rPr>
              <a:t>Month 5</a:t>
            </a:r>
          </a:p>
        </p:txBody>
      </p:sp>
      <p:sp>
        <p:nvSpPr>
          <p:cNvPr id="25" name="Rectangle 24"/>
          <p:cNvSpPr/>
          <p:nvPr/>
        </p:nvSpPr>
        <p:spPr>
          <a:xfrm>
            <a:off x="8101583" y="3145536"/>
            <a:ext cx="3243072" cy="5907024"/>
          </a:xfrm>
          <a:prstGeom prst="rect">
            <a:avLst/>
          </a:prstGeom>
          <a:solidFill>
            <a:srgbClr val="FAFAFA"/>
          </a:solidFill>
          <a:ln>
            <a:noFill/>
          </a:ln>
        </p:spPr>
        <p:txBody>
          <a:bodyPr rtlCol="0" anchor="ctr"/>
          <a:lstStyle/>
          <a:p>
            <a:pPr algn="ctr"/>
          </a:p>
        </p:txBody>
      </p:sp>
      <p:sp>
        <p:nvSpPr>
          <p:cNvPr id="26" name="Rectangle 25"/>
          <p:cNvSpPr/>
          <p:nvPr/>
        </p:nvSpPr>
        <p:spPr>
          <a:xfrm>
            <a:off x="14587728" y="3145536"/>
            <a:ext cx="3243072" cy="5907024"/>
          </a:xfrm>
          <a:prstGeom prst="rect">
            <a:avLst/>
          </a:prstGeom>
          <a:solidFill>
            <a:srgbClr val="FAFAFA"/>
          </a:solidFill>
          <a:ln>
            <a:noFill/>
          </a:ln>
        </p:spPr>
        <p:txBody>
          <a:bodyPr rtlCol="0" anchor="ctr"/>
          <a:lstStyle/>
          <a:p>
            <a:pPr algn="ctr"/>
          </a:p>
        </p:txBody>
      </p:sp>
      <p:cxnSp>
        <p:nvCxnSpPr>
          <p:cNvPr id="27" name="Connector 26"/>
          <p:cNvCxnSpPr/>
          <p:nvPr/>
        </p:nvCxnSpPr>
        <p:spPr>
          <a:xfrm>
            <a:off x="8101583" y="3145536"/>
            <a:ext cx="0" cy="5907024"/>
          </a:xfrm>
          <a:prstGeom prst="line">
            <a:avLst/>
          </a:prstGeom>
          <a:ln w="6350">
            <a:solidFill>
              <a:srgbClr val="E1E1E1"/>
            </a:solidFill>
          </a:ln>
        </p:spPr>
      </p:cxnSp>
      <p:cxnSp>
        <p:nvCxnSpPr>
          <p:cNvPr id="28" name="Connector 27"/>
          <p:cNvCxnSpPr/>
          <p:nvPr/>
        </p:nvCxnSpPr>
        <p:spPr>
          <a:xfrm>
            <a:off x="11344656" y="3145536"/>
            <a:ext cx="0" cy="5907024"/>
          </a:xfrm>
          <a:prstGeom prst="line">
            <a:avLst/>
          </a:prstGeom>
          <a:ln w="6350">
            <a:solidFill>
              <a:srgbClr val="E1E1E1"/>
            </a:solidFill>
          </a:ln>
        </p:spPr>
      </p:cxnSp>
      <p:cxnSp>
        <p:nvCxnSpPr>
          <p:cNvPr id="29" name="Connector 28"/>
          <p:cNvCxnSpPr/>
          <p:nvPr/>
        </p:nvCxnSpPr>
        <p:spPr>
          <a:xfrm>
            <a:off x="14587728" y="3145536"/>
            <a:ext cx="0" cy="5907024"/>
          </a:xfrm>
          <a:prstGeom prst="line">
            <a:avLst/>
          </a:prstGeom>
          <a:ln w="6350">
            <a:solidFill>
              <a:srgbClr val="E1E1E1"/>
            </a:solidFill>
          </a:ln>
        </p:spPr>
      </p:cxnSp>
      <p:cxnSp>
        <p:nvCxnSpPr>
          <p:cNvPr id="30" name="Connector 29"/>
          <p:cNvCxnSpPr/>
          <p:nvPr/>
        </p:nvCxnSpPr>
        <p:spPr>
          <a:xfrm>
            <a:off x="17830800" y="3145536"/>
            <a:ext cx="0" cy="5907024"/>
          </a:xfrm>
          <a:prstGeom prst="line">
            <a:avLst/>
          </a:prstGeom>
          <a:ln w="6350">
            <a:solidFill>
              <a:srgbClr val="E1E1E1"/>
            </a:solidFill>
          </a:ln>
        </p:spPr>
      </p:cxnSp>
      <p:sp>
        <p:nvSpPr>
          <p:cNvPr id="31" name="Rectangle 30"/>
          <p:cNvSpPr/>
          <p:nvPr/>
        </p:nvSpPr>
        <p:spPr>
          <a:xfrm>
            <a:off x="438912" y="3145536"/>
            <a:ext cx="17410176" cy="237744"/>
          </a:xfrm>
          <a:prstGeom prst="rect">
            <a:avLst/>
          </a:prstGeom>
          <a:solidFill>
            <a:srgbClr val="1B1F5C"/>
          </a:solidFill>
          <a:ln>
            <a:noFill/>
          </a:ln>
        </p:spPr>
        <p:txBody>
          <a:bodyPr rtlCol="0" anchor="ctr"/>
          <a:lstStyle/>
          <a:p>
            <a:pPr algn="ctr"/>
          </a:p>
        </p:txBody>
      </p:sp>
      <p:sp>
        <p:nvSpPr>
          <p:cNvPr id="32" name="Rectangle 31"/>
          <p:cNvSpPr/>
          <p:nvPr/>
        </p:nvSpPr>
        <p:spPr>
          <a:xfrm>
            <a:off x="438912" y="3145536"/>
            <a:ext cx="45720" cy="237744"/>
          </a:xfrm>
          <a:prstGeom prst="rect">
            <a:avLst/>
          </a:prstGeom>
          <a:solidFill>
            <a:srgbClr val="1B1F5C"/>
          </a:solidFill>
          <a:ln>
            <a:noFill/>
          </a:ln>
        </p:spPr>
        <p:txBody>
          <a:bodyPr rtlCol="0" anchor="ctr"/>
          <a:lstStyle/>
          <a:p>
            <a:pPr algn="ctr"/>
          </a:p>
        </p:txBody>
      </p:sp>
      <p:sp>
        <p:nvSpPr>
          <p:cNvPr id="33" name="TextBox 32"/>
          <p:cNvSpPr txBox="1"/>
          <p:nvPr/>
        </p:nvSpPr>
        <p:spPr>
          <a:xfrm>
            <a:off x="548640" y="3177540"/>
            <a:ext cx="7415783" cy="187452"/>
          </a:xfrm>
          <a:prstGeom prst="rect">
            <a:avLst/>
          </a:prstGeom>
          <a:noFill/>
        </p:spPr>
        <p:txBody>
          <a:bodyPr wrap="square" lIns="0" rIns="0" tIns="0" bIns="0" anchor="t">
            <a:spAutoFit/>
          </a:bodyPr>
          <a:lstStyle/>
          <a:p>
            <a:pPr algn="l"/>
            <a:r>
              <a:rPr sz="1120" b="1" i="0">
                <a:solidFill>
                  <a:srgbClr val="FFFFFF"/>
                </a:solidFill>
                <a:latin typeface="Aptos"/>
              </a:rPr>
              <a:t>A  DESIGN &amp; REUSE</a:t>
            </a:r>
          </a:p>
        </p:txBody>
      </p:sp>
      <p:sp>
        <p:nvSpPr>
          <p:cNvPr id="34" name="TextBox 33"/>
          <p:cNvSpPr txBox="1"/>
          <p:nvPr/>
        </p:nvSpPr>
        <p:spPr>
          <a:xfrm>
            <a:off x="521207" y="3442309"/>
            <a:ext cx="566928" cy="182880"/>
          </a:xfrm>
          <a:prstGeom prst="rect">
            <a:avLst/>
          </a:prstGeom>
          <a:noFill/>
        </p:spPr>
        <p:txBody>
          <a:bodyPr wrap="square" lIns="0" rIns="0" tIns="0" bIns="0" anchor="t">
            <a:spAutoFit/>
          </a:bodyPr>
          <a:lstStyle/>
          <a:p>
            <a:pPr algn="l"/>
            <a:r>
              <a:rPr sz="1150" b="1" i="0">
                <a:solidFill>
                  <a:srgbClr val="2B3A8F"/>
                </a:solidFill>
                <a:latin typeface="Aptos"/>
              </a:rPr>
              <a:t>F05.1</a:t>
            </a:r>
          </a:p>
        </p:txBody>
      </p:sp>
      <p:sp>
        <p:nvSpPr>
          <p:cNvPr id="35" name="TextBox 34"/>
          <p:cNvSpPr txBox="1"/>
          <p:nvPr/>
        </p:nvSpPr>
        <p:spPr>
          <a:xfrm>
            <a:off x="1088136" y="3414877"/>
            <a:ext cx="4672583" cy="202996"/>
          </a:xfrm>
          <a:prstGeom prst="rect">
            <a:avLst/>
          </a:prstGeom>
          <a:noFill/>
        </p:spPr>
        <p:txBody>
          <a:bodyPr wrap="square" lIns="0" rIns="0" tIns="0" bIns="0" anchor="t">
            <a:spAutoFit/>
          </a:bodyPr>
          <a:lstStyle/>
          <a:p>
            <a:pPr algn="l"/>
            <a:r>
              <a:rPr sz="1440" b="1" i="0">
                <a:solidFill>
                  <a:srgbClr val="171717"/>
                </a:solidFill>
                <a:latin typeface="Aptos"/>
              </a:rPr>
              <a:t>Standard Dataset Design</a:t>
            </a:r>
          </a:p>
        </p:txBody>
      </p:sp>
      <p:sp>
        <p:nvSpPr>
          <p:cNvPr id="36" name="TextBox 35"/>
          <p:cNvSpPr txBox="1"/>
          <p:nvPr/>
        </p:nvSpPr>
        <p:spPr>
          <a:xfrm>
            <a:off x="1088136" y="3629761"/>
            <a:ext cx="4672583" cy="310896"/>
          </a:xfrm>
          <a:prstGeom prst="rect">
            <a:avLst/>
          </a:prstGeom>
          <a:noFill/>
        </p:spPr>
        <p:txBody>
          <a:bodyPr wrap="square" lIns="0" rIns="0" tIns="0" bIns="0" anchor="t">
            <a:spAutoFit/>
          </a:bodyPr>
          <a:lstStyle/>
          <a:p>
            <a:pPr algn="l"/>
            <a:r>
              <a:rPr sz="1000" b="0" i="0">
                <a:solidFill>
                  <a:srgbClr val="595959"/>
                </a:solidFill>
                <a:latin typeface="Aptos"/>
              </a:rPr>
              <a:t>Row meaning, keys and relationships for longitudinal, episode and study-level outputs, and the inputs each F06 package needs</a:t>
            </a:r>
          </a:p>
        </p:txBody>
      </p:sp>
      <p:sp>
        <p:nvSpPr>
          <p:cNvPr id="37" name="Rectangle 36"/>
          <p:cNvSpPr/>
          <p:nvPr/>
        </p:nvSpPr>
        <p:spPr>
          <a:xfrm>
            <a:off x="8138159" y="3589528"/>
            <a:ext cx="1548384" cy="164592"/>
          </a:xfrm>
          <a:prstGeom prst="rect">
            <a:avLst/>
          </a:prstGeom>
          <a:solidFill>
            <a:srgbClr val="E4461E"/>
          </a:solidFill>
          <a:ln>
            <a:noFill/>
          </a:ln>
        </p:spPr>
        <p:txBody>
          <a:bodyPr rtlCol="0" anchor="ctr"/>
          <a:lstStyle/>
          <a:p>
            <a:pPr algn="ctr"/>
          </a:p>
        </p:txBody>
      </p:sp>
      <p:sp>
        <p:nvSpPr>
          <p:cNvPr id="38" name="Diamond 37"/>
          <p:cNvSpPr/>
          <p:nvPr/>
        </p:nvSpPr>
        <p:spPr>
          <a:xfrm>
            <a:off x="9631680" y="3619246"/>
            <a:ext cx="109728" cy="105156"/>
          </a:xfrm>
          <a:prstGeom prst="diamond">
            <a:avLst/>
          </a:prstGeom>
          <a:solidFill>
            <a:srgbClr val="171717"/>
          </a:solidFill>
          <a:ln>
            <a:noFill/>
          </a:ln>
        </p:spPr>
        <p:txBody>
          <a:bodyPr rtlCol="0" anchor="ctr"/>
          <a:lstStyle/>
          <a:p>
            <a:pPr algn="ctr"/>
          </a:p>
        </p:txBody>
      </p:sp>
      <p:cxnSp>
        <p:nvCxnSpPr>
          <p:cNvPr id="39" name="Connector 38"/>
          <p:cNvCxnSpPr/>
          <p:nvPr/>
        </p:nvCxnSpPr>
        <p:spPr>
          <a:xfrm>
            <a:off x="438912" y="3960368"/>
            <a:ext cx="17410176" cy="0"/>
          </a:xfrm>
          <a:prstGeom prst="line">
            <a:avLst/>
          </a:prstGeom>
          <a:ln w="6350">
            <a:solidFill>
              <a:srgbClr val="E1E1E1"/>
            </a:solidFill>
          </a:ln>
        </p:spPr>
      </p:cxnSp>
      <p:sp>
        <p:nvSpPr>
          <p:cNvPr id="40" name="TextBox 39"/>
          <p:cNvSpPr txBox="1"/>
          <p:nvPr/>
        </p:nvSpPr>
        <p:spPr>
          <a:xfrm>
            <a:off x="521207" y="4019397"/>
            <a:ext cx="566928" cy="182880"/>
          </a:xfrm>
          <a:prstGeom prst="rect">
            <a:avLst/>
          </a:prstGeom>
          <a:noFill/>
        </p:spPr>
        <p:txBody>
          <a:bodyPr wrap="square" lIns="0" rIns="0" tIns="0" bIns="0" anchor="t">
            <a:spAutoFit/>
          </a:bodyPr>
          <a:lstStyle/>
          <a:p>
            <a:pPr algn="l"/>
            <a:r>
              <a:rPr sz="1150" b="1" i="0">
                <a:solidFill>
                  <a:srgbClr val="2B3A8F"/>
                </a:solidFill>
                <a:latin typeface="Aptos"/>
              </a:rPr>
              <a:t>F05.2</a:t>
            </a:r>
          </a:p>
        </p:txBody>
      </p:sp>
      <p:sp>
        <p:nvSpPr>
          <p:cNvPr id="41" name="TextBox 40"/>
          <p:cNvSpPr txBox="1"/>
          <p:nvPr/>
        </p:nvSpPr>
        <p:spPr>
          <a:xfrm>
            <a:off x="1088136" y="3991965"/>
            <a:ext cx="4672583" cy="202996"/>
          </a:xfrm>
          <a:prstGeom prst="rect">
            <a:avLst/>
          </a:prstGeom>
          <a:noFill/>
        </p:spPr>
        <p:txBody>
          <a:bodyPr wrap="square" lIns="0" rIns="0" tIns="0" bIns="0" anchor="t">
            <a:spAutoFit/>
          </a:bodyPr>
          <a:lstStyle/>
          <a:p>
            <a:pPr algn="l"/>
            <a:r>
              <a:rPr sz="1440" b="1" i="0">
                <a:solidFill>
                  <a:srgbClr val="171717"/>
                </a:solidFill>
                <a:latin typeface="Aptos"/>
              </a:rPr>
              <a:t>Reuse &amp; Gap Assessment</a:t>
            </a:r>
          </a:p>
        </p:txBody>
      </p:sp>
      <p:sp>
        <p:nvSpPr>
          <p:cNvPr id="42" name="TextBox 41"/>
          <p:cNvSpPr txBox="1"/>
          <p:nvPr/>
        </p:nvSpPr>
        <p:spPr>
          <a:xfrm>
            <a:off x="1088136" y="4206849"/>
            <a:ext cx="4672583" cy="310896"/>
          </a:xfrm>
          <a:prstGeom prst="rect">
            <a:avLst/>
          </a:prstGeom>
          <a:noFill/>
        </p:spPr>
        <p:txBody>
          <a:bodyPr wrap="square" lIns="0" rIns="0" tIns="0" bIns="0" anchor="t">
            <a:spAutoFit/>
          </a:bodyPr>
          <a:lstStyle/>
          <a:p>
            <a:pPr algn="l"/>
            <a:r>
              <a:rPr sz="1000" b="0" i="0">
                <a:solidFill>
                  <a:srgbClr val="595959"/>
                </a:solidFill>
                <a:latin typeface="Aptos"/>
              </a:rPr>
              <a:t>Pilot rule-coverage matrix (reuse, configure, adapt, new, excluded); source bindings and R module interfaces qualified</a:t>
            </a:r>
          </a:p>
        </p:txBody>
      </p:sp>
      <p:sp>
        <p:nvSpPr>
          <p:cNvPr id="43" name="Rectangle 42"/>
          <p:cNvSpPr/>
          <p:nvPr/>
        </p:nvSpPr>
        <p:spPr>
          <a:xfrm>
            <a:off x="8138159" y="4166616"/>
            <a:ext cx="2359152" cy="164592"/>
          </a:xfrm>
          <a:prstGeom prst="rect">
            <a:avLst/>
          </a:prstGeom>
          <a:solidFill>
            <a:srgbClr val="E4461E"/>
          </a:solidFill>
          <a:ln>
            <a:noFill/>
          </a:ln>
        </p:spPr>
        <p:txBody>
          <a:bodyPr rtlCol="0" anchor="ctr"/>
          <a:lstStyle/>
          <a:p>
            <a:pPr algn="ctr"/>
          </a:p>
        </p:txBody>
      </p:sp>
      <p:sp>
        <p:nvSpPr>
          <p:cNvPr id="44" name="Diamond 43"/>
          <p:cNvSpPr/>
          <p:nvPr/>
        </p:nvSpPr>
        <p:spPr>
          <a:xfrm>
            <a:off x="10442448" y="4196334"/>
            <a:ext cx="109728" cy="105156"/>
          </a:xfrm>
          <a:prstGeom prst="diamond">
            <a:avLst/>
          </a:prstGeom>
          <a:solidFill>
            <a:srgbClr val="171717"/>
          </a:solidFill>
          <a:ln>
            <a:noFill/>
          </a:ln>
        </p:spPr>
        <p:txBody>
          <a:bodyPr rtlCol="0" anchor="ctr"/>
          <a:lstStyle/>
          <a:p>
            <a:pPr algn="ctr"/>
          </a:p>
        </p:txBody>
      </p:sp>
      <p:cxnSp>
        <p:nvCxnSpPr>
          <p:cNvPr id="45" name="Connector 44"/>
          <p:cNvCxnSpPr/>
          <p:nvPr/>
        </p:nvCxnSpPr>
        <p:spPr>
          <a:xfrm>
            <a:off x="438912" y="4537456"/>
            <a:ext cx="17410176" cy="0"/>
          </a:xfrm>
          <a:prstGeom prst="line">
            <a:avLst/>
          </a:prstGeom>
          <a:ln w="6350">
            <a:solidFill>
              <a:srgbClr val="E1E1E1"/>
            </a:solidFill>
          </a:ln>
        </p:spPr>
      </p:cxnSp>
      <p:sp>
        <p:nvSpPr>
          <p:cNvPr id="46" name="TextBox 45"/>
          <p:cNvSpPr txBox="1"/>
          <p:nvPr/>
        </p:nvSpPr>
        <p:spPr>
          <a:xfrm>
            <a:off x="521207" y="4596485"/>
            <a:ext cx="566928" cy="182880"/>
          </a:xfrm>
          <a:prstGeom prst="rect">
            <a:avLst/>
          </a:prstGeom>
          <a:noFill/>
        </p:spPr>
        <p:txBody>
          <a:bodyPr wrap="square" lIns="0" rIns="0" tIns="0" bIns="0" anchor="t">
            <a:spAutoFit/>
          </a:bodyPr>
          <a:lstStyle/>
          <a:p>
            <a:pPr algn="l"/>
            <a:r>
              <a:rPr sz="1150" b="1" i="0">
                <a:solidFill>
                  <a:srgbClr val="2B3A8F"/>
                </a:solidFill>
                <a:latin typeface="Aptos"/>
              </a:rPr>
              <a:t>F05.3</a:t>
            </a:r>
          </a:p>
        </p:txBody>
      </p:sp>
      <p:sp>
        <p:nvSpPr>
          <p:cNvPr id="47" name="TextBox 46"/>
          <p:cNvSpPr txBox="1"/>
          <p:nvPr/>
        </p:nvSpPr>
        <p:spPr>
          <a:xfrm>
            <a:off x="1088136" y="4569053"/>
            <a:ext cx="4672583" cy="202996"/>
          </a:xfrm>
          <a:prstGeom prst="rect">
            <a:avLst/>
          </a:prstGeom>
          <a:noFill/>
        </p:spPr>
        <p:txBody>
          <a:bodyPr wrap="square" lIns="0" rIns="0" tIns="0" bIns="0" anchor="t">
            <a:spAutoFit/>
          </a:bodyPr>
          <a:lstStyle/>
          <a:p>
            <a:pPr algn="l"/>
            <a:r>
              <a:rPr sz="1440" b="1" i="0">
                <a:solidFill>
                  <a:srgbClr val="171717"/>
                </a:solidFill>
                <a:latin typeface="Aptos"/>
              </a:rPr>
              <a:t>Automated Build Planning</a:t>
            </a:r>
          </a:p>
        </p:txBody>
      </p:sp>
      <p:sp>
        <p:nvSpPr>
          <p:cNvPr id="48" name="TextBox 47"/>
          <p:cNvSpPr txBox="1"/>
          <p:nvPr/>
        </p:nvSpPr>
        <p:spPr>
          <a:xfrm>
            <a:off x="1088136" y="4783937"/>
            <a:ext cx="4672583" cy="310896"/>
          </a:xfrm>
          <a:prstGeom prst="rect">
            <a:avLst/>
          </a:prstGeom>
          <a:noFill/>
        </p:spPr>
        <p:txBody>
          <a:bodyPr wrap="square" lIns="0" rIns="0" tIns="0" bIns="0" anchor="t">
            <a:spAutoFit/>
          </a:bodyPr>
          <a:lstStyle/>
          <a:p>
            <a:pPr algn="l"/>
            <a:r>
              <a:rPr sz="1000" b="0" i="0">
                <a:solidFill>
                  <a:srgbClr val="595959"/>
                </a:solidFill>
                <a:latin typeface="Aptos"/>
              </a:rPr>
              <a:t>Resolves contract rules into versioned implementations and run order; blocks builds with missing parameters or unsupported inputs</a:t>
            </a:r>
          </a:p>
        </p:txBody>
      </p:sp>
      <p:sp>
        <p:nvSpPr>
          <p:cNvPr id="49" name="Rectangle 48"/>
          <p:cNvSpPr/>
          <p:nvPr/>
        </p:nvSpPr>
        <p:spPr>
          <a:xfrm>
            <a:off x="8948927" y="4743704"/>
            <a:ext cx="2359152" cy="164592"/>
          </a:xfrm>
          <a:prstGeom prst="rect">
            <a:avLst/>
          </a:prstGeom>
          <a:solidFill>
            <a:srgbClr val="E4461E"/>
          </a:solidFill>
          <a:ln>
            <a:noFill/>
          </a:ln>
        </p:spPr>
        <p:txBody>
          <a:bodyPr rtlCol="0" anchor="ctr"/>
          <a:lstStyle/>
          <a:p>
            <a:pPr algn="ctr"/>
          </a:p>
        </p:txBody>
      </p:sp>
      <p:sp>
        <p:nvSpPr>
          <p:cNvPr id="50" name="Diamond 49"/>
          <p:cNvSpPr/>
          <p:nvPr/>
        </p:nvSpPr>
        <p:spPr>
          <a:xfrm>
            <a:off x="11253216" y="4773422"/>
            <a:ext cx="109728" cy="105156"/>
          </a:xfrm>
          <a:prstGeom prst="diamond">
            <a:avLst/>
          </a:prstGeom>
          <a:solidFill>
            <a:srgbClr val="171717"/>
          </a:solidFill>
          <a:ln>
            <a:noFill/>
          </a:ln>
        </p:spPr>
        <p:txBody>
          <a:bodyPr rtlCol="0" anchor="ctr"/>
          <a:lstStyle/>
          <a:p>
            <a:pPr algn="ctr"/>
          </a:p>
        </p:txBody>
      </p:sp>
      <p:cxnSp>
        <p:nvCxnSpPr>
          <p:cNvPr id="51" name="Connector 50"/>
          <p:cNvCxnSpPr/>
          <p:nvPr/>
        </p:nvCxnSpPr>
        <p:spPr>
          <a:xfrm>
            <a:off x="438912" y="5114544"/>
            <a:ext cx="17410176" cy="0"/>
          </a:xfrm>
          <a:prstGeom prst="line">
            <a:avLst/>
          </a:prstGeom>
          <a:ln w="6350">
            <a:solidFill>
              <a:srgbClr val="E1E1E1"/>
            </a:solidFill>
          </a:ln>
        </p:spPr>
      </p:cxnSp>
      <p:sp>
        <p:nvSpPr>
          <p:cNvPr id="52" name="Rectangle 51"/>
          <p:cNvSpPr/>
          <p:nvPr/>
        </p:nvSpPr>
        <p:spPr>
          <a:xfrm>
            <a:off x="438912" y="5114544"/>
            <a:ext cx="17410176" cy="237744"/>
          </a:xfrm>
          <a:prstGeom prst="rect">
            <a:avLst/>
          </a:prstGeom>
          <a:solidFill>
            <a:srgbClr val="393F9E"/>
          </a:solidFill>
          <a:ln>
            <a:noFill/>
          </a:ln>
        </p:spPr>
        <p:txBody>
          <a:bodyPr rtlCol="0" anchor="ctr"/>
          <a:lstStyle/>
          <a:p>
            <a:pPr algn="ctr"/>
          </a:p>
        </p:txBody>
      </p:sp>
      <p:sp>
        <p:nvSpPr>
          <p:cNvPr id="53" name="Rectangle 52"/>
          <p:cNvSpPr/>
          <p:nvPr/>
        </p:nvSpPr>
        <p:spPr>
          <a:xfrm>
            <a:off x="438912" y="5114544"/>
            <a:ext cx="45720" cy="237744"/>
          </a:xfrm>
          <a:prstGeom prst="rect">
            <a:avLst/>
          </a:prstGeom>
          <a:solidFill>
            <a:srgbClr val="1B1F5C"/>
          </a:solidFill>
          <a:ln>
            <a:noFill/>
          </a:ln>
        </p:spPr>
        <p:txBody>
          <a:bodyPr rtlCol="0" anchor="ctr"/>
          <a:lstStyle/>
          <a:p>
            <a:pPr algn="ctr"/>
          </a:p>
        </p:txBody>
      </p:sp>
      <p:sp>
        <p:nvSpPr>
          <p:cNvPr id="54" name="TextBox 53"/>
          <p:cNvSpPr txBox="1"/>
          <p:nvPr/>
        </p:nvSpPr>
        <p:spPr>
          <a:xfrm>
            <a:off x="548640" y="5146548"/>
            <a:ext cx="7415783" cy="187452"/>
          </a:xfrm>
          <a:prstGeom prst="rect">
            <a:avLst/>
          </a:prstGeom>
          <a:noFill/>
        </p:spPr>
        <p:txBody>
          <a:bodyPr wrap="square" lIns="0" rIns="0" tIns="0" bIns="0" anchor="t">
            <a:spAutoFit/>
          </a:bodyPr>
          <a:lstStyle/>
          <a:p>
            <a:pPr algn="l"/>
            <a:r>
              <a:rPr sz="1120" b="1" i="0">
                <a:solidFill>
                  <a:srgbClr val="FFFFFF"/>
                </a:solidFill>
                <a:latin typeface="Aptos"/>
              </a:rPr>
              <a:t>B  CLINICAL LOGIC</a:t>
            </a:r>
          </a:p>
        </p:txBody>
      </p:sp>
      <p:sp>
        <p:nvSpPr>
          <p:cNvPr id="55" name="TextBox 54"/>
          <p:cNvSpPr txBox="1"/>
          <p:nvPr/>
        </p:nvSpPr>
        <p:spPr>
          <a:xfrm>
            <a:off x="521207" y="5411317"/>
            <a:ext cx="566928" cy="182880"/>
          </a:xfrm>
          <a:prstGeom prst="rect">
            <a:avLst/>
          </a:prstGeom>
          <a:noFill/>
        </p:spPr>
        <p:txBody>
          <a:bodyPr wrap="square" lIns="0" rIns="0" tIns="0" bIns="0" anchor="t">
            <a:spAutoFit/>
          </a:bodyPr>
          <a:lstStyle/>
          <a:p>
            <a:pPr algn="l"/>
            <a:r>
              <a:rPr sz="1150" b="1" i="0">
                <a:solidFill>
                  <a:srgbClr val="2B3A8F"/>
                </a:solidFill>
                <a:latin typeface="Aptos"/>
              </a:rPr>
              <a:t>F05.4</a:t>
            </a:r>
          </a:p>
        </p:txBody>
      </p:sp>
      <p:sp>
        <p:nvSpPr>
          <p:cNvPr id="56" name="TextBox 55"/>
          <p:cNvSpPr txBox="1"/>
          <p:nvPr/>
        </p:nvSpPr>
        <p:spPr>
          <a:xfrm>
            <a:off x="1088136" y="5383885"/>
            <a:ext cx="4672583" cy="202996"/>
          </a:xfrm>
          <a:prstGeom prst="rect">
            <a:avLst/>
          </a:prstGeom>
          <a:noFill/>
        </p:spPr>
        <p:txBody>
          <a:bodyPr wrap="square" lIns="0" rIns="0" tIns="0" bIns="0" anchor="t">
            <a:spAutoFit/>
          </a:bodyPr>
          <a:lstStyle/>
          <a:p>
            <a:pPr algn="l"/>
            <a:r>
              <a:rPr sz="1440" b="1" i="0">
                <a:solidFill>
                  <a:srgbClr val="171717"/>
                </a:solidFill>
                <a:latin typeface="Aptos"/>
              </a:rPr>
              <a:t>Cohort &amp; Endpoint Derivation</a:t>
            </a:r>
          </a:p>
        </p:txBody>
      </p:sp>
      <p:sp>
        <p:nvSpPr>
          <p:cNvPr id="57" name="TextBox 56"/>
          <p:cNvSpPr txBox="1"/>
          <p:nvPr/>
        </p:nvSpPr>
        <p:spPr>
          <a:xfrm>
            <a:off x="1088136" y="5598769"/>
            <a:ext cx="4672583" cy="310896"/>
          </a:xfrm>
          <a:prstGeom prst="rect">
            <a:avLst/>
          </a:prstGeom>
          <a:noFill/>
        </p:spPr>
        <p:txBody>
          <a:bodyPr wrap="square" lIns="0" rIns="0" tIns="0" bIns="0" anchor="t">
            <a:spAutoFit/>
          </a:bodyPr>
          <a:lstStyle/>
          <a:p>
            <a:pPr algn="l"/>
            <a:r>
              <a:rPr sz="1000" b="0" i="0">
                <a:solidFill>
                  <a:srgbClr val="595959"/>
                </a:solidFill>
                <a:latin typeface="Aptos"/>
              </a:rPr>
              <a:t>Eligibility, index, window, record-selection and censoring rules, checked against independently specified cases</a:t>
            </a:r>
          </a:p>
        </p:txBody>
      </p:sp>
      <p:sp>
        <p:nvSpPr>
          <p:cNvPr id="58" name="Rectangle 57"/>
          <p:cNvSpPr/>
          <p:nvPr/>
        </p:nvSpPr>
        <p:spPr>
          <a:xfrm>
            <a:off x="9759695" y="5558536"/>
            <a:ext cx="3980688" cy="164592"/>
          </a:xfrm>
          <a:prstGeom prst="rect">
            <a:avLst/>
          </a:prstGeom>
          <a:solidFill>
            <a:srgbClr val="E4461E"/>
          </a:solidFill>
          <a:ln>
            <a:noFill/>
          </a:ln>
        </p:spPr>
        <p:txBody>
          <a:bodyPr rtlCol="0" anchor="ctr"/>
          <a:lstStyle/>
          <a:p>
            <a:pPr algn="ctr"/>
          </a:p>
        </p:txBody>
      </p:sp>
      <p:sp>
        <p:nvSpPr>
          <p:cNvPr id="59" name="Diamond 58"/>
          <p:cNvSpPr/>
          <p:nvPr/>
        </p:nvSpPr>
        <p:spPr>
          <a:xfrm>
            <a:off x="13685520" y="5588254"/>
            <a:ext cx="109728" cy="105156"/>
          </a:xfrm>
          <a:prstGeom prst="diamond">
            <a:avLst/>
          </a:prstGeom>
          <a:solidFill>
            <a:srgbClr val="171717"/>
          </a:solidFill>
          <a:ln>
            <a:noFill/>
          </a:ln>
        </p:spPr>
        <p:txBody>
          <a:bodyPr rtlCol="0" anchor="ctr"/>
          <a:lstStyle/>
          <a:p>
            <a:pPr algn="ctr"/>
          </a:p>
        </p:txBody>
      </p:sp>
      <p:cxnSp>
        <p:nvCxnSpPr>
          <p:cNvPr id="60" name="Connector 59"/>
          <p:cNvCxnSpPr/>
          <p:nvPr/>
        </p:nvCxnSpPr>
        <p:spPr>
          <a:xfrm>
            <a:off x="438912" y="5929376"/>
            <a:ext cx="17410176" cy="0"/>
          </a:xfrm>
          <a:prstGeom prst="line">
            <a:avLst/>
          </a:prstGeom>
          <a:ln w="6350">
            <a:solidFill>
              <a:srgbClr val="E1E1E1"/>
            </a:solidFill>
          </a:ln>
        </p:spPr>
      </p:cxnSp>
      <p:sp>
        <p:nvSpPr>
          <p:cNvPr id="61" name="TextBox 60"/>
          <p:cNvSpPr txBox="1"/>
          <p:nvPr/>
        </p:nvSpPr>
        <p:spPr>
          <a:xfrm>
            <a:off x="521207" y="5988405"/>
            <a:ext cx="566928" cy="182880"/>
          </a:xfrm>
          <a:prstGeom prst="rect">
            <a:avLst/>
          </a:prstGeom>
          <a:noFill/>
        </p:spPr>
        <p:txBody>
          <a:bodyPr wrap="square" lIns="0" rIns="0" tIns="0" bIns="0" anchor="t">
            <a:spAutoFit/>
          </a:bodyPr>
          <a:lstStyle/>
          <a:p>
            <a:pPr algn="l"/>
            <a:r>
              <a:rPr sz="1150" b="1" i="0">
                <a:solidFill>
                  <a:srgbClr val="2B3A8F"/>
                </a:solidFill>
                <a:latin typeface="Aptos"/>
              </a:rPr>
              <a:t>F05.5</a:t>
            </a:r>
          </a:p>
        </p:txBody>
      </p:sp>
      <p:sp>
        <p:nvSpPr>
          <p:cNvPr id="62" name="TextBox 61"/>
          <p:cNvSpPr txBox="1"/>
          <p:nvPr/>
        </p:nvSpPr>
        <p:spPr>
          <a:xfrm>
            <a:off x="1088136" y="5960973"/>
            <a:ext cx="4672583" cy="202996"/>
          </a:xfrm>
          <a:prstGeom prst="rect">
            <a:avLst/>
          </a:prstGeom>
          <a:noFill/>
        </p:spPr>
        <p:txBody>
          <a:bodyPr wrap="square" lIns="0" rIns="0" tIns="0" bIns="0" anchor="t">
            <a:spAutoFit/>
          </a:bodyPr>
          <a:lstStyle/>
          <a:p>
            <a:pPr algn="l"/>
            <a:r>
              <a:rPr sz="1440" b="1" i="0">
                <a:solidFill>
                  <a:srgbClr val="171717"/>
                </a:solidFill>
                <a:latin typeface="Aptos"/>
              </a:rPr>
              <a:t>Treatment Pathway Derivation</a:t>
            </a:r>
          </a:p>
        </p:txBody>
      </p:sp>
      <p:sp>
        <p:nvSpPr>
          <p:cNvPr id="63" name="TextBox 62"/>
          <p:cNvSpPr txBox="1"/>
          <p:nvPr/>
        </p:nvSpPr>
        <p:spPr>
          <a:xfrm>
            <a:off x="1088136" y="6175857"/>
            <a:ext cx="4672583" cy="310896"/>
          </a:xfrm>
          <a:prstGeom prst="rect">
            <a:avLst/>
          </a:prstGeom>
          <a:noFill/>
        </p:spPr>
        <p:txBody>
          <a:bodyPr wrap="square" lIns="0" rIns="0" tIns="0" bIns="0" anchor="t">
            <a:spAutoFit/>
          </a:bodyPr>
          <a:lstStyle/>
          <a:p>
            <a:pPr algn="l"/>
            <a:r>
              <a:rPr sz="1000" b="0" i="0">
                <a:solidFill>
                  <a:srgbClr val="595959"/>
                </a:solidFill>
                <a:latin typeface="Aptos"/>
              </a:rPr>
              <a:t>The agreed overlap, gap, combination, switch and restart rules, with patient timelines verified</a:t>
            </a:r>
          </a:p>
        </p:txBody>
      </p:sp>
      <p:sp>
        <p:nvSpPr>
          <p:cNvPr id="64" name="TextBox 63"/>
          <p:cNvSpPr txBox="1"/>
          <p:nvPr/>
        </p:nvSpPr>
        <p:spPr>
          <a:xfrm>
            <a:off x="5870448" y="5956808"/>
            <a:ext cx="2176272" cy="522224"/>
          </a:xfrm>
          <a:prstGeom prst="rect">
            <a:avLst/>
          </a:prstGeom>
          <a:noFill/>
        </p:spPr>
        <p:txBody>
          <a:bodyPr wrap="square" lIns="0" rIns="0" tIns="0" bIns="0" anchor="ctr">
            <a:spAutoFit/>
          </a:bodyPr>
          <a:lstStyle/>
          <a:p>
            <a:pPr algn="l"/>
            <a:r>
              <a:rPr sz="1000" b="0" i="0">
                <a:solidFill>
                  <a:srgbClr val="2B3A8F"/>
                </a:solidFill>
                <a:latin typeface="Aptos"/>
              </a:rPr>
              <a:t>Explains sequence assignments for reviewers</a:t>
            </a:r>
          </a:p>
        </p:txBody>
      </p:sp>
      <p:sp>
        <p:nvSpPr>
          <p:cNvPr id="65" name="Rectangle 64"/>
          <p:cNvSpPr/>
          <p:nvPr/>
        </p:nvSpPr>
        <p:spPr>
          <a:xfrm>
            <a:off x="10570463" y="6135624"/>
            <a:ext cx="3980688" cy="164592"/>
          </a:xfrm>
          <a:prstGeom prst="rect">
            <a:avLst/>
          </a:prstGeom>
          <a:solidFill>
            <a:srgbClr val="E4461E"/>
          </a:solidFill>
          <a:ln>
            <a:noFill/>
          </a:ln>
        </p:spPr>
        <p:txBody>
          <a:bodyPr rtlCol="0" anchor="ctr"/>
          <a:lstStyle/>
          <a:p>
            <a:pPr algn="ctr"/>
          </a:p>
        </p:txBody>
      </p:sp>
      <p:sp>
        <p:nvSpPr>
          <p:cNvPr id="66" name="Diamond 65"/>
          <p:cNvSpPr/>
          <p:nvPr/>
        </p:nvSpPr>
        <p:spPr>
          <a:xfrm>
            <a:off x="14496288" y="6165342"/>
            <a:ext cx="109728" cy="105156"/>
          </a:xfrm>
          <a:prstGeom prst="diamond">
            <a:avLst/>
          </a:prstGeom>
          <a:solidFill>
            <a:srgbClr val="171717"/>
          </a:solidFill>
          <a:ln>
            <a:noFill/>
          </a:ln>
        </p:spPr>
        <p:txBody>
          <a:bodyPr rtlCol="0" anchor="ctr"/>
          <a:lstStyle/>
          <a:p>
            <a:pPr algn="ctr"/>
          </a:p>
        </p:txBody>
      </p:sp>
      <p:cxnSp>
        <p:nvCxnSpPr>
          <p:cNvPr id="67" name="Connector 66"/>
          <p:cNvCxnSpPr/>
          <p:nvPr/>
        </p:nvCxnSpPr>
        <p:spPr>
          <a:xfrm>
            <a:off x="438912" y="6506464"/>
            <a:ext cx="17410176" cy="0"/>
          </a:xfrm>
          <a:prstGeom prst="line">
            <a:avLst/>
          </a:prstGeom>
          <a:ln w="6350">
            <a:solidFill>
              <a:srgbClr val="E1E1E1"/>
            </a:solidFill>
          </a:ln>
        </p:spPr>
      </p:cxnSp>
      <p:sp>
        <p:nvSpPr>
          <p:cNvPr id="68" name="TextBox 67"/>
          <p:cNvSpPr txBox="1"/>
          <p:nvPr/>
        </p:nvSpPr>
        <p:spPr>
          <a:xfrm>
            <a:off x="521207" y="6565493"/>
            <a:ext cx="566928" cy="182880"/>
          </a:xfrm>
          <a:prstGeom prst="rect">
            <a:avLst/>
          </a:prstGeom>
          <a:noFill/>
        </p:spPr>
        <p:txBody>
          <a:bodyPr wrap="square" lIns="0" rIns="0" tIns="0" bIns="0" anchor="t">
            <a:spAutoFit/>
          </a:bodyPr>
          <a:lstStyle/>
          <a:p>
            <a:pPr algn="l"/>
            <a:r>
              <a:rPr sz="1150" b="1" i="0">
                <a:solidFill>
                  <a:srgbClr val="2B3A8F"/>
                </a:solidFill>
                <a:latin typeface="Aptos"/>
              </a:rPr>
              <a:t>F05.6</a:t>
            </a:r>
          </a:p>
        </p:txBody>
      </p:sp>
      <p:sp>
        <p:nvSpPr>
          <p:cNvPr id="69" name="TextBox 68"/>
          <p:cNvSpPr txBox="1"/>
          <p:nvPr/>
        </p:nvSpPr>
        <p:spPr>
          <a:xfrm>
            <a:off x="1088136" y="6538061"/>
            <a:ext cx="4672583" cy="202996"/>
          </a:xfrm>
          <a:prstGeom prst="rect">
            <a:avLst/>
          </a:prstGeom>
          <a:noFill/>
        </p:spPr>
        <p:txBody>
          <a:bodyPr wrap="square" lIns="0" rIns="0" tIns="0" bIns="0" anchor="t">
            <a:spAutoFit/>
          </a:bodyPr>
          <a:lstStyle/>
          <a:p>
            <a:pPr algn="l"/>
            <a:r>
              <a:rPr sz="1440" b="1" i="0">
                <a:solidFill>
                  <a:srgbClr val="171717"/>
                </a:solidFill>
                <a:latin typeface="Aptos"/>
              </a:rPr>
              <a:t>New Rule Development</a:t>
            </a:r>
          </a:p>
        </p:txBody>
      </p:sp>
      <p:sp>
        <p:nvSpPr>
          <p:cNvPr id="70" name="TextBox 69"/>
          <p:cNvSpPr txBox="1"/>
          <p:nvPr/>
        </p:nvSpPr>
        <p:spPr>
          <a:xfrm>
            <a:off x="1088136" y="6752945"/>
            <a:ext cx="4672583" cy="310896"/>
          </a:xfrm>
          <a:prstGeom prst="rect">
            <a:avLst/>
          </a:prstGeom>
          <a:noFill/>
        </p:spPr>
        <p:txBody>
          <a:bodyPr wrap="square" lIns="0" rIns="0" tIns="0" bIns="0" anchor="t">
            <a:spAutoFit/>
          </a:bodyPr>
          <a:lstStyle/>
          <a:p>
            <a:pPr algn="l"/>
            <a:r>
              <a:rPr sz="1000" b="0" i="0">
                <a:solidFill>
                  <a:srgbClr val="595959"/>
                </a:solidFill>
                <a:latin typeface="Aptos"/>
              </a:rPr>
              <a:t>Missing rules built against approved requirements and made selectable in the contract; library reuse decided separately</a:t>
            </a:r>
          </a:p>
        </p:txBody>
      </p:sp>
      <p:sp>
        <p:nvSpPr>
          <p:cNvPr id="71" name="TextBox 70"/>
          <p:cNvSpPr txBox="1"/>
          <p:nvPr/>
        </p:nvSpPr>
        <p:spPr>
          <a:xfrm>
            <a:off x="5870448" y="6533896"/>
            <a:ext cx="2176272" cy="522224"/>
          </a:xfrm>
          <a:prstGeom prst="rect">
            <a:avLst/>
          </a:prstGeom>
          <a:noFill/>
        </p:spPr>
        <p:txBody>
          <a:bodyPr wrap="square" lIns="0" rIns="0" tIns="0" bIns="0" anchor="ctr">
            <a:spAutoFit/>
          </a:bodyPr>
          <a:lstStyle/>
          <a:p>
            <a:pPr algn="l"/>
            <a:r>
              <a:rPr sz="1000" b="0" i="0">
                <a:solidFill>
                  <a:srgbClr val="2B3A8F"/>
                </a:solidFill>
                <a:latin typeface="Aptos"/>
              </a:rPr>
              <a:t>Drafts candidate code for missing rules</a:t>
            </a:r>
          </a:p>
        </p:txBody>
      </p:sp>
      <p:sp>
        <p:nvSpPr>
          <p:cNvPr id="72" name="Rectangle 71"/>
          <p:cNvSpPr/>
          <p:nvPr/>
        </p:nvSpPr>
        <p:spPr>
          <a:xfrm>
            <a:off x="10570463" y="6712712"/>
            <a:ext cx="4791456" cy="164592"/>
          </a:xfrm>
          <a:prstGeom prst="rect">
            <a:avLst/>
          </a:prstGeom>
          <a:solidFill>
            <a:srgbClr val="E4461E"/>
          </a:solidFill>
          <a:ln>
            <a:noFill/>
          </a:ln>
        </p:spPr>
        <p:txBody>
          <a:bodyPr rtlCol="0" anchor="ctr"/>
          <a:lstStyle/>
          <a:p>
            <a:pPr algn="ctr"/>
          </a:p>
        </p:txBody>
      </p:sp>
      <p:sp>
        <p:nvSpPr>
          <p:cNvPr id="73" name="Diamond 72"/>
          <p:cNvSpPr/>
          <p:nvPr/>
        </p:nvSpPr>
        <p:spPr>
          <a:xfrm>
            <a:off x="15307056" y="6742430"/>
            <a:ext cx="109728" cy="105156"/>
          </a:xfrm>
          <a:prstGeom prst="diamond">
            <a:avLst/>
          </a:prstGeom>
          <a:solidFill>
            <a:srgbClr val="171717"/>
          </a:solidFill>
          <a:ln>
            <a:noFill/>
          </a:ln>
        </p:spPr>
        <p:txBody>
          <a:bodyPr rtlCol="0" anchor="ctr"/>
          <a:lstStyle/>
          <a:p>
            <a:pPr algn="ctr"/>
          </a:p>
        </p:txBody>
      </p:sp>
      <p:cxnSp>
        <p:nvCxnSpPr>
          <p:cNvPr id="74" name="Connector 73"/>
          <p:cNvCxnSpPr/>
          <p:nvPr/>
        </p:nvCxnSpPr>
        <p:spPr>
          <a:xfrm>
            <a:off x="438912" y="7083552"/>
            <a:ext cx="17410176" cy="0"/>
          </a:xfrm>
          <a:prstGeom prst="line">
            <a:avLst/>
          </a:prstGeom>
          <a:ln w="6350">
            <a:solidFill>
              <a:srgbClr val="E1E1E1"/>
            </a:solidFill>
          </a:ln>
        </p:spPr>
      </p:cxnSp>
      <p:sp>
        <p:nvSpPr>
          <p:cNvPr id="75" name="Rectangle 74"/>
          <p:cNvSpPr/>
          <p:nvPr/>
        </p:nvSpPr>
        <p:spPr>
          <a:xfrm>
            <a:off x="438912" y="7083552"/>
            <a:ext cx="17410176" cy="237744"/>
          </a:xfrm>
          <a:prstGeom prst="rect">
            <a:avLst/>
          </a:prstGeom>
          <a:solidFill>
            <a:srgbClr val="DCDCEE"/>
          </a:solidFill>
          <a:ln>
            <a:noFill/>
          </a:ln>
        </p:spPr>
        <p:txBody>
          <a:bodyPr rtlCol="0" anchor="ctr"/>
          <a:lstStyle/>
          <a:p>
            <a:pPr algn="ctr"/>
          </a:p>
        </p:txBody>
      </p:sp>
      <p:sp>
        <p:nvSpPr>
          <p:cNvPr id="76" name="Rectangle 75"/>
          <p:cNvSpPr/>
          <p:nvPr/>
        </p:nvSpPr>
        <p:spPr>
          <a:xfrm>
            <a:off x="438912" y="7083552"/>
            <a:ext cx="45720" cy="237744"/>
          </a:xfrm>
          <a:prstGeom prst="rect">
            <a:avLst/>
          </a:prstGeom>
          <a:solidFill>
            <a:srgbClr val="1B1F5C"/>
          </a:solidFill>
          <a:ln>
            <a:noFill/>
          </a:ln>
        </p:spPr>
        <p:txBody>
          <a:bodyPr rtlCol="0" anchor="ctr"/>
          <a:lstStyle/>
          <a:p>
            <a:pPr algn="ctr"/>
          </a:p>
        </p:txBody>
      </p:sp>
      <p:sp>
        <p:nvSpPr>
          <p:cNvPr id="77" name="TextBox 76"/>
          <p:cNvSpPr txBox="1"/>
          <p:nvPr/>
        </p:nvSpPr>
        <p:spPr>
          <a:xfrm>
            <a:off x="548640" y="7115556"/>
            <a:ext cx="7415783" cy="187452"/>
          </a:xfrm>
          <a:prstGeom prst="rect">
            <a:avLst/>
          </a:prstGeom>
          <a:noFill/>
        </p:spPr>
        <p:txBody>
          <a:bodyPr wrap="square" lIns="0" rIns="0" tIns="0" bIns="0" anchor="t">
            <a:spAutoFit/>
          </a:bodyPr>
          <a:lstStyle/>
          <a:p>
            <a:pPr algn="l"/>
            <a:r>
              <a:rPr sz="1120" b="1" i="0">
                <a:solidFill>
                  <a:srgbClr val="1A1A1A"/>
                </a:solidFill>
                <a:latin typeface="Aptos"/>
              </a:rPr>
              <a:t>C  BUILD, QC &amp; RELEASE</a:t>
            </a:r>
          </a:p>
        </p:txBody>
      </p:sp>
      <p:sp>
        <p:nvSpPr>
          <p:cNvPr id="78" name="TextBox 77"/>
          <p:cNvSpPr txBox="1"/>
          <p:nvPr/>
        </p:nvSpPr>
        <p:spPr>
          <a:xfrm>
            <a:off x="521207" y="7380325"/>
            <a:ext cx="566928" cy="182880"/>
          </a:xfrm>
          <a:prstGeom prst="rect">
            <a:avLst/>
          </a:prstGeom>
          <a:noFill/>
        </p:spPr>
        <p:txBody>
          <a:bodyPr wrap="square" lIns="0" rIns="0" tIns="0" bIns="0" anchor="t">
            <a:spAutoFit/>
          </a:bodyPr>
          <a:lstStyle/>
          <a:p>
            <a:pPr algn="l"/>
            <a:r>
              <a:rPr sz="1150" b="1" i="0">
                <a:solidFill>
                  <a:srgbClr val="2B3A8F"/>
                </a:solidFill>
                <a:latin typeface="Aptos"/>
              </a:rPr>
              <a:t>F05.7</a:t>
            </a:r>
          </a:p>
        </p:txBody>
      </p:sp>
      <p:sp>
        <p:nvSpPr>
          <p:cNvPr id="79" name="TextBox 78"/>
          <p:cNvSpPr txBox="1"/>
          <p:nvPr/>
        </p:nvSpPr>
        <p:spPr>
          <a:xfrm>
            <a:off x="1088136" y="7352893"/>
            <a:ext cx="4672583" cy="202996"/>
          </a:xfrm>
          <a:prstGeom prst="rect">
            <a:avLst/>
          </a:prstGeom>
          <a:noFill/>
        </p:spPr>
        <p:txBody>
          <a:bodyPr wrap="square" lIns="0" rIns="0" tIns="0" bIns="0" anchor="t">
            <a:spAutoFit/>
          </a:bodyPr>
          <a:lstStyle/>
          <a:p>
            <a:pPr algn="l"/>
            <a:r>
              <a:rPr sz="1440" b="1" i="0">
                <a:solidFill>
                  <a:srgbClr val="171717"/>
                </a:solidFill>
                <a:latin typeface="Aptos"/>
              </a:rPr>
              <a:t>Dataset Build &amp; Assembly</a:t>
            </a:r>
          </a:p>
        </p:txBody>
      </p:sp>
      <p:sp>
        <p:nvSpPr>
          <p:cNvPr id="80" name="TextBox 79"/>
          <p:cNvSpPr txBox="1"/>
          <p:nvPr/>
        </p:nvSpPr>
        <p:spPr>
          <a:xfrm>
            <a:off x="1088136" y="7567777"/>
            <a:ext cx="4672583" cy="310896"/>
          </a:xfrm>
          <a:prstGeom prst="rect">
            <a:avLst/>
          </a:prstGeom>
          <a:noFill/>
        </p:spPr>
        <p:txBody>
          <a:bodyPr wrap="square" lIns="0" rIns="0" tIns="0" bIns="0" anchor="t">
            <a:spAutoFit/>
          </a:bodyPr>
          <a:lstStyle/>
          <a:p>
            <a:pPr algn="l"/>
            <a:r>
              <a:rPr sz="1000" b="0" i="0">
                <a:solidFill>
                  <a:srgbClr val="595959"/>
                </a:solidFill>
                <a:latin typeface="Aptos"/>
              </a:rPr>
              <a:t>Runs the accepted build plan, assembles study datasets and stops partial or stale results being treated as complete</a:t>
            </a:r>
          </a:p>
        </p:txBody>
      </p:sp>
      <p:sp>
        <p:nvSpPr>
          <p:cNvPr id="81" name="Rectangle 80"/>
          <p:cNvSpPr/>
          <p:nvPr/>
        </p:nvSpPr>
        <p:spPr>
          <a:xfrm>
            <a:off x="11381231" y="7527544"/>
            <a:ext cx="4791456" cy="164592"/>
          </a:xfrm>
          <a:prstGeom prst="rect">
            <a:avLst/>
          </a:prstGeom>
          <a:solidFill>
            <a:srgbClr val="E4461E"/>
          </a:solidFill>
          <a:ln>
            <a:noFill/>
          </a:ln>
        </p:spPr>
        <p:txBody>
          <a:bodyPr rtlCol="0" anchor="ctr"/>
          <a:lstStyle/>
          <a:p>
            <a:pPr algn="ctr"/>
          </a:p>
        </p:txBody>
      </p:sp>
      <p:sp>
        <p:nvSpPr>
          <p:cNvPr id="82" name="Diamond 81"/>
          <p:cNvSpPr/>
          <p:nvPr/>
        </p:nvSpPr>
        <p:spPr>
          <a:xfrm>
            <a:off x="16117824" y="7557262"/>
            <a:ext cx="109728" cy="105156"/>
          </a:xfrm>
          <a:prstGeom prst="diamond">
            <a:avLst/>
          </a:prstGeom>
          <a:solidFill>
            <a:srgbClr val="171717"/>
          </a:solidFill>
          <a:ln>
            <a:noFill/>
          </a:ln>
        </p:spPr>
        <p:txBody>
          <a:bodyPr rtlCol="0" anchor="ctr"/>
          <a:lstStyle/>
          <a:p>
            <a:pPr algn="ctr"/>
          </a:p>
        </p:txBody>
      </p:sp>
      <p:cxnSp>
        <p:nvCxnSpPr>
          <p:cNvPr id="83" name="Connector 82"/>
          <p:cNvCxnSpPr/>
          <p:nvPr/>
        </p:nvCxnSpPr>
        <p:spPr>
          <a:xfrm>
            <a:off x="438912" y="7898384"/>
            <a:ext cx="17410176" cy="0"/>
          </a:xfrm>
          <a:prstGeom prst="line">
            <a:avLst/>
          </a:prstGeom>
          <a:ln w="6350">
            <a:solidFill>
              <a:srgbClr val="E1E1E1"/>
            </a:solidFill>
          </a:ln>
        </p:spPr>
      </p:cxnSp>
      <p:sp>
        <p:nvSpPr>
          <p:cNvPr id="84" name="TextBox 83"/>
          <p:cNvSpPr txBox="1"/>
          <p:nvPr/>
        </p:nvSpPr>
        <p:spPr>
          <a:xfrm>
            <a:off x="521207" y="7957413"/>
            <a:ext cx="566928" cy="182880"/>
          </a:xfrm>
          <a:prstGeom prst="rect">
            <a:avLst/>
          </a:prstGeom>
          <a:noFill/>
        </p:spPr>
        <p:txBody>
          <a:bodyPr wrap="square" lIns="0" rIns="0" tIns="0" bIns="0" anchor="t">
            <a:spAutoFit/>
          </a:bodyPr>
          <a:lstStyle/>
          <a:p>
            <a:pPr algn="l"/>
            <a:r>
              <a:rPr sz="1150" b="1" i="0">
                <a:solidFill>
                  <a:srgbClr val="2B3A8F"/>
                </a:solidFill>
                <a:latin typeface="Aptos"/>
              </a:rPr>
              <a:t>F05.8</a:t>
            </a:r>
          </a:p>
        </p:txBody>
      </p:sp>
      <p:sp>
        <p:nvSpPr>
          <p:cNvPr id="85" name="TextBox 84"/>
          <p:cNvSpPr txBox="1"/>
          <p:nvPr/>
        </p:nvSpPr>
        <p:spPr>
          <a:xfrm>
            <a:off x="1088136" y="7929981"/>
            <a:ext cx="4672583" cy="202996"/>
          </a:xfrm>
          <a:prstGeom prst="rect">
            <a:avLst/>
          </a:prstGeom>
          <a:noFill/>
        </p:spPr>
        <p:txBody>
          <a:bodyPr wrap="square" lIns="0" rIns="0" tIns="0" bIns="0" anchor="t">
            <a:spAutoFit/>
          </a:bodyPr>
          <a:lstStyle/>
          <a:p>
            <a:pPr algn="l"/>
            <a:r>
              <a:rPr sz="1440" b="1" i="0">
                <a:solidFill>
                  <a:srgbClr val="171717"/>
                </a:solidFill>
                <a:latin typeface="Aptos"/>
              </a:rPr>
              <a:t>Independent QC &amp; Traceability</a:t>
            </a:r>
          </a:p>
        </p:txBody>
      </p:sp>
      <p:sp>
        <p:nvSpPr>
          <p:cNvPr id="86" name="TextBox 85"/>
          <p:cNvSpPr txBox="1"/>
          <p:nvPr/>
        </p:nvSpPr>
        <p:spPr>
          <a:xfrm>
            <a:off x="1088136" y="8144865"/>
            <a:ext cx="4672583" cy="310896"/>
          </a:xfrm>
          <a:prstGeom prst="rect">
            <a:avLst/>
          </a:prstGeom>
          <a:noFill/>
        </p:spPr>
        <p:txBody>
          <a:bodyPr wrap="square" lIns="0" rIns="0" tIns="0" bIns="0" anchor="t">
            <a:spAutoFit/>
          </a:bodyPr>
          <a:lstStyle/>
          <a:p>
            <a:pPr algn="l"/>
            <a:r>
              <a:rPr sz="1000" b="0" i="0">
                <a:solidFill>
                  <a:srgbClr val="595959"/>
                </a:solidFill>
                <a:latin typeface="Aptos"/>
              </a:rPr>
              <a:t>Material derivations traced to source records; reference cases and whole-delivery integrity reconciled</a:t>
            </a:r>
          </a:p>
        </p:txBody>
      </p:sp>
      <p:sp>
        <p:nvSpPr>
          <p:cNvPr id="87" name="TextBox 86"/>
          <p:cNvSpPr txBox="1"/>
          <p:nvPr/>
        </p:nvSpPr>
        <p:spPr>
          <a:xfrm>
            <a:off x="5870448" y="7925816"/>
            <a:ext cx="2176272" cy="522224"/>
          </a:xfrm>
          <a:prstGeom prst="rect">
            <a:avLst/>
          </a:prstGeom>
          <a:noFill/>
        </p:spPr>
        <p:txBody>
          <a:bodyPr wrap="square" lIns="0" rIns="0" tIns="0" bIns="0" anchor="ctr">
            <a:spAutoFit/>
          </a:bodyPr>
          <a:lstStyle/>
          <a:p>
            <a:pPr algn="l"/>
            <a:r>
              <a:rPr sz="1000" b="0" i="0">
                <a:solidFill>
                  <a:srgbClr val="2B3A8F"/>
                </a:solidFill>
                <a:latin typeface="Aptos"/>
              </a:rPr>
              <a:t>Investigates discrepancies for reviewers</a:t>
            </a:r>
          </a:p>
        </p:txBody>
      </p:sp>
      <p:sp>
        <p:nvSpPr>
          <p:cNvPr id="88" name="Rectangle 87"/>
          <p:cNvSpPr/>
          <p:nvPr/>
        </p:nvSpPr>
        <p:spPr>
          <a:xfrm>
            <a:off x="8138159" y="8104632"/>
            <a:ext cx="8845296" cy="164592"/>
          </a:xfrm>
          <a:prstGeom prst="rect">
            <a:avLst/>
          </a:prstGeom>
          <a:solidFill>
            <a:srgbClr val="E4461E"/>
          </a:solidFill>
          <a:ln>
            <a:noFill/>
          </a:ln>
        </p:spPr>
        <p:txBody>
          <a:bodyPr rtlCol="0" anchor="ctr"/>
          <a:lstStyle/>
          <a:p>
            <a:pPr algn="ctr"/>
          </a:p>
        </p:txBody>
      </p:sp>
      <p:sp>
        <p:nvSpPr>
          <p:cNvPr id="89" name="Diamond 88"/>
          <p:cNvSpPr/>
          <p:nvPr/>
        </p:nvSpPr>
        <p:spPr>
          <a:xfrm>
            <a:off x="16928592" y="8134350"/>
            <a:ext cx="109728" cy="105156"/>
          </a:xfrm>
          <a:prstGeom prst="diamond">
            <a:avLst/>
          </a:prstGeom>
          <a:solidFill>
            <a:srgbClr val="171717"/>
          </a:solidFill>
          <a:ln>
            <a:noFill/>
          </a:ln>
        </p:spPr>
        <p:txBody>
          <a:bodyPr rtlCol="0" anchor="ctr"/>
          <a:lstStyle/>
          <a:p>
            <a:pPr algn="ctr"/>
          </a:p>
        </p:txBody>
      </p:sp>
      <p:cxnSp>
        <p:nvCxnSpPr>
          <p:cNvPr id="90" name="Connector 89"/>
          <p:cNvCxnSpPr/>
          <p:nvPr/>
        </p:nvCxnSpPr>
        <p:spPr>
          <a:xfrm>
            <a:off x="438912" y="8475472"/>
            <a:ext cx="17410176" cy="0"/>
          </a:xfrm>
          <a:prstGeom prst="line">
            <a:avLst/>
          </a:prstGeom>
          <a:ln w="6350">
            <a:solidFill>
              <a:srgbClr val="E1E1E1"/>
            </a:solidFill>
          </a:ln>
        </p:spPr>
      </p:cxnSp>
      <p:sp>
        <p:nvSpPr>
          <p:cNvPr id="91" name="TextBox 90"/>
          <p:cNvSpPr txBox="1"/>
          <p:nvPr/>
        </p:nvSpPr>
        <p:spPr>
          <a:xfrm>
            <a:off x="521207" y="8534501"/>
            <a:ext cx="566928" cy="182880"/>
          </a:xfrm>
          <a:prstGeom prst="rect">
            <a:avLst/>
          </a:prstGeom>
          <a:noFill/>
        </p:spPr>
        <p:txBody>
          <a:bodyPr wrap="square" lIns="0" rIns="0" tIns="0" bIns="0" anchor="t">
            <a:spAutoFit/>
          </a:bodyPr>
          <a:lstStyle/>
          <a:p>
            <a:pPr algn="l"/>
            <a:r>
              <a:rPr sz="1150" b="1" i="0">
                <a:solidFill>
                  <a:srgbClr val="2B3A8F"/>
                </a:solidFill>
                <a:latin typeface="Aptos"/>
              </a:rPr>
              <a:t>F05.9</a:t>
            </a:r>
          </a:p>
        </p:txBody>
      </p:sp>
      <p:sp>
        <p:nvSpPr>
          <p:cNvPr id="92" name="TextBox 91"/>
          <p:cNvSpPr txBox="1"/>
          <p:nvPr/>
        </p:nvSpPr>
        <p:spPr>
          <a:xfrm>
            <a:off x="1088136" y="8507069"/>
            <a:ext cx="4672583" cy="202996"/>
          </a:xfrm>
          <a:prstGeom prst="rect">
            <a:avLst/>
          </a:prstGeom>
          <a:noFill/>
        </p:spPr>
        <p:txBody>
          <a:bodyPr wrap="square" lIns="0" rIns="0" tIns="0" bIns="0" anchor="t">
            <a:spAutoFit/>
          </a:bodyPr>
          <a:lstStyle/>
          <a:p>
            <a:pPr algn="l"/>
            <a:r>
              <a:rPr sz="1440" b="1" i="0">
                <a:solidFill>
                  <a:srgbClr val="171717"/>
                </a:solidFill>
                <a:latin typeface="Aptos"/>
              </a:rPr>
              <a:t>Dataset Release &amp; Reuse</a:t>
            </a:r>
          </a:p>
        </p:txBody>
      </p:sp>
      <p:sp>
        <p:nvSpPr>
          <p:cNvPr id="93" name="TextBox 92"/>
          <p:cNvSpPr txBox="1"/>
          <p:nvPr/>
        </p:nvSpPr>
        <p:spPr>
          <a:xfrm>
            <a:off x="1088136" y="8721953"/>
            <a:ext cx="4672583" cy="310896"/>
          </a:xfrm>
          <a:prstGeom prst="rect">
            <a:avLst/>
          </a:prstGeom>
          <a:noFill/>
        </p:spPr>
        <p:txBody>
          <a:bodyPr wrap="square" lIns="0" rIns="0" tIns="0" bIns="0" anchor="t">
            <a:spAutoFit/>
          </a:bodyPr>
          <a:lstStyle/>
          <a:p>
            <a:pPr algn="l"/>
            <a:r>
              <a:rPr sz="1000" b="0" i="0">
                <a:solidFill>
                  <a:srgbClr val="595959"/>
                </a:solidFill>
                <a:latin typeface="Aptos"/>
              </a:rPr>
              <a:t>The exact build accepted; two studies shown reusing one longitudinal product, with study-specific steps verified</a:t>
            </a:r>
          </a:p>
        </p:txBody>
      </p:sp>
      <p:sp>
        <p:nvSpPr>
          <p:cNvPr id="94" name="Rectangle 93"/>
          <p:cNvSpPr/>
          <p:nvPr/>
        </p:nvSpPr>
        <p:spPr>
          <a:xfrm>
            <a:off x="13813535" y="8681720"/>
            <a:ext cx="3980688" cy="164592"/>
          </a:xfrm>
          <a:prstGeom prst="rect">
            <a:avLst/>
          </a:prstGeom>
          <a:solidFill>
            <a:srgbClr val="E4461E"/>
          </a:solidFill>
          <a:ln>
            <a:noFill/>
          </a:ln>
        </p:spPr>
        <p:txBody>
          <a:bodyPr rtlCol="0" anchor="ctr"/>
          <a:lstStyle/>
          <a:p>
            <a:pPr algn="ctr"/>
          </a:p>
        </p:txBody>
      </p:sp>
      <p:sp>
        <p:nvSpPr>
          <p:cNvPr id="95" name="Diamond 94"/>
          <p:cNvSpPr/>
          <p:nvPr/>
        </p:nvSpPr>
        <p:spPr>
          <a:xfrm>
            <a:off x="17739360" y="8711438"/>
            <a:ext cx="109728" cy="105156"/>
          </a:xfrm>
          <a:prstGeom prst="diamond">
            <a:avLst/>
          </a:prstGeom>
          <a:solidFill>
            <a:srgbClr val="171717"/>
          </a:solidFill>
          <a:ln>
            <a:noFill/>
          </a:ln>
        </p:spPr>
        <p:txBody>
          <a:bodyPr rtlCol="0" anchor="ctr"/>
          <a:lstStyle/>
          <a:p>
            <a:pPr algn="ctr"/>
          </a:p>
        </p:txBody>
      </p:sp>
      <p:cxnSp>
        <p:nvCxnSpPr>
          <p:cNvPr id="96" name="Connector 95"/>
          <p:cNvCxnSpPr/>
          <p:nvPr/>
        </p:nvCxnSpPr>
        <p:spPr>
          <a:xfrm>
            <a:off x="438912" y="9052559"/>
            <a:ext cx="17410176" cy="0"/>
          </a:xfrm>
          <a:prstGeom prst="line">
            <a:avLst/>
          </a:prstGeom>
          <a:ln w="6350">
            <a:solidFill>
              <a:srgbClr val="E1E1E1"/>
            </a:solidFill>
          </a:ln>
        </p:spPr>
      </p:cxnSp>
      <p:sp>
        <p:nvSpPr>
          <p:cNvPr id="97" name="TextBox 96"/>
          <p:cNvSpPr txBox="1"/>
          <p:nvPr/>
        </p:nvSpPr>
        <p:spPr>
          <a:xfrm>
            <a:off x="438912" y="9198864"/>
            <a:ext cx="17410176" cy="182880"/>
          </a:xfrm>
          <a:prstGeom prst="rect">
            <a:avLst/>
          </a:prstGeom>
          <a:noFill/>
        </p:spPr>
        <p:txBody>
          <a:bodyPr wrap="square" lIns="0" rIns="0" tIns="0" bIns="0" anchor="t">
            <a:spAutoFit/>
          </a:bodyPr>
          <a:lstStyle/>
          <a:p>
            <a:pPr algn="ctr"/>
            <a:r>
              <a:rPr sz="1080" b="1" i="0">
                <a:solidFill>
                  <a:srgbClr val="2B3A8F"/>
                </a:solidFill>
                <a:latin typeface="Aptos"/>
              </a:rPr>
              <a:t>ACCEPTANCE GATES  |  WORKSTREAMS RUN IN PARALLEL; GATES CONTROL USE OF APPROVED INPUTS AND PROMOTION OF RELEASES</a:t>
            </a:r>
          </a:p>
        </p:txBody>
      </p:sp>
      <p:sp>
        <p:nvSpPr>
          <p:cNvPr id="98" name="Rectangle 97"/>
          <p:cNvSpPr/>
          <p:nvPr/>
        </p:nvSpPr>
        <p:spPr>
          <a:xfrm>
            <a:off x="438912" y="9464040"/>
            <a:ext cx="5730240" cy="566928"/>
          </a:xfrm>
          <a:prstGeom prst="rect">
            <a:avLst/>
          </a:prstGeom>
          <a:solidFill>
            <a:srgbClr val="F6F6F6"/>
          </a:solidFill>
          <a:ln>
            <a:noFill/>
          </a:ln>
        </p:spPr>
        <p:txBody>
          <a:bodyPr rtlCol="0" anchor="ctr"/>
          <a:lstStyle/>
          <a:p>
            <a:pPr algn="ctr"/>
          </a:p>
        </p:txBody>
      </p:sp>
      <p:sp>
        <p:nvSpPr>
          <p:cNvPr id="99" name="Rectangle 98"/>
          <p:cNvSpPr/>
          <p:nvPr/>
        </p:nvSpPr>
        <p:spPr>
          <a:xfrm>
            <a:off x="438912" y="9464040"/>
            <a:ext cx="47548" cy="566928"/>
          </a:xfrm>
          <a:prstGeom prst="rect">
            <a:avLst/>
          </a:prstGeom>
          <a:solidFill>
            <a:srgbClr val="1B1F5C"/>
          </a:solidFill>
          <a:ln>
            <a:noFill/>
          </a:ln>
        </p:spPr>
        <p:txBody>
          <a:bodyPr rtlCol="0" anchor="ctr"/>
          <a:lstStyle/>
          <a:p>
            <a:pPr algn="ctr"/>
          </a:p>
        </p:txBody>
      </p:sp>
      <p:sp>
        <p:nvSpPr>
          <p:cNvPr id="100" name="TextBox 99"/>
          <p:cNvSpPr txBox="1"/>
          <p:nvPr/>
        </p:nvSpPr>
        <p:spPr>
          <a:xfrm>
            <a:off x="548640"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LATE MONTH 3 · FIRST BOUNDED BUILD</a:t>
            </a:r>
          </a:p>
        </p:txBody>
      </p:sp>
      <p:sp>
        <p:nvSpPr>
          <p:cNvPr id="101" name="TextBox 100"/>
          <p:cNvSpPr txBox="1"/>
          <p:nvPr/>
        </p:nvSpPr>
        <p:spPr>
          <a:xfrm>
            <a:off x="548640"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Test contract runs through the intended build path</a:t>
            </a:r>
          </a:p>
        </p:txBody>
      </p:sp>
      <p:sp>
        <p:nvSpPr>
          <p:cNvPr id="102" name="Rectangle 101"/>
          <p:cNvSpPr/>
          <p:nvPr/>
        </p:nvSpPr>
        <p:spPr>
          <a:xfrm>
            <a:off x="6278880" y="9464040"/>
            <a:ext cx="5730240" cy="566928"/>
          </a:xfrm>
          <a:prstGeom prst="rect">
            <a:avLst/>
          </a:prstGeom>
          <a:solidFill>
            <a:srgbClr val="F6F6F6"/>
          </a:solidFill>
          <a:ln>
            <a:noFill/>
          </a:ln>
        </p:spPr>
        <p:txBody>
          <a:bodyPr rtlCol="0" anchor="ctr"/>
          <a:lstStyle/>
          <a:p>
            <a:pPr algn="ctr"/>
          </a:p>
        </p:txBody>
      </p:sp>
      <p:sp>
        <p:nvSpPr>
          <p:cNvPr id="103" name="Rectangle 102"/>
          <p:cNvSpPr/>
          <p:nvPr/>
        </p:nvSpPr>
        <p:spPr>
          <a:xfrm>
            <a:off x="6278880" y="9464040"/>
            <a:ext cx="47548" cy="566928"/>
          </a:xfrm>
          <a:prstGeom prst="rect">
            <a:avLst/>
          </a:prstGeom>
          <a:solidFill>
            <a:srgbClr val="1B1F5C"/>
          </a:solidFill>
          <a:ln>
            <a:noFill/>
          </a:ln>
        </p:spPr>
        <p:txBody>
          <a:bodyPr rtlCol="0" anchor="ctr"/>
          <a:lstStyle/>
          <a:p>
            <a:pPr algn="ctr"/>
          </a:p>
        </p:txBody>
      </p:sp>
      <p:sp>
        <p:nvSpPr>
          <p:cNvPr id="104" name="TextBox 103"/>
          <p:cNvSpPr txBox="1"/>
          <p:nvPr/>
        </p:nvSpPr>
        <p:spPr>
          <a:xfrm>
            <a:off x="6388608"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LATE MONTH 4 · REUSE DEMONSTRATED</a:t>
            </a:r>
          </a:p>
        </p:txBody>
      </p:sp>
      <p:sp>
        <p:nvSpPr>
          <p:cNvPr id="105" name="TextBox 104"/>
          <p:cNvSpPr txBox="1"/>
          <p:nvPr/>
        </p:nvSpPr>
        <p:spPr>
          <a:xfrm>
            <a:off x="6388608"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Two study definitions share one versioned longitudinal product</a:t>
            </a:r>
          </a:p>
        </p:txBody>
      </p:sp>
      <p:sp>
        <p:nvSpPr>
          <p:cNvPr id="106" name="Rectangle 105"/>
          <p:cNvSpPr/>
          <p:nvPr/>
        </p:nvSpPr>
        <p:spPr>
          <a:xfrm>
            <a:off x="12118848" y="9464040"/>
            <a:ext cx="5730240" cy="566928"/>
          </a:xfrm>
          <a:prstGeom prst="rect">
            <a:avLst/>
          </a:prstGeom>
          <a:solidFill>
            <a:srgbClr val="F6F6F6"/>
          </a:solidFill>
          <a:ln>
            <a:noFill/>
          </a:ln>
        </p:spPr>
        <p:txBody>
          <a:bodyPr rtlCol="0" anchor="ctr"/>
          <a:lstStyle/>
          <a:p>
            <a:pPr algn="ctr"/>
          </a:p>
        </p:txBody>
      </p:sp>
      <p:sp>
        <p:nvSpPr>
          <p:cNvPr id="107" name="Rectangle 106"/>
          <p:cNvSpPr/>
          <p:nvPr/>
        </p:nvSpPr>
        <p:spPr>
          <a:xfrm>
            <a:off x="12118848" y="9464040"/>
            <a:ext cx="47548" cy="566928"/>
          </a:xfrm>
          <a:prstGeom prst="rect">
            <a:avLst/>
          </a:prstGeom>
          <a:solidFill>
            <a:srgbClr val="1B1F5C"/>
          </a:solidFill>
          <a:ln>
            <a:noFill/>
          </a:ln>
        </p:spPr>
        <p:txBody>
          <a:bodyPr rtlCol="0" anchor="ctr"/>
          <a:lstStyle/>
          <a:p>
            <a:pPr algn="ctr"/>
          </a:p>
        </p:txBody>
      </p:sp>
      <p:sp>
        <p:nvSpPr>
          <p:cNvPr id="108" name="TextBox 107"/>
          <p:cNvSpPr txBox="1"/>
          <p:nvPr/>
        </p:nvSpPr>
        <p:spPr>
          <a:xfrm>
            <a:off x="12228576"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END OF MONTH 5 · PILOT DATASETS ACCEPTED</a:t>
            </a:r>
          </a:p>
        </p:txBody>
      </p:sp>
      <p:sp>
        <p:nvSpPr>
          <p:cNvPr id="109" name="TextBox 108"/>
          <p:cNvSpPr txBox="1"/>
          <p:nvPr/>
        </p:nvSpPr>
        <p:spPr>
          <a:xfrm>
            <a:off x="12228576"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Reference, integrity, reproducibility and release criteria met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38912" y="365760"/>
            <a:ext cx="12801600" cy="210312"/>
          </a:xfrm>
          <a:prstGeom prst="rect">
            <a:avLst/>
          </a:prstGeom>
          <a:noFill/>
        </p:spPr>
        <p:txBody>
          <a:bodyPr wrap="square" lIns="0" rIns="0" tIns="0" bIns="0" anchor="t">
            <a:spAutoFit/>
          </a:bodyPr>
          <a:lstStyle/>
          <a:p>
            <a:pPr algn="l"/>
            <a:r>
              <a:rPr sz="1150" b="1" i="0">
                <a:solidFill>
                  <a:srgbClr val="2B3A8F"/>
                </a:solidFill>
                <a:latin typeface="Aptos"/>
              </a:rPr>
              <a:t>RWDPLATFORM  /  GOVERNED ANALYTICS DELIVERY</a:t>
            </a:r>
          </a:p>
        </p:txBody>
      </p:sp>
      <p:sp>
        <p:nvSpPr>
          <p:cNvPr id="4" name="TextBox 3"/>
          <p:cNvSpPr txBox="1"/>
          <p:nvPr/>
        </p:nvSpPr>
        <p:spPr>
          <a:xfrm>
            <a:off x="438912" y="694944"/>
            <a:ext cx="14904720" cy="438912"/>
          </a:xfrm>
          <a:prstGeom prst="rect">
            <a:avLst/>
          </a:prstGeom>
          <a:noFill/>
        </p:spPr>
        <p:txBody>
          <a:bodyPr wrap="square" lIns="0" rIns="0" tIns="0" bIns="0" anchor="ctr">
            <a:spAutoFit/>
          </a:bodyPr>
          <a:lstStyle/>
          <a:p>
            <a:pPr algn="l"/>
            <a:r>
              <a:rPr sz="2980" b="1" i="0">
                <a:solidFill>
                  <a:srgbClr val="2B3A8F"/>
                </a:solidFill>
                <a:latin typeface="Aptos"/>
              </a:rPr>
              <a:t>F06 | Reusable Study Analysis Packages</a:t>
            </a:r>
          </a:p>
        </p:txBody>
      </p:sp>
      <p:sp>
        <p:nvSpPr>
          <p:cNvPr id="5" name="Rectangle 4"/>
          <p:cNvSpPr/>
          <p:nvPr/>
        </p:nvSpPr>
        <p:spPr>
          <a:xfrm>
            <a:off x="15563088" y="621792"/>
            <a:ext cx="2276856" cy="457200"/>
          </a:xfrm>
          <a:prstGeom prst="rect">
            <a:avLst/>
          </a:prstGeom>
          <a:solidFill>
            <a:srgbClr val="ECECF6"/>
          </a:solidFill>
          <a:ln>
            <a:noFill/>
          </a:ln>
        </p:spPr>
        <p:txBody>
          <a:bodyPr rtlCol="0" anchor="ctr"/>
          <a:lstStyle/>
          <a:p>
            <a:pPr algn="ctr"/>
          </a:p>
        </p:txBody>
      </p:sp>
      <p:sp>
        <p:nvSpPr>
          <p:cNvPr id="6" name="TextBox 5"/>
          <p:cNvSpPr txBox="1"/>
          <p:nvPr/>
        </p:nvSpPr>
        <p:spPr>
          <a:xfrm>
            <a:off x="15563088" y="621792"/>
            <a:ext cx="2276856" cy="457200"/>
          </a:xfrm>
          <a:prstGeom prst="rect">
            <a:avLst/>
          </a:prstGeom>
          <a:noFill/>
        </p:spPr>
        <p:txBody>
          <a:bodyPr wrap="square" lIns="0" rIns="0" tIns="0" bIns="0" anchor="ctr">
            <a:spAutoFit/>
          </a:bodyPr>
          <a:lstStyle/>
          <a:p>
            <a:pPr algn="ctr"/>
            <a:r>
              <a:rPr sz="1200" b="1" i="0">
                <a:solidFill>
                  <a:srgbClr val="171717"/>
                </a:solidFill>
                <a:latin typeface="Aptos"/>
              </a:rPr>
              <a:t>F06 · Months 4–5</a:t>
            </a:r>
          </a:p>
        </p:txBody>
      </p:sp>
      <p:sp>
        <p:nvSpPr>
          <p:cNvPr id="7" name="TextBox 6"/>
          <p:cNvSpPr txBox="1"/>
          <p:nvPr/>
        </p:nvSpPr>
        <p:spPr>
          <a:xfrm>
            <a:off x="438912" y="1170432"/>
            <a:ext cx="17373600" cy="246888"/>
          </a:xfrm>
          <a:prstGeom prst="rect">
            <a:avLst/>
          </a:prstGeom>
          <a:noFill/>
        </p:spPr>
        <p:txBody>
          <a:bodyPr wrap="square" lIns="0" rIns="0" tIns="0" bIns="0" anchor="t">
            <a:spAutoFit/>
          </a:bodyPr>
          <a:lstStyle/>
          <a:p>
            <a:pPr algn="l"/>
            <a:r>
              <a:rPr sz="1400" b="0" i="0">
                <a:solidFill>
                  <a:srgbClr val="595959"/>
                </a:solidFill>
                <a:latin typeface="Aptos"/>
              </a:rPr>
              <a:t>Ready-to-run analysis packages built on the existing R module library, reading the dataset structures defined in F05.</a:t>
            </a:r>
          </a:p>
        </p:txBody>
      </p:sp>
      <p:sp>
        <p:nvSpPr>
          <p:cNvPr id="8" name="Rectangle 7"/>
          <p:cNvSpPr/>
          <p:nvPr/>
        </p:nvSpPr>
        <p:spPr>
          <a:xfrm>
            <a:off x="438912" y="1554480"/>
            <a:ext cx="17410176" cy="329184"/>
          </a:xfrm>
          <a:prstGeom prst="rect">
            <a:avLst/>
          </a:prstGeom>
          <a:solidFill>
            <a:srgbClr val="ECECF6"/>
          </a:solidFill>
          <a:ln>
            <a:noFill/>
          </a:ln>
        </p:spPr>
        <p:txBody>
          <a:bodyPr rtlCol="0" anchor="ctr"/>
          <a:lstStyle/>
          <a:p>
            <a:pPr algn="ctr"/>
          </a:p>
        </p:txBody>
      </p:sp>
      <p:sp>
        <p:nvSpPr>
          <p:cNvPr id="9" name="TextBox 8"/>
          <p:cNvSpPr txBox="1"/>
          <p:nvPr/>
        </p:nvSpPr>
        <p:spPr>
          <a:xfrm>
            <a:off x="566928" y="1554480"/>
            <a:ext cx="1554480" cy="329184"/>
          </a:xfrm>
          <a:prstGeom prst="rect">
            <a:avLst/>
          </a:prstGeom>
          <a:noFill/>
        </p:spPr>
        <p:txBody>
          <a:bodyPr wrap="square" lIns="0" rIns="0" tIns="0" bIns="0" anchor="ctr">
            <a:spAutoFit/>
          </a:bodyPr>
          <a:lstStyle/>
          <a:p>
            <a:pPr algn="l"/>
            <a:r>
              <a:rPr sz="1100" b="1" i="0">
                <a:solidFill>
                  <a:srgbClr val="2B3A8F"/>
                </a:solidFill>
                <a:latin typeface="Aptos"/>
              </a:rPr>
              <a:t>OUTCOME</a:t>
            </a:r>
          </a:p>
        </p:txBody>
      </p:sp>
      <p:sp>
        <p:nvSpPr>
          <p:cNvPr id="10" name="TextBox 9"/>
          <p:cNvSpPr txBox="1"/>
          <p:nvPr/>
        </p:nvSpPr>
        <p:spPr>
          <a:xfrm>
            <a:off x="2148840" y="1554480"/>
            <a:ext cx="15544800" cy="329184"/>
          </a:xfrm>
          <a:prstGeom prst="rect">
            <a:avLst/>
          </a:prstGeom>
          <a:noFill/>
        </p:spPr>
        <p:txBody>
          <a:bodyPr wrap="square" lIns="0" rIns="0" tIns="0" bIns="0" anchor="ctr">
            <a:spAutoFit/>
          </a:bodyPr>
          <a:lstStyle/>
          <a:p>
            <a:pPr algn="l"/>
            <a:r>
              <a:rPr sz="1200" b="1" i="0">
                <a:solidFill>
                  <a:srgbClr val="171717"/>
                </a:solidFill>
                <a:latin typeface="Aptos"/>
              </a:rPr>
              <a:t>Supported analyses run on datasets that meet each package’s required structure, variable definitions and assumptions, with diagnostics and reference results.</a:t>
            </a:r>
          </a:p>
        </p:txBody>
      </p:sp>
      <p:sp>
        <p:nvSpPr>
          <p:cNvPr id="11" name="Rectangle 10"/>
          <p:cNvSpPr/>
          <p:nvPr/>
        </p:nvSpPr>
        <p:spPr>
          <a:xfrm>
            <a:off x="438912" y="1938528"/>
            <a:ext cx="17410176" cy="329184"/>
          </a:xfrm>
          <a:prstGeom prst="rect">
            <a:avLst/>
          </a:prstGeom>
          <a:solidFill>
            <a:srgbClr val="F6F6F6"/>
          </a:solidFill>
          <a:ln>
            <a:noFill/>
          </a:ln>
        </p:spPr>
        <p:txBody>
          <a:bodyPr rtlCol="0" anchor="ctr"/>
          <a:lstStyle/>
          <a:p>
            <a:pPr algn="ctr"/>
          </a:p>
        </p:txBody>
      </p:sp>
      <p:sp>
        <p:nvSpPr>
          <p:cNvPr id="12" name="TextBox 11"/>
          <p:cNvSpPr txBox="1"/>
          <p:nvPr/>
        </p:nvSpPr>
        <p:spPr>
          <a:xfrm>
            <a:off x="566928" y="1938528"/>
            <a:ext cx="1554480" cy="329184"/>
          </a:xfrm>
          <a:prstGeom prst="rect">
            <a:avLst/>
          </a:prstGeom>
          <a:noFill/>
        </p:spPr>
        <p:txBody>
          <a:bodyPr wrap="square" lIns="0" rIns="0" tIns="0" bIns="0" anchor="ctr">
            <a:spAutoFit/>
          </a:bodyPr>
          <a:lstStyle/>
          <a:p>
            <a:pPr algn="l"/>
            <a:r>
              <a:rPr sz="1100" b="1" i="0">
                <a:solidFill>
                  <a:srgbClr val="2B3A8F"/>
                </a:solidFill>
                <a:latin typeface="Aptos"/>
              </a:rPr>
              <a:t>DEPENDS ON</a:t>
            </a:r>
          </a:p>
        </p:txBody>
      </p:sp>
      <p:sp>
        <p:nvSpPr>
          <p:cNvPr id="13" name="TextBox 12"/>
          <p:cNvSpPr txBox="1"/>
          <p:nvPr/>
        </p:nvSpPr>
        <p:spPr>
          <a:xfrm>
            <a:off x="2148840" y="1938528"/>
            <a:ext cx="15544800" cy="329184"/>
          </a:xfrm>
          <a:prstGeom prst="rect">
            <a:avLst/>
          </a:prstGeom>
          <a:noFill/>
        </p:spPr>
        <p:txBody>
          <a:bodyPr wrap="square" lIns="0" rIns="0" tIns="0" bIns="0" anchor="ctr">
            <a:spAutoFit/>
          </a:bodyPr>
          <a:lstStyle/>
          <a:p>
            <a:pPr algn="l"/>
            <a:r>
              <a:rPr sz="1200" b="1" i="0">
                <a:solidFill>
                  <a:srgbClr val="171717"/>
                </a:solidFill>
                <a:latin typeface="Aptos"/>
              </a:rPr>
              <a:t>Analysis datasets (F05)  ·  Existing R module library  ·  Supported R runtime on Databricks (confirmation due Month 1)</a:t>
            </a:r>
          </a:p>
        </p:txBody>
      </p:sp>
      <p:sp>
        <p:nvSpPr>
          <p:cNvPr id="14" name="TextBox 13"/>
          <p:cNvSpPr txBox="1"/>
          <p:nvPr/>
        </p:nvSpPr>
        <p:spPr>
          <a:xfrm>
            <a:off x="521207" y="2660904"/>
            <a:ext cx="5029200" cy="182880"/>
          </a:xfrm>
          <a:prstGeom prst="rect">
            <a:avLst/>
          </a:prstGeom>
          <a:noFill/>
        </p:spPr>
        <p:txBody>
          <a:bodyPr wrap="square" lIns="0" rIns="0" tIns="0" bIns="0" anchor="t">
            <a:spAutoFit/>
          </a:bodyPr>
          <a:lstStyle/>
          <a:p>
            <a:pPr algn="l"/>
            <a:r>
              <a:rPr sz="1160" b="1" i="0">
                <a:solidFill>
                  <a:srgbClr val="2B3A8F"/>
                </a:solidFill>
                <a:latin typeface="Aptos"/>
              </a:rPr>
              <a:t>DELIVERABLE</a:t>
            </a:r>
          </a:p>
        </p:txBody>
      </p:sp>
      <p:sp>
        <p:nvSpPr>
          <p:cNvPr id="15" name="TextBox 14"/>
          <p:cNvSpPr txBox="1"/>
          <p:nvPr/>
        </p:nvSpPr>
        <p:spPr>
          <a:xfrm>
            <a:off x="5870448" y="2660904"/>
            <a:ext cx="2194560" cy="182880"/>
          </a:xfrm>
          <a:prstGeom prst="rect">
            <a:avLst/>
          </a:prstGeom>
          <a:noFill/>
        </p:spPr>
        <p:txBody>
          <a:bodyPr wrap="square" lIns="0" rIns="0" tIns="0" bIns="0" anchor="t">
            <a:spAutoFit/>
          </a:bodyPr>
          <a:lstStyle/>
          <a:p>
            <a:pPr algn="l"/>
            <a:r>
              <a:rPr sz="1000" b="1" i="0">
                <a:solidFill>
                  <a:srgbClr val="2B3A8F"/>
                </a:solidFill>
                <a:latin typeface="Aptos"/>
              </a:rPr>
              <a:t>AI ASSISTANCE</a:t>
            </a:r>
          </a:p>
        </p:txBody>
      </p:sp>
      <p:sp>
        <p:nvSpPr>
          <p:cNvPr id="16" name="Rectangle 15"/>
          <p:cNvSpPr/>
          <p:nvPr/>
        </p:nvSpPr>
        <p:spPr>
          <a:xfrm>
            <a:off x="8113471" y="2606040"/>
            <a:ext cx="4840833" cy="214884"/>
          </a:xfrm>
          <a:prstGeom prst="rect">
            <a:avLst/>
          </a:prstGeom>
          <a:solidFill>
            <a:srgbClr val="F1F1F1"/>
          </a:solidFill>
          <a:ln>
            <a:noFill/>
          </a:ln>
        </p:spPr>
        <p:txBody>
          <a:bodyPr rtlCol="0" anchor="ctr"/>
          <a:lstStyle/>
          <a:p>
            <a:pPr algn="ctr"/>
          </a:p>
        </p:txBody>
      </p:sp>
      <p:sp>
        <p:nvSpPr>
          <p:cNvPr id="17" name="TextBox 16"/>
          <p:cNvSpPr txBox="1"/>
          <p:nvPr/>
        </p:nvSpPr>
        <p:spPr>
          <a:xfrm>
            <a:off x="8113471" y="2606040"/>
            <a:ext cx="4840833" cy="214884"/>
          </a:xfrm>
          <a:prstGeom prst="rect">
            <a:avLst/>
          </a:prstGeom>
          <a:noFill/>
        </p:spPr>
        <p:txBody>
          <a:bodyPr wrap="square" lIns="0" rIns="0" tIns="0" bIns="0" anchor="ctr">
            <a:spAutoFit/>
          </a:bodyPr>
          <a:lstStyle/>
          <a:p>
            <a:pPr algn="ctr"/>
            <a:r>
              <a:rPr sz="1040" b="1" i="0">
                <a:solidFill>
                  <a:srgbClr val="2B2B2B"/>
                </a:solidFill>
                <a:latin typeface="Aptos"/>
              </a:rPr>
              <a:t>CORE STUDY ANALYSES</a:t>
            </a:r>
          </a:p>
        </p:txBody>
      </p:sp>
      <p:sp>
        <p:nvSpPr>
          <p:cNvPr id="18" name="Rectangle 17"/>
          <p:cNvSpPr/>
          <p:nvPr/>
        </p:nvSpPr>
        <p:spPr>
          <a:xfrm>
            <a:off x="12978079" y="2606040"/>
            <a:ext cx="4840833" cy="214884"/>
          </a:xfrm>
          <a:prstGeom prst="rect">
            <a:avLst/>
          </a:prstGeom>
          <a:solidFill>
            <a:srgbClr val="F1F1F1"/>
          </a:solidFill>
          <a:ln>
            <a:noFill/>
          </a:ln>
        </p:spPr>
        <p:txBody>
          <a:bodyPr rtlCol="0" anchor="ctr"/>
          <a:lstStyle/>
          <a:p>
            <a:pPr algn="ctr"/>
          </a:p>
        </p:txBody>
      </p:sp>
      <p:sp>
        <p:nvSpPr>
          <p:cNvPr id="19" name="TextBox 18"/>
          <p:cNvSpPr txBox="1"/>
          <p:nvPr/>
        </p:nvSpPr>
        <p:spPr>
          <a:xfrm>
            <a:off x="12978079" y="2606040"/>
            <a:ext cx="4840833" cy="214884"/>
          </a:xfrm>
          <a:prstGeom prst="rect">
            <a:avLst/>
          </a:prstGeom>
          <a:noFill/>
        </p:spPr>
        <p:txBody>
          <a:bodyPr wrap="square" lIns="0" rIns="0" tIns="0" bIns="0" anchor="ctr">
            <a:spAutoFit/>
          </a:bodyPr>
          <a:lstStyle/>
          <a:p>
            <a:pPr algn="ctr"/>
            <a:r>
              <a:rPr sz="1040" b="1" i="0">
                <a:solidFill>
                  <a:srgbClr val="2B2B2B"/>
                </a:solidFill>
                <a:latin typeface="Aptos"/>
              </a:rPr>
              <a:t>OUTCOMES, RESOURCE USE + QUALIFICATION</a:t>
            </a:r>
          </a:p>
        </p:txBody>
      </p:sp>
      <p:sp>
        <p:nvSpPr>
          <p:cNvPr id="20" name="TextBox 19"/>
          <p:cNvSpPr txBox="1"/>
          <p:nvPr/>
        </p:nvSpPr>
        <p:spPr>
          <a:xfrm>
            <a:off x="8101583" y="2862072"/>
            <a:ext cx="4864608" cy="182880"/>
          </a:xfrm>
          <a:prstGeom prst="rect">
            <a:avLst/>
          </a:prstGeom>
          <a:noFill/>
        </p:spPr>
        <p:txBody>
          <a:bodyPr wrap="square" lIns="0" rIns="0" tIns="0" bIns="0" anchor="t">
            <a:spAutoFit/>
          </a:bodyPr>
          <a:lstStyle/>
          <a:p>
            <a:pPr algn="ctr"/>
            <a:r>
              <a:rPr sz="1150" b="1" i="0">
                <a:solidFill>
                  <a:srgbClr val="171717"/>
                </a:solidFill>
                <a:latin typeface="Aptos"/>
              </a:rPr>
              <a:t>Month 4</a:t>
            </a:r>
          </a:p>
        </p:txBody>
      </p:sp>
      <p:sp>
        <p:nvSpPr>
          <p:cNvPr id="21" name="TextBox 20"/>
          <p:cNvSpPr txBox="1"/>
          <p:nvPr/>
        </p:nvSpPr>
        <p:spPr>
          <a:xfrm>
            <a:off x="12966192" y="2862072"/>
            <a:ext cx="4864608" cy="182880"/>
          </a:xfrm>
          <a:prstGeom prst="rect">
            <a:avLst/>
          </a:prstGeom>
          <a:noFill/>
        </p:spPr>
        <p:txBody>
          <a:bodyPr wrap="square" lIns="0" rIns="0" tIns="0" bIns="0" anchor="t">
            <a:spAutoFit/>
          </a:bodyPr>
          <a:lstStyle/>
          <a:p>
            <a:pPr algn="ctr"/>
            <a:r>
              <a:rPr sz="1150" b="1" i="0">
                <a:solidFill>
                  <a:srgbClr val="171717"/>
                </a:solidFill>
                <a:latin typeface="Aptos"/>
              </a:rPr>
              <a:t>Month 5</a:t>
            </a:r>
          </a:p>
        </p:txBody>
      </p:sp>
      <p:sp>
        <p:nvSpPr>
          <p:cNvPr id="22" name="Rectangle 21"/>
          <p:cNvSpPr/>
          <p:nvPr/>
        </p:nvSpPr>
        <p:spPr>
          <a:xfrm>
            <a:off x="8101583" y="3145536"/>
            <a:ext cx="4864608" cy="5230368"/>
          </a:xfrm>
          <a:prstGeom prst="rect">
            <a:avLst/>
          </a:prstGeom>
          <a:solidFill>
            <a:srgbClr val="FAFAFA"/>
          </a:solidFill>
          <a:ln>
            <a:noFill/>
          </a:ln>
        </p:spPr>
        <p:txBody>
          <a:bodyPr rtlCol="0" anchor="ctr"/>
          <a:lstStyle/>
          <a:p>
            <a:pPr algn="ctr"/>
          </a:p>
        </p:txBody>
      </p:sp>
      <p:cxnSp>
        <p:nvCxnSpPr>
          <p:cNvPr id="23" name="Connector 22"/>
          <p:cNvCxnSpPr/>
          <p:nvPr/>
        </p:nvCxnSpPr>
        <p:spPr>
          <a:xfrm>
            <a:off x="8101583" y="3145536"/>
            <a:ext cx="0" cy="5230368"/>
          </a:xfrm>
          <a:prstGeom prst="line">
            <a:avLst/>
          </a:prstGeom>
          <a:ln w="6350">
            <a:solidFill>
              <a:srgbClr val="E1E1E1"/>
            </a:solidFill>
          </a:ln>
        </p:spPr>
      </p:cxnSp>
      <p:cxnSp>
        <p:nvCxnSpPr>
          <p:cNvPr id="24" name="Connector 23"/>
          <p:cNvCxnSpPr/>
          <p:nvPr/>
        </p:nvCxnSpPr>
        <p:spPr>
          <a:xfrm>
            <a:off x="12966192" y="3145536"/>
            <a:ext cx="0" cy="5230368"/>
          </a:xfrm>
          <a:prstGeom prst="line">
            <a:avLst/>
          </a:prstGeom>
          <a:ln w="6350">
            <a:solidFill>
              <a:srgbClr val="E1E1E1"/>
            </a:solidFill>
          </a:ln>
        </p:spPr>
      </p:cxnSp>
      <p:cxnSp>
        <p:nvCxnSpPr>
          <p:cNvPr id="25" name="Connector 24"/>
          <p:cNvCxnSpPr/>
          <p:nvPr/>
        </p:nvCxnSpPr>
        <p:spPr>
          <a:xfrm>
            <a:off x="17830800" y="3145536"/>
            <a:ext cx="0" cy="5230368"/>
          </a:xfrm>
          <a:prstGeom prst="line">
            <a:avLst/>
          </a:prstGeom>
          <a:ln w="6350">
            <a:solidFill>
              <a:srgbClr val="E1E1E1"/>
            </a:solidFill>
          </a:ln>
        </p:spPr>
      </p:cxnSp>
      <p:sp>
        <p:nvSpPr>
          <p:cNvPr id="26" name="Rectangle 25"/>
          <p:cNvSpPr/>
          <p:nvPr/>
        </p:nvSpPr>
        <p:spPr>
          <a:xfrm>
            <a:off x="438912" y="3145536"/>
            <a:ext cx="17410176" cy="237744"/>
          </a:xfrm>
          <a:prstGeom prst="rect">
            <a:avLst/>
          </a:prstGeom>
          <a:solidFill>
            <a:srgbClr val="1B1F5C"/>
          </a:solidFill>
          <a:ln>
            <a:noFill/>
          </a:ln>
        </p:spPr>
        <p:txBody>
          <a:bodyPr rtlCol="0" anchor="ctr"/>
          <a:lstStyle/>
          <a:p>
            <a:pPr algn="ctr"/>
          </a:p>
        </p:txBody>
      </p:sp>
      <p:sp>
        <p:nvSpPr>
          <p:cNvPr id="27" name="Rectangle 26"/>
          <p:cNvSpPr/>
          <p:nvPr/>
        </p:nvSpPr>
        <p:spPr>
          <a:xfrm>
            <a:off x="438912" y="3145536"/>
            <a:ext cx="45720" cy="237744"/>
          </a:xfrm>
          <a:prstGeom prst="rect">
            <a:avLst/>
          </a:prstGeom>
          <a:solidFill>
            <a:srgbClr val="1B1F5C"/>
          </a:solidFill>
          <a:ln>
            <a:noFill/>
          </a:ln>
        </p:spPr>
        <p:txBody>
          <a:bodyPr rtlCol="0" anchor="ctr"/>
          <a:lstStyle/>
          <a:p>
            <a:pPr algn="ctr"/>
          </a:p>
        </p:txBody>
      </p:sp>
      <p:sp>
        <p:nvSpPr>
          <p:cNvPr id="28" name="TextBox 27"/>
          <p:cNvSpPr txBox="1"/>
          <p:nvPr/>
        </p:nvSpPr>
        <p:spPr>
          <a:xfrm>
            <a:off x="548640" y="3177540"/>
            <a:ext cx="7415783" cy="187452"/>
          </a:xfrm>
          <a:prstGeom prst="rect">
            <a:avLst/>
          </a:prstGeom>
          <a:noFill/>
        </p:spPr>
        <p:txBody>
          <a:bodyPr wrap="square" lIns="0" rIns="0" tIns="0" bIns="0" anchor="t">
            <a:spAutoFit/>
          </a:bodyPr>
          <a:lstStyle/>
          <a:p>
            <a:pPr algn="l"/>
            <a:r>
              <a:rPr sz="1120" b="1" i="0">
                <a:solidFill>
                  <a:srgbClr val="FFFFFF"/>
                </a:solidFill>
                <a:latin typeface="Aptos"/>
              </a:rPr>
              <a:t>STUDY ANALYSIS PACKAGES</a:t>
            </a:r>
          </a:p>
        </p:txBody>
      </p:sp>
      <p:sp>
        <p:nvSpPr>
          <p:cNvPr id="29" name="TextBox 28"/>
          <p:cNvSpPr txBox="1"/>
          <p:nvPr/>
        </p:nvSpPr>
        <p:spPr>
          <a:xfrm>
            <a:off x="521207" y="3510381"/>
            <a:ext cx="566928" cy="182880"/>
          </a:xfrm>
          <a:prstGeom prst="rect">
            <a:avLst/>
          </a:prstGeom>
          <a:noFill/>
        </p:spPr>
        <p:txBody>
          <a:bodyPr wrap="square" lIns="0" rIns="0" tIns="0" bIns="0" anchor="t">
            <a:spAutoFit/>
          </a:bodyPr>
          <a:lstStyle/>
          <a:p>
            <a:pPr algn="l"/>
            <a:r>
              <a:rPr sz="1150" b="1" i="0">
                <a:solidFill>
                  <a:srgbClr val="2B3A8F"/>
                </a:solidFill>
                <a:latin typeface="Aptos"/>
              </a:rPr>
              <a:t>F06.1</a:t>
            </a:r>
          </a:p>
        </p:txBody>
      </p:sp>
      <p:sp>
        <p:nvSpPr>
          <p:cNvPr id="30" name="TextBox 29"/>
          <p:cNvSpPr txBox="1"/>
          <p:nvPr/>
        </p:nvSpPr>
        <p:spPr>
          <a:xfrm>
            <a:off x="1088136" y="3482949"/>
            <a:ext cx="4672583" cy="202996"/>
          </a:xfrm>
          <a:prstGeom prst="rect">
            <a:avLst/>
          </a:prstGeom>
          <a:noFill/>
        </p:spPr>
        <p:txBody>
          <a:bodyPr wrap="square" lIns="0" rIns="0" tIns="0" bIns="0" anchor="t">
            <a:spAutoFit/>
          </a:bodyPr>
          <a:lstStyle/>
          <a:p>
            <a:pPr algn="l"/>
            <a:r>
              <a:rPr sz="1440" b="1" i="0">
                <a:solidFill>
                  <a:srgbClr val="171717"/>
                </a:solidFill>
                <a:latin typeface="Aptos"/>
              </a:rPr>
              <a:t>Cohort Attrition &amp; Baseline Characteristics</a:t>
            </a:r>
          </a:p>
        </p:txBody>
      </p:sp>
      <p:sp>
        <p:nvSpPr>
          <p:cNvPr id="31" name="TextBox 30"/>
          <p:cNvSpPr txBox="1"/>
          <p:nvPr/>
        </p:nvSpPr>
        <p:spPr>
          <a:xfrm>
            <a:off x="1088136" y="3697833"/>
            <a:ext cx="4672583" cy="310896"/>
          </a:xfrm>
          <a:prstGeom prst="rect">
            <a:avLst/>
          </a:prstGeom>
          <a:noFill/>
        </p:spPr>
        <p:txBody>
          <a:bodyPr wrap="square" lIns="0" rIns="0" tIns="0" bIns="0" anchor="t">
            <a:spAutoFit/>
          </a:bodyPr>
          <a:lstStyle/>
          <a:p>
            <a:pPr algn="l"/>
            <a:r>
              <a:rPr sz="1000" b="0" i="0">
                <a:solidFill>
                  <a:srgbClr val="595959"/>
                </a:solidFill>
                <a:latin typeface="Aptos"/>
              </a:rPr>
              <a:t>Automated attrition flow and baseline characteristics table by cohort, with standardized differences</a:t>
            </a:r>
          </a:p>
        </p:txBody>
      </p:sp>
      <p:sp>
        <p:nvSpPr>
          <p:cNvPr id="32" name="TextBox 31"/>
          <p:cNvSpPr txBox="1"/>
          <p:nvPr/>
        </p:nvSpPr>
        <p:spPr>
          <a:xfrm>
            <a:off x="5870448" y="3410712"/>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the analysis configuration for review</a:t>
            </a:r>
          </a:p>
        </p:txBody>
      </p:sp>
      <p:sp>
        <p:nvSpPr>
          <p:cNvPr id="33" name="Rectangle 32"/>
          <p:cNvSpPr/>
          <p:nvPr/>
        </p:nvSpPr>
        <p:spPr>
          <a:xfrm>
            <a:off x="8138159" y="3657600"/>
            <a:ext cx="2359152" cy="164592"/>
          </a:xfrm>
          <a:prstGeom prst="rect">
            <a:avLst/>
          </a:prstGeom>
          <a:solidFill>
            <a:srgbClr val="E4461E"/>
          </a:solidFill>
          <a:ln>
            <a:noFill/>
          </a:ln>
        </p:spPr>
        <p:txBody>
          <a:bodyPr rtlCol="0" anchor="ctr"/>
          <a:lstStyle/>
          <a:p>
            <a:pPr algn="ctr"/>
          </a:p>
        </p:txBody>
      </p:sp>
      <p:sp>
        <p:nvSpPr>
          <p:cNvPr id="34" name="Diamond 33"/>
          <p:cNvSpPr/>
          <p:nvPr/>
        </p:nvSpPr>
        <p:spPr>
          <a:xfrm>
            <a:off x="10442448" y="3687318"/>
            <a:ext cx="109728" cy="105156"/>
          </a:xfrm>
          <a:prstGeom prst="diamond">
            <a:avLst/>
          </a:prstGeom>
          <a:solidFill>
            <a:srgbClr val="171717"/>
          </a:solidFill>
          <a:ln>
            <a:noFill/>
          </a:ln>
        </p:spPr>
        <p:txBody>
          <a:bodyPr rtlCol="0" anchor="ctr"/>
          <a:lstStyle/>
          <a:p>
            <a:pPr algn="ctr"/>
          </a:p>
        </p:txBody>
      </p:sp>
      <p:cxnSp>
        <p:nvCxnSpPr>
          <p:cNvPr id="35" name="Connector 34"/>
          <p:cNvCxnSpPr/>
          <p:nvPr/>
        </p:nvCxnSpPr>
        <p:spPr>
          <a:xfrm>
            <a:off x="438912" y="4096512"/>
            <a:ext cx="17410176" cy="0"/>
          </a:xfrm>
          <a:prstGeom prst="line">
            <a:avLst/>
          </a:prstGeom>
          <a:ln w="6350">
            <a:solidFill>
              <a:srgbClr val="E1E1E1"/>
            </a:solidFill>
          </a:ln>
        </p:spPr>
      </p:cxnSp>
      <p:sp>
        <p:nvSpPr>
          <p:cNvPr id="36" name="TextBox 35"/>
          <p:cNvSpPr txBox="1"/>
          <p:nvPr/>
        </p:nvSpPr>
        <p:spPr>
          <a:xfrm>
            <a:off x="521207" y="4223613"/>
            <a:ext cx="566928" cy="182880"/>
          </a:xfrm>
          <a:prstGeom prst="rect">
            <a:avLst/>
          </a:prstGeom>
          <a:noFill/>
        </p:spPr>
        <p:txBody>
          <a:bodyPr wrap="square" lIns="0" rIns="0" tIns="0" bIns="0" anchor="t">
            <a:spAutoFit/>
          </a:bodyPr>
          <a:lstStyle/>
          <a:p>
            <a:pPr algn="l"/>
            <a:r>
              <a:rPr sz="1150" b="1" i="0">
                <a:solidFill>
                  <a:srgbClr val="2B3A8F"/>
                </a:solidFill>
                <a:latin typeface="Aptos"/>
              </a:rPr>
              <a:t>F06.2</a:t>
            </a:r>
          </a:p>
        </p:txBody>
      </p:sp>
      <p:sp>
        <p:nvSpPr>
          <p:cNvPr id="37" name="TextBox 36"/>
          <p:cNvSpPr txBox="1"/>
          <p:nvPr/>
        </p:nvSpPr>
        <p:spPr>
          <a:xfrm>
            <a:off x="1088136" y="4196181"/>
            <a:ext cx="4672583" cy="202996"/>
          </a:xfrm>
          <a:prstGeom prst="rect">
            <a:avLst/>
          </a:prstGeom>
          <a:noFill/>
        </p:spPr>
        <p:txBody>
          <a:bodyPr wrap="square" lIns="0" rIns="0" tIns="0" bIns="0" anchor="t">
            <a:spAutoFit/>
          </a:bodyPr>
          <a:lstStyle/>
          <a:p>
            <a:pPr algn="l"/>
            <a:r>
              <a:rPr sz="1440" b="1" i="0">
                <a:solidFill>
                  <a:srgbClr val="171717"/>
                </a:solidFill>
                <a:latin typeface="Aptos"/>
              </a:rPr>
              <a:t>Standard Plot Library</a:t>
            </a:r>
          </a:p>
        </p:txBody>
      </p:sp>
      <p:sp>
        <p:nvSpPr>
          <p:cNvPr id="38" name="TextBox 37"/>
          <p:cNvSpPr txBox="1"/>
          <p:nvPr/>
        </p:nvSpPr>
        <p:spPr>
          <a:xfrm>
            <a:off x="1088136" y="4411065"/>
            <a:ext cx="4672583" cy="310896"/>
          </a:xfrm>
          <a:prstGeom prst="rect">
            <a:avLst/>
          </a:prstGeom>
          <a:noFill/>
        </p:spPr>
        <p:txBody>
          <a:bodyPr wrap="square" lIns="0" rIns="0" tIns="0" bIns="0" anchor="t">
            <a:spAutoFit/>
          </a:bodyPr>
          <a:lstStyle/>
          <a:p>
            <a:pPr algn="l"/>
            <a:r>
              <a:rPr sz="1000" b="0" i="0">
                <a:solidFill>
                  <a:srgbClr val="595959"/>
                </a:solidFill>
                <a:latin typeface="Aptos"/>
              </a:rPr>
              <a:t>Ready-made plots: attrition diagrams, Kaplan–Meier curves, treatment flow (Sankey) charts, forest plots and distributions</a:t>
            </a:r>
          </a:p>
        </p:txBody>
      </p:sp>
      <p:sp>
        <p:nvSpPr>
          <p:cNvPr id="39" name="TextBox 38"/>
          <p:cNvSpPr txBox="1"/>
          <p:nvPr/>
        </p:nvSpPr>
        <p:spPr>
          <a:xfrm>
            <a:off x="5870448" y="4123944"/>
            <a:ext cx="2176272" cy="658368"/>
          </a:xfrm>
          <a:prstGeom prst="rect">
            <a:avLst/>
          </a:prstGeom>
          <a:noFill/>
        </p:spPr>
        <p:txBody>
          <a:bodyPr wrap="square" lIns="0" rIns="0" tIns="0" bIns="0" anchor="ctr">
            <a:spAutoFit/>
          </a:bodyPr>
          <a:lstStyle/>
          <a:p>
            <a:pPr algn="l"/>
            <a:r>
              <a:rPr sz="1000" b="0" i="0">
                <a:solidFill>
                  <a:srgbClr val="2B3A8F"/>
                </a:solidFill>
                <a:latin typeface="Aptos"/>
              </a:rPr>
              <a:t>Suggests the plot type for each result</a:t>
            </a:r>
          </a:p>
        </p:txBody>
      </p:sp>
      <p:sp>
        <p:nvSpPr>
          <p:cNvPr id="40" name="Rectangle 39"/>
          <p:cNvSpPr/>
          <p:nvPr/>
        </p:nvSpPr>
        <p:spPr>
          <a:xfrm>
            <a:off x="8138159" y="4370832"/>
            <a:ext cx="3575304" cy="164592"/>
          </a:xfrm>
          <a:prstGeom prst="rect">
            <a:avLst/>
          </a:prstGeom>
          <a:solidFill>
            <a:srgbClr val="E4461E"/>
          </a:solidFill>
          <a:ln>
            <a:noFill/>
          </a:ln>
        </p:spPr>
        <p:txBody>
          <a:bodyPr rtlCol="0" anchor="ctr"/>
          <a:lstStyle/>
          <a:p>
            <a:pPr algn="ctr"/>
          </a:p>
        </p:txBody>
      </p:sp>
      <p:sp>
        <p:nvSpPr>
          <p:cNvPr id="41" name="Diamond 40"/>
          <p:cNvSpPr/>
          <p:nvPr/>
        </p:nvSpPr>
        <p:spPr>
          <a:xfrm>
            <a:off x="11658600" y="4400550"/>
            <a:ext cx="109728" cy="105156"/>
          </a:xfrm>
          <a:prstGeom prst="diamond">
            <a:avLst/>
          </a:prstGeom>
          <a:solidFill>
            <a:srgbClr val="171717"/>
          </a:solidFill>
          <a:ln>
            <a:noFill/>
          </a:ln>
        </p:spPr>
        <p:txBody>
          <a:bodyPr rtlCol="0" anchor="ctr"/>
          <a:lstStyle/>
          <a:p>
            <a:pPr algn="ctr"/>
          </a:p>
        </p:txBody>
      </p:sp>
      <p:cxnSp>
        <p:nvCxnSpPr>
          <p:cNvPr id="42" name="Connector 41"/>
          <p:cNvCxnSpPr/>
          <p:nvPr/>
        </p:nvCxnSpPr>
        <p:spPr>
          <a:xfrm>
            <a:off x="438912" y="4809744"/>
            <a:ext cx="17410176" cy="0"/>
          </a:xfrm>
          <a:prstGeom prst="line">
            <a:avLst/>
          </a:prstGeom>
          <a:ln w="6350">
            <a:solidFill>
              <a:srgbClr val="E1E1E1"/>
            </a:solidFill>
          </a:ln>
        </p:spPr>
      </p:cxnSp>
      <p:sp>
        <p:nvSpPr>
          <p:cNvPr id="43" name="TextBox 42"/>
          <p:cNvSpPr txBox="1"/>
          <p:nvPr/>
        </p:nvSpPr>
        <p:spPr>
          <a:xfrm>
            <a:off x="521207" y="4936845"/>
            <a:ext cx="566928" cy="182880"/>
          </a:xfrm>
          <a:prstGeom prst="rect">
            <a:avLst/>
          </a:prstGeom>
          <a:noFill/>
        </p:spPr>
        <p:txBody>
          <a:bodyPr wrap="square" lIns="0" rIns="0" tIns="0" bIns="0" anchor="t">
            <a:spAutoFit/>
          </a:bodyPr>
          <a:lstStyle/>
          <a:p>
            <a:pPr algn="l"/>
            <a:r>
              <a:rPr sz="1150" b="1" i="0">
                <a:solidFill>
                  <a:srgbClr val="2B3A8F"/>
                </a:solidFill>
                <a:latin typeface="Aptos"/>
              </a:rPr>
              <a:t>F06.3</a:t>
            </a:r>
          </a:p>
        </p:txBody>
      </p:sp>
      <p:sp>
        <p:nvSpPr>
          <p:cNvPr id="44" name="TextBox 43"/>
          <p:cNvSpPr txBox="1"/>
          <p:nvPr/>
        </p:nvSpPr>
        <p:spPr>
          <a:xfrm>
            <a:off x="1088136" y="4909413"/>
            <a:ext cx="4672583" cy="202996"/>
          </a:xfrm>
          <a:prstGeom prst="rect">
            <a:avLst/>
          </a:prstGeom>
          <a:noFill/>
        </p:spPr>
        <p:txBody>
          <a:bodyPr wrap="square" lIns="0" rIns="0" tIns="0" bIns="0" anchor="t">
            <a:spAutoFit/>
          </a:bodyPr>
          <a:lstStyle/>
          <a:p>
            <a:pPr algn="l"/>
            <a:r>
              <a:rPr sz="1440" b="1" i="0">
                <a:solidFill>
                  <a:srgbClr val="171717"/>
                </a:solidFill>
                <a:latin typeface="Aptos"/>
              </a:rPr>
              <a:t>Treatment Patterns &amp; Drug Utilization</a:t>
            </a:r>
          </a:p>
        </p:txBody>
      </p:sp>
      <p:sp>
        <p:nvSpPr>
          <p:cNvPr id="45" name="TextBox 44"/>
          <p:cNvSpPr txBox="1"/>
          <p:nvPr/>
        </p:nvSpPr>
        <p:spPr>
          <a:xfrm>
            <a:off x="1088136" y="5124297"/>
            <a:ext cx="4672583" cy="310896"/>
          </a:xfrm>
          <a:prstGeom prst="rect">
            <a:avLst/>
          </a:prstGeom>
          <a:noFill/>
        </p:spPr>
        <p:txBody>
          <a:bodyPr wrap="square" lIns="0" rIns="0" tIns="0" bIns="0" anchor="t">
            <a:spAutoFit/>
          </a:bodyPr>
          <a:lstStyle/>
          <a:p>
            <a:pPr algn="l"/>
            <a:r>
              <a:rPr sz="1000" b="0" i="0">
                <a:solidFill>
                  <a:srgbClr val="595959"/>
                </a:solidFill>
                <a:latin typeface="Aptos"/>
              </a:rPr>
              <a:t>Treatment sequences, switching, persistence, time to discontinuation and adherence as proportion of days covered</a:t>
            </a:r>
          </a:p>
        </p:txBody>
      </p:sp>
      <p:sp>
        <p:nvSpPr>
          <p:cNvPr id="46" name="TextBox 45"/>
          <p:cNvSpPr txBox="1"/>
          <p:nvPr/>
        </p:nvSpPr>
        <p:spPr>
          <a:xfrm>
            <a:off x="5870448" y="4837176"/>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pathway configuration for review</a:t>
            </a:r>
          </a:p>
        </p:txBody>
      </p:sp>
      <p:sp>
        <p:nvSpPr>
          <p:cNvPr id="47" name="Rectangle 46"/>
          <p:cNvSpPr/>
          <p:nvPr/>
        </p:nvSpPr>
        <p:spPr>
          <a:xfrm>
            <a:off x="8138159" y="5084064"/>
            <a:ext cx="4791456" cy="164592"/>
          </a:xfrm>
          <a:prstGeom prst="rect">
            <a:avLst/>
          </a:prstGeom>
          <a:solidFill>
            <a:srgbClr val="E4461E"/>
          </a:solidFill>
          <a:ln>
            <a:noFill/>
          </a:ln>
        </p:spPr>
        <p:txBody>
          <a:bodyPr rtlCol="0" anchor="ctr"/>
          <a:lstStyle/>
          <a:p>
            <a:pPr algn="ctr"/>
          </a:p>
        </p:txBody>
      </p:sp>
      <p:sp>
        <p:nvSpPr>
          <p:cNvPr id="48" name="Diamond 47"/>
          <p:cNvSpPr/>
          <p:nvPr/>
        </p:nvSpPr>
        <p:spPr>
          <a:xfrm>
            <a:off x="12874752" y="5113782"/>
            <a:ext cx="109728" cy="105156"/>
          </a:xfrm>
          <a:prstGeom prst="diamond">
            <a:avLst/>
          </a:prstGeom>
          <a:solidFill>
            <a:srgbClr val="171717"/>
          </a:solidFill>
          <a:ln>
            <a:noFill/>
          </a:ln>
        </p:spPr>
        <p:txBody>
          <a:bodyPr rtlCol="0" anchor="ctr"/>
          <a:lstStyle/>
          <a:p>
            <a:pPr algn="ctr"/>
          </a:p>
        </p:txBody>
      </p:sp>
      <p:cxnSp>
        <p:nvCxnSpPr>
          <p:cNvPr id="49" name="Connector 48"/>
          <p:cNvCxnSpPr/>
          <p:nvPr/>
        </p:nvCxnSpPr>
        <p:spPr>
          <a:xfrm>
            <a:off x="438912" y="5522976"/>
            <a:ext cx="17410176" cy="0"/>
          </a:xfrm>
          <a:prstGeom prst="line">
            <a:avLst/>
          </a:prstGeom>
          <a:ln w="6350">
            <a:solidFill>
              <a:srgbClr val="E1E1E1"/>
            </a:solidFill>
          </a:ln>
        </p:spPr>
      </p:cxnSp>
      <p:sp>
        <p:nvSpPr>
          <p:cNvPr id="50" name="TextBox 49"/>
          <p:cNvSpPr txBox="1"/>
          <p:nvPr/>
        </p:nvSpPr>
        <p:spPr>
          <a:xfrm>
            <a:off x="521207" y="5650077"/>
            <a:ext cx="566928" cy="182880"/>
          </a:xfrm>
          <a:prstGeom prst="rect">
            <a:avLst/>
          </a:prstGeom>
          <a:noFill/>
        </p:spPr>
        <p:txBody>
          <a:bodyPr wrap="square" lIns="0" rIns="0" tIns="0" bIns="0" anchor="t">
            <a:spAutoFit/>
          </a:bodyPr>
          <a:lstStyle/>
          <a:p>
            <a:pPr algn="l"/>
            <a:r>
              <a:rPr sz="1150" b="1" i="0">
                <a:solidFill>
                  <a:srgbClr val="2B3A8F"/>
                </a:solidFill>
                <a:latin typeface="Aptos"/>
              </a:rPr>
              <a:t>F06.4</a:t>
            </a:r>
          </a:p>
        </p:txBody>
      </p:sp>
      <p:sp>
        <p:nvSpPr>
          <p:cNvPr id="51" name="TextBox 50"/>
          <p:cNvSpPr txBox="1"/>
          <p:nvPr/>
        </p:nvSpPr>
        <p:spPr>
          <a:xfrm>
            <a:off x="1088136" y="5622645"/>
            <a:ext cx="4672583" cy="202996"/>
          </a:xfrm>
          <a:prstGeom prst="rect">
            <a:avLst/>
          </a:prstGeom>
          <a:noFill/>
        </p:spPr>
        <p:txBody>
          <a:bodyPr wrap="square" lIns="0" rIns="0" tIns="0" bIns="0" anchor="t">
            <a:spAutoFit/>
          </a:bodyPr>
          <a:lstStyle/>
          <a:p>
            <a:pPr algn="l"/>
            <a:r>
              <a:rPr sz="1440" b="1" i="0">
                <a:solidFill>
                  <a:srgbClr val="171717"/>
                </a:solidFill>
                <a:latin typeface="Aptos"/>
              </a:rPr>
              <a:t>Clinical Outcomes &amp; Time-to-Event</a:t>
            </a:r>
          </a:p>
        </p:txBody>
      </p:sp>
      <p:sp>
        <p:nvSpPr>
          <p:cNvPr id="52" name="TextBox 51"/>
          <p:cNvSpPr txBox="1"/>
          <p:nvPr/>
        </p:nvSpPr>
        <p:spPr>
          <a:xfrm>
            <a:off x="1088136" y="5837529"/>
            <a:ext cx="4672583" cy="310896"/>
          </a:xfrm>
          <a:prstGeom prst="rect">
            <a:avLst/>
          </a:prstGeom>
          <a:noFill/>
        </p:spPr>
        <p:txBody>
          <a:bodyPr wrap="square" lIns="0" rIns="0" tIns="0" bIns="0" anchor="t">
            <a:spAutoFit/>
          </a:bodyPr>
          <a:lstStyle/>
          <a:p>
            <a:pPr algn="l"/>
            <a:r>
              <a:rPr sz="1000" b="0" i="0">
                <a:solidFill>
                  <a:srgbClr val="595959"/>
                </a:solidFill>
                <a:latin typeface="Aptos"/>
              </a:rPr>
              <a:t>Kaplan–Meier with medians and confidence intervals, Cox models, time to next treatment and event rates, with diagnostics</a:t>
            </a:r>
          </a:p>
        </p:txBody>
      </p:sp>
      <p:sp>
        <p:nvSpPr>
          <p:cNvPr id="53" name="TextBox 52"/>
          <p:cNvSpPr txBox="1"/>
          <p:nvPr/>
        </p:nvSpPr>
        <p:spPr>
          <a:xfrm>
            <a:off x="5870448" y="5550408"/>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model configuration; reviewed modules estimate</a:t>
            </a:r>
          </a:p>
        </p:txBody>
      </p:sp>
      <p:sp>
        <p:nvSpPr>
          <p:cNvPr id="54" name="Rectangle 53"/>
          <p:cNvSpPr/>
          <p:nvPr/>
        </p:nvSpPr>
        <p:spPr>
          <a:xfrm>
            <a:off x="9354311" y="5797296"/>
            <a:ext cx="4791456" cy="164592"/>
          </a:xfrm>
          <a:prstGeom prst="rect">
            <a:avLst/>
          </a:prstGeom>
          <a:solidFill>
            <a:srgbClr val="E4461E"/>
          </a:solidFill>
          <a:ln>
            <a:noFill/>
          </a:ln>
        </p:spPr>
        <p:txBody>
          <a:bodyPr rtlCol="0" anchor="ctr"/>
          <a:lstStyle/>
          <a:p>
            <a:pPr algn="ctr"/>
          </a:p>
        </p:txBody>
      </p:sp>
      <p:sp>
        <p:nvSpPr>
          <p:cNvPr id="55" name="Diamond 54"/>
          <p:cNvSpPr/>
          <p:nvPr/>
        </p:nvSpPr>
        <p:spPr>
          <a:xfrm>
            <a:off x="14090904" y="5827014"/>
            <a:ext cx="109728" cy="105156"/>
          </a:xfrm>
          <a:prstGeom prst="diamond">
            <a:avLst/>
          </a:prstGeom>
          <a:solidFill>
            <a:srgbClr val="171717"/>
          </a:solidFill>
          <a:ln>
            <a:noFill/>
          </a:ln>
        </p:spPr>
        <p:txBody>
          <a:bodyPr rtlCol="0" anchor="ctr"/>
          <a:lstStyle/>
          <a:p>
            <a:pPr algn="ctr"/>
          </a:p>
        </p:txBody>
      </p:sp>
      <p:cxnSp>
        <p:nvCxnSpPr>
          <p:cNvPr id="56" name="Connector 55"/>
          <p:cNvCxnSpPr/>
          <p:nvPr/>
        </p:nvCxnSpPr>
        <p:spPr>
          <a:xfrm>
            <a:off x="438912" y="6236208"/>
            <a:ext cx="17410176" cy="0"/>
          </a:xfrm>
          <a:prstGeom prst="line">
            <a:avLst/>
          </a:prstGeom>
          <a:ln w="6350">
            <a:solidFill>
              <a:srgbClr val="E1E1E1"/>
            </a:solidFill>
          </a:ln>
        </p:spPr>
      </p:cxnSp>
      <p:sp>
        <p:nvSpPr>
          <p:cNvPr id="57" name="TextBox 56"/>
          <p:cNvSpPr txBox="1"/>
          <p:nvPr/>
        </p:nvSpPr>
        <p:spPr>
          <a:xfrm>
            <a:off x="521207" y="6363309"/>
            <a:ext cx="566928" cy="182880"/>
          </a:xfrm>
          <a:prstGeom prst="rect">
            <a:avLst/>
          </a:prstGeom>
          <a:noFill/>
        </p:spPr>
        <p:txBody>
          <a:bodyPr wrap="square" lIns="0" rIns="0" tIns="0" bIns="0" anchor="t">
            <a:spAutoFit/>
          </a:bodyPr>
          <a:lstStyle/>
          <a:p>
            <a:pPr algn="l"/>
            <a:r>
              <a:rPr sz="1150" b="1" i="0">
                <a:solidFill>
                  <a:srgbClr val="2B3A8F"/>
                </a:solidFill>
                <a:latin typeface="Aptos"/>
              </a:rPr>
              <a:t>F06.5</a:t>
            </a:r>
          </a:p>
        </p:txBody>
      </p:sp>
      <p:sp>
        <p:nvSpPr>
          <p:cNvPr id="58" name="TextBox 57"/>
          <p:cNvSpPr txBox="1"/>
          <p:nvPr/>
        </p:nvSpPr>
        <p:spPr>
          <a:xfrm>
            <a:off x="1088136" y="6335877"/>
            <a:ext cx="4672583" cy="202996"/>
          </a:xfrm>
          <a:prstGeom prst="rect">
            <a:avLst/>
          </a:prstGeom>
          <a:noFill/>
        </p:spPr>
        <p:txBody>
          <a:bodyPr wrap="square" lIns="0" rIns="0" tIns="0" bIns="0" anchor="t">
            <a:spAutoFit/>
          </a:bodyPr>
          <a:lstStyle/>
          <a:p>
            <a:pPr algn="l"/>
            <a:r>
              <a:rPr sz="1440" b="1" i="0">
                <a:solidFill>
                  <a:srgbClr val="171717"/>
                </a:solidFill>
                <a:latin typeface="Aptos"/>
              </a:rPr>
              <a:t>Healthcare Resource Use &amp; Costs</a:t>
            </a:r>
          </a:p>
        </p:txBody>
      </p:sp>
      <p:sp>
        <p:nvSpPr>
          <p:cNvPr id="59" name="TextBox 58"/>
          <p:cNvSpPr txBox="1"/>
          <p:nvPr/>
        </p:nvSpPr>
        <p:spPr>
          <a:xfrm>
            <a:off x="1088136" y="6550761"/>
            <a:ext cx="4672583" cy="310896"/>
          </a:xfrm>
          <a:prstGeom prst="rect">
            <a:avLst/>
          </a:prstGeom>
          <a:noFill/>
        </p:spPr>
        <p:txBody>
          <a:bodyPr wrap="square" lIns="0" rIns="0" tIns="0" bIns="0" anchor="t">
            <a:spAutoFit/>
          </a:bodyPr>
          <a:lstStyle/>
          <a:p>
            <a:pPr algn="l"/>
            <a:r>
              <a:rPr sz="1000" b="0" i="0">
                <a:solidFill>
                  <a:srgbClr val="595959"/>
                </a:solidFill>
                <a:latin typeface="Aptos"/>
              </a:rPr>
              <a:t>Visits, hospitalizations and procedures per patient-year; costs only where the source cost basis supports them</a:t>
            </a:r>
          </a:p>
        </p:txBody>
      </p:sp>
      <p:sp>
        <p:nvSpPr>
          <p:cNvPr id="60" name="Rectangle 59"/>
          <p:cNvSpPr/>
          <p:nvPr/>
        </p:nvSpPr>
        <p:spPr>
          <a:xfrm>
            <a:off x="10570463" y="6510528"/>
            <a:ext cx="4791456" cy="164592"/>
          </a:xfrm>
          <a:prstGeom prst="rect">
            <a:avLst/>
          </a:prstGeom>
          <a:solidFill>
            <a:srgbClr val="E4461E"/>
          </a:solidFill>
          <a:ln>
            <a:noFill/>
          </a:ln>
        </p:spPr>
        <p:txBody>
          <a:bodyPr rtlCol="0" anchor="ctr"/>
          <a:lstStyle/>
          <a:p>
            <a:pPr algn="ctr"/>
          </a:p>
        </p:txBody>
      </p:sp>
      <p:sp>
        <p:nvSpPr>
          <p:cNvPr id="61" name="Diamond 60"/>
          <p:cNvSpPr/>
          <p:nvPr/>
        </p:nvSpPr>
        <p:spPr>
          <a:xfrm>
            <a:off x="15307056" y="6540246"/>
            <a:ext cx="109728" cy="105156"/>
          </a:xfrm>
          <a:prstGeom prst="diamond">
            <a:avLst/>
          </a:prstGeom>
          <a:solidFill>
            <a:srgbClr val="171717"/>
          </a:solidFill>
          <a:ln>
            <a:noFill/>
          </a:ln>
        </p:spPr>
        <p:txBody>
          <a:bodyPr rtlCol="0" anchor="ctr"/>
          <a:lstStyle/>
          <a:p>
            <a:pPr algn="ctr"/>
          </a:p>
        </p:txBody>
      </p:sp>
      <p:cxnSp>
        <p:nvCxnSpPr>
          <p:cNvPr id="62" name="Connector 61"/>
          <p:cNvCxnSpPr/>
          <p:nvPr/>
        </p:nvCxnSpPr>
        <p:spPr>
          <a:xfrm>
            <a:off x="438912" y="6949440"/>
            <a:ext cx="17410176" cy="0"/>
          </a:xfrm>
          <a:prstGeom prst="line">
            <a:avLst/>
          </a:prstGeom>
          <a:ln w="6350">
            <a:solidFill>
              <a:srgbClr val="E1E1E1"/>
            </a:solidFill>
          </a:ln>
        </p:spPr>
      </p:cxnSp>
      <p:sp>
        <p:nvSpPr>
          <p:cNvPr id="63" name="TextBox 62"/>
          <p:cNvSpPr txBox="1"/>
          <p:nvPr/>
        </p:nvSpPr>
        <p:spPr>
          <a:xfrm>
            <a:off x="521207" y="7076541"/>
            <a:ext cx="566928" cy="182880"/>
          </a:xfrm>
          <a:prstGeom prst="rect">
            <a:avLst/>
          </a:prstGeom>
          <a:noFill/>
        </p:spPr>
        <p:txBody>
          <a:bodyPr wrap="square" lIns="0" rIns="0" tIns="0" bIns="0" anchor="t">
            <a:spAutoFit/>
          </a:bodyPr>
          <a:lstStyle/>
          <a:p>
            <a:pPr algn="l"/>
            <a:r>
              <a:rPr sz="1150" b="1" i="0">
                <a:solidFill>
                  <a:srgbClr val="2B3A8F"/>
                </a:solidFill>
                <a:latin typeface="Aptos"/>
              </a:rPr>
              <a:t>F06.6</a:t>
            </a:r>
          </a:p>
        </p:txBody>
      </p:sp>
      <p:sp>
        <p:nvSpPr>
          <p:cNvPr id="64" name="TextBox 63"/>
          <p:cNvSpPr txBox="1"/>
          <p:nvPr/>
        </p:nvSpPr>
        <p:spPr>
          <a:xfrm>
            <a:off x="1088136" y="7049109"/>
            <a:ext cx="4672583" cy="202996"/>
          </a:xfrm>
          <a:prstGeom prst="rect">
            <a:avLst/>
          </a:prstGeom>
          <a:noFill/>
        </p:spPr>
        <p:txBody>
          <a:bodyPr wrap="square" lIns="0" rIns="0" tIns="0" bIns="0" anchor="t">
            <a:spAutoFit/>
          </a:bodyPr>
          <a:lstStyle/>
          <a:p>
            <a:pPr algn="l"/>
            <a:r>
              <a:rPr sz="1440" b="1" i="0">
                <a:solidFill>
                  <a:srgbClr val="171717"/>
                </a:solidFill>
                <a:latin typeface="Aptos"/>
              </a:rPr>
              <a:t>Incidence &amp; Prevalence</a:t>
            </a:r>
          </a:p>
        </p:txBody>
      </p:sp>
      <p:sp>
        <p:nvSpPr>
          <p:cNvPr id="65" name="TextBox 64"/>
          <p:cNvSpPr txBox="1"/>
          <p:nvPr/>
        </p:nvSpPr>
        <p:spPr>
          <a:xfrm>
            <a:off x="1088136" y="7263993"/>
            <a:ext cx="4672583" cy="310896"/>
          </a:xfrm>
          <a:prstGeom prst="rect">
            <a:avLst/>
          </a:prstGeom>
          <a:noFill/>
        </p:spPr>
        <p:txBody>
          <a:bodyPr wrap="square" lIns="0" rIns="0" tIns="0" bIns="0" anchor="t">
            <a:spAutoFit/>
          </a:bodyPr>
          <a:lstStyle/>
          <a:p>
            <a:pPr algn="l"/>
            <a:r>
              <a:rPr sz="1000" b="0" i="0">
                <a:solidFill>
                  <a:srgbClr val="595959"/>
                </a:solidFill>
                <a:latin typeface="Aptos"/>
              </a:rPr>
              <a:t>Incidence rates and point/period prevalence, with explicit denominator populations, observation rules and CIs</a:t>
            </a:r>
          </a:p>
        </p:txBody>
      </p:sp>
      <p:sp>
        <p:nvSpPr>
          <p:cNvPr id="66" name="Rectangle 65"/>
          <p:cNvSpPr/>
          <p:nvPr/>
        </p:nvSpPr>
        <p:spPr>
          <a:xfrm>
            <a:off x="10570463" y="7223760"/>
            <a:ext cx="4791456" cy="164592"/>
          </a:xfrm>
          <a:prstGeom prst="rect">
            <a:avLst/>
          </a:prstGeom>
          <a:solidFill>
            <a:srgbClr val="E4461E"/>
          </a:solidFill>
          <a:ln>
            <a:noFill/>
          </a:ln>
        </p:spPr>
        <p:txBody>
          <a:bodyPr rtlCol="0" anchor="ctr"/>
          <a:lstStyle/>
          <a:p>
            <a:pPr algn="ctr"/>
          </a:p>
        </p:txBody>
      </p:sp>
      <p:sp>
        <p:nvSpPr>
          <p:cNvPr id="67" name="Diamond 66"/>
          <p:cNvSpPr/>
          <p:nvPr/>
        </p:nvSpPr>
        <p:spPr>
          <a:xfrm>
            <a:off x="15307056" y="7253478"/>
            <a:ext cx="109728" cy="105156"/>
          </a:xfrm>
          <a:prstGeom prst="diamond">
            <a:avLst/>
          </a:prstGeom>
          <a:solidFill>
            <a:srgbClr val="171717"/>
          </a:solidFill>
          <a:ln>
            <a:noFill/>
          </a:ln>
        </p:spPr>
        <p:txBody>
          <a:bodyPr rtlCol="0" anchor="ctr"/>
          <a:lstStyle/>
          <a:p>
            <a:pPr algn="ctr"/>
          </a:p>
        </p:txBody>
      </p:sp>
      <p:cxnSp>
        <p:nvCxnSpPr>
          <p:cNvPr id="68" name="Connector 67"/>
          <p:cNvCxnSpPr/>
          <p:nvPr/>
        </p:nvCxnSpPr>
        <p:spPr>
          <a:xfrm>
            <a:off x="438912" y="7662672"/>
            <a:ext cx="17410176" cy="0"/>
          </a:xfrm>
          <a:prstGeom prst="line">
            <a:avLst/>
          </a:prstGeom>
          <a:ln w="6350">
            <a:solidFill>
              <a:srgbClr val="E1E1E1"/>
            </a:solidFill>
          </a:ln>
        </p:spPr>
      </p:cxnSp>
      <p:sp>
        <p:nvSpPr>
          <p:cNvPr id="69" name="TextBox 68"/>
          <p:cNvSpPr txBox="1"/>
          <p:nvPr/>
        </p:nvSpPr>
        <p:spPr>
          <a:xfrm>
            <a:off x="521207" y="7789773"/>
            <a:ext cx="566928" cy="182880"/>
          </a:xfrm>
          <a:prstGeom prst="rect">
            <a:avLst/>
          </a:prstGeom>
          <a:noFill/>
        </p:spPr>
        <p:txBody>
          <a:bodyPr wrap="square" lIns="0" rIns="0" tIns="0" bIns="0" anchor="t">
            <a:spAutoFit/>
          </a:bodyPr>
          <a:lstStyle/>
          <a:p>
            <a:pPr algn="l"/>
            <a:r>
              <a:rPr sz="1150" b="1" i="0">
                <a:solidFill>
                  <a:srgbClr val="2B3A8F"/>
                </a:solidFill>
                <a:latin typeface="Aptos"/>
              </a:rPr>
              <a:t>F06.7</a:t>
            </a:r>
          </a:p>
        </p:txBody>
      </p:sp>
      <p:sp>
        <p:nvSpPr>
          <p:cNvPr id="70" name="TextBox 69"/>
          <p:cNvSpPr txBox="1"/>
          <p:nvPr/>
        </p:nvSpPr>
        <p:spPr>
          <a:xfrm>
            <a:off x="1088136" y="7762341"/>
            <a:ext cx="4672583" cy="202996"/>
          </a:xfrm>
          <a:prstGeom prst="rect">
            <a:avLst/>
          </a:prstGeom>
          <a:noFill/>
        </p:spPr>
        <p:txBody>
          <a:bodyPr wrap="square" lIns="0" rIns="0" tIns="0" bIns="0" anchor="t">
            <a:spAutoFit/>
          </a:bodyPr>
          <a:lstStyle/>
          <a:p>
            <a:pPr algn="l"/>
            <a:r>
              <a:rPr sz="1440" b="1" i="0">
                <a:solidFill>
                  <a:srgbClr val="171717"/>
                </a:solidFill>
                <a:latin typeface="Aptos"/>
              </a:rPr>
              <a:t>Study Templates &amp; Qualification Records</a:t>
            </a:r>
          </a:p>
        </p:txBody>
      </p:sp>
      <p:sp>
        <p:nvSpPr>
          <p:cNvPr id="71" name="TextBox 70"/>
          <p:cNvSpPr txBox="1"/>
          <p:nvPr/>
        </p:nvSpPr>
        <p:spPr>
          <a:xfrm>
            <a:off x="1088136" y="7977225"/>
            <a:ext cx="4672583" cy="310896"/>
          </a:xfrm>
          <a:prstGeom prst="rect">
            <a:avLst/>
          </a:prstGeom>
          <a:noFill/>
        </p:spPr>
        <p:txBody>
          <a:bodyPr wrap="square" lIns="0" rIns="0" tIns="0" bIns="0" anchor="t">
            <a:spAutoFit/>
          </a:bodyPr>
          <a:lstStyle/>
          <a:p>
            <a:pPr algn="l"/>
            <a:r>
              <a:rPr sz="1000" b="0" i="0">
                <a:solidFill>
                  <a:srgbClr val="595959"/>
                </a:solidFill>
                <a:latin typeface="Aptos"/>
              </a:rPr>
              <a:t>Pre-configured packages with inputs, assumptions and diagnostics, each qualified against independent reference results</a:t>
            </a:r>
          </a:p>
        </p:txBody>
      </p:sp>
      <p:sp>
        <p:nvSpPr>
          <p:cNvPr id="72" name="TextBox 71"/>
          <p:cNvSpPr txBox="1"/>
          <p:nvPr/>
        </p:nvSpPr>
        <p:spPr>
          <a:xfrm>
            <a:off x="5870448" y="7690104"/>
            <a:ext cx="2176272" cy="658368"/>
          </a:xfrm>
          <a:prstGeom prst="rect">
            <a:avLst/>
          </a:prstGeom>
          <a:noFill/>
        </p:spPr>
        <p:txBody>
          <a:bodyPr wrap="square" lIns="0" rIns="0" tIns="0" bIns="0" anchor="ctr">
            <a:spAutoFit/>
          </a:bodyPr>
          <a:lstStyle/>
          <a:p>
            <a:pPr algn="l"/>
            <a:r>
              <a:rPr sz="1000" b="0" i="0">
                <a:solidFill>
                  <a:srgbClr val="2B3A8F"/>
                </a:solidFill>
                <a:latin typeface="Aptos"/>
              </a:rPr>
              <a:t>Recommends a template from the protocol</a:t>
            </a:r>
          </a:p>
        </p:txBody>
      </p:sp>
      <p:sp>
        <p:nvSpPr>
          <p:cNvPr id="73" name="Rectangle 72"/>
          <p:cNvSpPr/>
          <p:nvPr/>
        </p:nvSpPr>
        <p:spPr>
          <a:xfrm>
            <a:off x="13002767" y="7936992"/>
            <a:ext cx="3575304" cy="164592"/>
          </a:xfrm>
          <a:prstGeom prst="rect">
            <a:avLst/>
          </a:prstGeom>
          <a:solidFill>
            <a:srgbClr val="E4461E"/>
          </a:solidFill>
          <a:ln>
            <a:noFill/>
          </a:ln>
        </p:spPr>
        <p:txBody>
          <a:bodyPr rtlCol="0" anchor="ctr"/>
          <a:lstStyle/>
          <a:p>
            <a:pPr algn="ctr"/>
          </a:p>
        </p:txBody>
      </p:sp>
      <p:sp>
        <p:nvSpPr>
          <p:cNvPr id="74" name="Diamond 73"/>
          <p:cNvSpPr/>
          <p:nvPr/>
        </p:nvSpPr>
        <p:spPr>
          <a:xfrm>
            <a:off x="16523208" y="7966710"/>
            <a:ext cx="109728" cy="105156"/>
          </a:xfrm>
          <a:prstGeom prst="diamond">
            <a:avLst/>
          </a:prstGeom>
          <a:solidFill>
            <a:srgbClr val="171717"/>
          </a:solidFill>
          <a:ln>
            <a:noFill/>
          </a:ln>
        </p:spPr>
        <p:txBody>
          <a:bodyPr rtlCol="0" anchor="ctr"/>
          <a:lstStyle/>
          <a:p>
            <a:pPr algn="ctr"/>
          </a:p>
        </p:txBody>
      </p:sp>
      <p:cxnSp>
        <p:nvCxnSpPr>
          <p:cNvPr id="75" name="Connector 74"/>
          <p:cNvCxnSpPr/>
          <p:nvPr/>
        </p:nvCxnSpPr>
        <p:spPr>
          <a:xfrm>
            <a:off x="438912" y="8375904"/>
            <a:ext cx="17410176" cy="0"/>
          </a:xfrm>
          <a:prstGeom prst="line">
            <a:avLst/>
          </a:prstGeom>
          <a:ln w="6350">
            <a:solidFill>
              <a:srgbClr val="E1E1E1"/>
            </a:solidFill>
          </a:ln>
        </p:spPr>
      </p:cxnSp>
      <p:sp>
        <p:nvSpPr>
          <p:cNvPr id="76" name="TextBox 75"/>
          <p:cNvSpPr txBox="1"/>
          <p:nvPr/>
        </p:nvSpPr>
        <p:spPr>
          <a:xfrm>
            <a:off x="438912" y="9198864"/>
            <a:ext cx="17410176" cy="182880"/>
          </a:xfrm>
          <a:prstGeom prst="rect">
            <a:avLst/>
          </a:prstGeom>
          <a:noFill/>
        </p:spPr>
        <p:txBody>
          <a:bodyPr wrap="square" lIns="0" rIns="0" tIns="0" bIns="0" anchor="t">
            <a:spAutoFit/>
          </a:bodyPr>
          <a:lstStyle/>
          <a:p>
            <a:pPr algn="ctr"/>
            <a:r>
              <a:rPr sz="1080" b="1" i="0">
                <a:solidFill>
                  <a:srgbClr val="2B3A8F"/>
                </a:solidFill>
                <a:latin typeface="Aptos"/>
              </a:rPr>
              <a:t>ACCEPTANCE GATES  |  WORKSTREAMS RUN IN PARALLEL; GATES CONTROL USE OF APPROVED INPUTS AND PROMOTION OF RELEASES</a:t>
            </a:r>
          </a:p>
        </p:txBody>
      </p:sp>
      <p:sp>
        <p:nvSpPr>
          <p:cNvPr id="77" name="Rectangle 76"/>
          <p:cNvSpPr/>
          <p:nvPr/>
        </p:nvSpPr>
        <p:spPr>
          <a:xfrm>
            <a:off x="438912" y="9464040"/>
            <a:ext cx="5730240" cy="566928"/>
          </a:xfrm>
          <a:prstGeom prst="rect">
            <a:avLst/>
          </a:prstGeom>
          <a:solidFill>
            <a:srgbClr val="F6F6F6"/>
          </a:solidFill>
          <a:ln>
            <a:noFill/>
          </a:ln>
        </p:spPr>
        <p:txBody>
          <a:bodyPr rtlCol="0" anchor="ctr"/>
          <a:lstStyle/>
          <a:p>
            <a:pPr algn="ctr"/>
          </a:p>
        </p:txBody>
      </p:sp>
      <p:sp>
        <p:nvSpPr>
          <p:cNvPr id="78" name="Rectangle 77"/>
          <p:cNvSpPr/>
          <p:nvPr/>
        </p:nvSpPr>
        <p:spPr>
          <a:xfrm>
            <a:off x="438912" y="9464040"/>
            <a:ext cx="47548" cy="566928"/>
          </a:xfrm>
          <a:prstGeom prst="rect">
            <a:avLst/>
          </a:prstGeom>
          <a:solidFill>
            <a:srgbClr val="1B1F5C"/>
          </a:solidFill>
          <a:ln>
            <a:noFill/>
          </a:ln>
        </p:spPr>
        <p:txBody>
          <a:bodyPr rtlCol="0" anchor="ctr"/>
          <a:lstStyle/>
          <a:p>
            <a:pPr algn="ctr"/>
          </a:p>
        </p:txBody>
      </p:sp>
      <p:sp>
        <p:nvSpPr>
          <p:cNvPr id="79" name="TextBox 78"/>
          <p:cNvSpPr txBox="1"/>
          <p:nvPr/>
        </p:nvSpPr>
        <p:spPr>
          <a:xfrm>
            <a:off x="548640"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END OF MONTH 4 · CORE ANALYSES AVAILABLE</a:t>
            </a:r>
          </a:p>
        </p:txBody>
      </p:sp>
      <p:sp>
        <p:nvSpPr>
          <p:cNvPr id="80" name="TextBox 79"/>
          <p:cNvSpPr txBox="1"/>
          <p:nvPr/>
        </p:nvSpPr>
        <p:spPr>
          <a:xfrm>
            <a:off x="548640"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Attrition, baseline and treatment patterns from the ADS</a:t>
            </a:r>
          </a:p>
        </p:txBody>
      </p:sp>
      <p:sp>
        <p:nvSpPr>
          <p:cNvPr id="81" name="Rectangle 80"/>
          <p:cNvSpPr/>
          <p:nvPr/>
        </p:nvSpPr>
        <p:spPr>
          <a:xfrm>
            <a:off x="6278880" y="9464040"/>
            <a:ext cx="5730240" cy="566928"/>
          </a:xfrm>
          <a:prstGeom prst="rect">
            <a:avLst/>
          </a:prstGeom>
          <a:solidFill>
            <a:srgbClr val="F6F6F6"/>
          </a:solidFill>
          <a:ln>
            <a:noFill/>
          </a:ln>
        </p:spPr>
        <p:txBody>
          <a:bodyPr rtlCol="0" anchor="ctr"/>
          <a:lstStyle/>
          <a:p>
            <a:pPr algn="ctr"/>
          </a:p>
        </p:txBody>
      </p:sp>
      <p:sp>
        <p:nvSpPr>
          <p:cNvPr id="82" name="Rectangle 81"/>
          <p:cNvSpPr/>
          <p:nvPr/>
        </p:nvSpPr>
        <p:spPr>
          <a:xfrm>
            <a:off x="6278880" y="9464040"/>
            <a:ext cx="47548" cy="566928"/>
          </a:xfrm>
          <a:prstGeom prst="rect">
            <a:avLst/>
          </a:prstGeom>
          <a:solidFill>
            <a:srgbClr val="1B1F5C"/>
          </a:solidFill>
          <a:ln>
            <a:noFill/>
          </a:ln>
        </p:spPr>
        <p:txBody>
          <a:bodyPr rtlCol="0" anchor="ctr"/>
          <a:lstStyle/>
          <a:p>
            <a:pPr algn="ctr"/>
          </a:p>
        </p:txBody>
      </p:sp>
      <p:sp>
        <p:nvSpPr>
          <p:cNvPr id="83" name="TextBox 82"/>
          <p:cNvSpPr txBox="1"/>
          <p:nvPr/>
        </p:nvSpPr>
        <p:spPr>
          <a:xfrm>
            <a:off x="6388608"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MID MONTH 5 · OUTCOMES READY FOR QUALIFICATION</a:t>
            </a:r>
          </a:p>
        </p:txBody>
      </p:sp>
      <p:sp>
        <p:nvSpPr>
          <p:cNvPr id="84" name="TextBox 83"/>
          <p:cNvSpPr txBox="1"/>
          <p:nvPr/>
        </p:nvSpPr>
        <p:spPr>
          <a:xfrm>
            <a:off x="6388608"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Outcomes, resource use and incidence integrated</a:t>
            </a:r>
          </a:p>
        </p:txBody>
      </p:sp>
      <p:sp>
        <p:nvSpPr>
          <p:cNvPr id="85" name="Rectangle 84"/>
          <p:cNvSpPr/>
          <p:nvPr/>
        </p:nvSpPr>
        <p:spPr>
          <a:xfrm>
            <a:off x="12118848" y="9464040"/>
            <a:ext cx="5730240" cy="566928"/>
          </a:xfrm>
          <a:prstGeom prst="rect">
            <a:avLst/>
          </a:prstGeom>
          <a:solidFill>
            <a:srgbClr val="F6F6F6"/>
          </a:solidFill>
          <a:ln>
            <a:noFill/>
          </a:ln>
        </p:spPr>
        <p:txBody>
          <a:bodyPr rtlCol="0" anchor="ctr"/>
          <a:lstStyle/>
          <a:p>
            <a:pPr algn="ctr"/>
          </a:p>
        </p:txBody>
      </p:sp>
      <p:sp>
        <p:nvSpPr>
          <p:cNvPr id="86" name="Rectangle 85"/>
          <p:cNvSpPr/>
          <p:nvPr/>
        </p:nvSpPr>
        <p:spPr>
          <a:xfrm>
            <a:off x="12118848" y="9464040"/>
            <a:ext cx="47548" cy="566928"/>
          </a:xfrm>
          <a:prstGeom prst="rect">
            <a:avLst/>
          </a:prstGeom>
          <a:solidFill>
            <a:srgbClr val="1B1F5C"/>
          </a:solidFill>
          <a:ln>
            <a:noFill/>
          </a:ln>
        </p:spPr>
        <p:txBody>
          <a:bodyPr rtlCol="0" anchor="ctr"/>
          <a:lstStyle/>
          <a:p>
            <a:pPr algn="ctr"/>
          </a:p>
        </p:txBody>
      </p:sp>
      <p:sp>
        <p:nvSpPr>
          <p:cNvPr id="87" name="TextBox 86"/>
          <p:cNvSpPr txBox="1"/>
          <p:nvPr/>
        </p:nvSpPr>
        <p:spPr>
          <a:xfrm>
            <a:off x="12228576"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END OF MONTH 5 · PACKAGES QUALIFIED</a:t>
            </a:r>
          </a:p>
        </p:txBody>
      </p:sp>
      <p:sp>
        <p:nvSpPr>
          <p:cNvPr id="88" name="TextBox 87"/>
          <p:cNvSpPr txBox="1"/>
          <p:nvPr/>
        </p:nvSpPr>
        <p:spPr>
          <a:xfrm>
            <a:off x="12228576"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Reference tests passed; qualification records complete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38912" y="365760"/>
            <a:ext cx="12801600" cy="210312"/>
          </a:xfrm>
          <a:prstGeom prst="rect">
            <a:avLst/>
          </a:prstGeom>
          <a:noFill/>
        </p:spPr>
        <p:txBody>
          <a:bodyPr wrap="square" lIns="0" rIns="0" tIns="0" bIns="0" anchor="t">
            <a:spAutoFit/>
          </a:bodyPr>
          <a:lstStyle/>
          <a:p>
            <a:pPr algn="l"/>
            <a:r>
              <a:rPr sz="1150" b="1" i="0">
                <a:solidFill>
                  <a:srgbClr val="2B3A8F"/>
                </a:solidFill>
                <a:latin typeface="Aptos"/>
              </a:rPr>
              <a:t>RWDPLATFORM  /  GOVERNED ANALYTICS DELIVERY</a:t>
            </a:r>
          </a:p>
        </p:txBody>
      </p:sp>
      <p:sp>
        <p:nvSpPr>
          <p:cNvPr id="4" name="TextBox 3"/>
          <p:cNvSpPr txBox="1"/>
          <p:nvPr/>
        </p:nvSpPr>
        <p:spPr>
          <a:xfrm>
            <a:off x="438912" y="694944"/>
            <a:ext cx="14904720" cy="438912"/>
          </a:xfrm>
          <a:prstGeom prst="rect">
            <a:avLst/>
          </a:prstGeom>
          <a:noFill/>
        </p:spPr>
        <p:txBody>
          <a:bodyPr wrap="square" lIns="0" rIns="0" tIns="0" bIns="0" anchor="ctr">
            <a:spAutoFit/>
          </a:bodyPr>
          <a:lstStyle/>
          <a:p>
            <a:pPr algn="l"/>
            <a:r>
              <a:rPr sz="2980" b="1" i="0">
                <a:solidFill>
                  <a:srgbClr val="2B3A8F"/>
                </a:solidFill>
                <a:latin typeface="Aptos"/>
              </a:rPr>
              <a:t>F07 | Evidence Outputs: TFLs &amp; Insight Views</a:t>
            </a:r>
          </a:p>
        </p:txBody>
      </p:sp>
      <p:sp>
        <p:nvSpPr>
          <p:cNvPr id="5" name="Rectangle 4"/>
          <p:cNvSpPr/>
          <p:nvPr/>
        </p:nvSpPr>
        <p:spPr>
          <a:xfrm>
            <a:off x="15563088" y="621792"/>
            <a:ext cx="2276856" cy="457200"/>
          </a:xfrm>
          <a:prstGeom prst="rect">
            <a:avLst/>
          </a:prstGeom>
          <a:solidFill>
            <a:srgbClr val="ECECF6"/>
          </a:solidFill>
          <a:ln>
            <a:noFill/>
          </a:ln>
        </p:spPr>
        <p:txBody>
          <a:bodyPr rtlCol="0" anchor="ctr"/>
          <a:lstStyle/>
          <a:p>
            <a:pPr algn="ctr"/>
          </a:p>
        </p:txBody>
      </p:sp>
      <p:sp>
        <p:nvSpPr>
          <p:cNvPr id="6" name="TextBox 5"/>
          <p:cNvSpPr txBox="1"/>
          <p:nvPr/>
        </p:nvSpPr>
        <p:spPr>
          <a:xfrm>
            <a:off x="15563088" y="621792"/>
            <a:ext cx="2276856" cy="457200"/>
          </a:xfrm>
          <a:prstGeom prst="rect">
            <a:avLst/>
          </a:prstGeom>
          <a:noFill/>
        </p:spPr>
        <p:txBody>
          <a:bodyPr wrap="square" lIns="0" rIns="0" tIns="0" bIns="0" anchor="ctr">
            <a:spAutoFit/>
          </a:bodyPr>
          <a:lstStyle/>
          <a:p>
            <a:pPr algn="ctr"/>
            <a:r>
              <a:rPr sz="1200" b="1" i="0">
                <a:solidFill>
                  <a:srgbClr val="171717"/>
                </a:solidFill>
                <a:latin typeface="Aptos"/>
              </a:rPr>
              <a:t>F07 · Months 4–5</a:t>
            </a:r>
          </a:p>
        </p:txBody>
      </p:sp>
      <p:sp>
        <p:nvSpPr>
          <p:cNvPr id="7" name="TextBox 6"/>
          <p:cNvSpPr txBox="1"/>
          <p:nvPr/>
        </p:nvSpPr>
        <p:spPr>
          <a:xfrm>
            <a:off x="438912" y="1170432"/>
            <a:ext cx="17373600" cy="246888"/>
          </a:xfrm>
          <a:prstGeom prst="rect">
            <a:avLst/>
          </a:prstGeom>
          <a:noFill/>
        </p:spPr>
        <p:txBody>
          <a:bodyPr wrap="square" lIns="0" rIns="0" tIns="0" bIns="0" anchor="t">
            <a:spAutoFit/>
          </a:bodyPr>
          <a:lstStyle/>
          <a:p>
            <a:pPr algn="l"/>
            <a:r>
              <a:rPr sz="1400" b="0" i="0">
                <a:solidFill>
                  <a:srgbClr val="595959"/>
                </a:solidFill>
                <a:latin typeface="Aptos"/>
              </a:rPr>
              <a:t>Study reporting and insight views on one governed layer: versioned results, TFL packages, and feasibility and data-quality views.</a:t>
            </a:r>
          </a:p>
        </p:txBody>
      </p:sp>
      <p:sp>
        <p:nvSpPr>
          <p:cNvPr id="8" name="Rectangle 7"/>
          <p:cNvSpPr/>
          <p:nvPr/>
        </p:nvSpPr>
        <p:spPr>
          <a:xfrm>
            <a:off x="438912" y="1554480"/>
            <a:ext cx="17410176" cy="329184"/>
          </a:xfrm>
          <a:prstGeom prst="rect">
            <a:avLst/>
          </a:prstGeom>
          <a:solidFill>
            <a:srgbClr val="ECECF6"/>
          </a:solidFill>
          <a:ln>
            <a:noFill/>
          </a:ln>
        </p:spPr>
        <p:txBody>
          <a:bodyPr rtlCol="0" anchor="ctr"/>
          <a:lstStyle/>
          <a:p>
            <a:pPr algn="ctr"/>
          </a:p>
        </p:txBody>
      </p:sp>
      <p:sp>
        <p:nvSpPr>
          <p:cNvPr id="9" name="TextBox 8"/>
          <p:cNvSpPr txBox="1"/>
          <p:nvPr/>
        </p:nvSpPr>
        <p:spPr>
          <a:xfrm>
            <a:off x="566928" y="1554480"/>
            <a:ext cx="1554480" cy="329184"/>
          </a:xfrm>
          <a:prstGeom prst="rect">
            <a:avLst/>
          </a:prstGeom>
          <a:noFill/>
        </p:spPr>
        <p:txBody>
          <a:bodyPr wrap="square" lIns="0" rIns="0" tIns="0" bIns="0" anchor="ctr">
            <a:spAutoFit/>
          </a:bodyPr>
          <a:lstStyle/>
          <a:p>
            <a:pPr algn="l"/>
            <a:r>
              <a:rPr sz="1100" b="1" i="0">
                <a:solidFill>
                  <a:srgbClr val="2B3A8F"/>
                </a:solidFill>
                <a:latin typeface="Aptos"/>
              </a:rPr>
              <a:t>OUTCOME</a:t>
            </a:r>
          </a:p>
        </p:txBody>
      </p:sp>
      <p:sp>
        <p:nvSpPr>
          <p:cNvPr id="10" name="TextBox 9"/>
          <p:cNvSpPr txBox="1"/>
          <p:nvPr/>
        </p:nvSpPr>
        <p:spPr>
          <a:xfrm>
            <a:off x="2148840" y="1554480"/>
            <a:ext cx="15544800" cy="329184"/>
          </a:xfrm>
          <a:prstGeom prst="rect">
            <a:avLst/>
          </a:prstGeom>
          <a:noFill/>
        </p:spPr>
        <p:txBody>
          <a:bodyPr wrap="square" lIns="0" rIns="0" tIns="0" bIns="0" anchor="ctr">
            <a:spAutoFit/>
          </a:bodyPr>
          <a:lstStyle/>
          <a:p>
            <a:pPr algn="l"/>
            <a:r>
              <a:rPr sz="1200" b="1" i="0">
                <a:solidFill>
                  <a:srgbClr val="171717"/>
                </a:solidFill>
                <a:latin typeface="Aptos"/>
              </a:rPr>
              <a:t>Every study gets a traceable reporting package, and feasibility and data-quality views show their denominators and data-cut versions.</a:t>
            </a:r>
          </a:p>
        </p:txBody>
      </p:sp>
      <p:sp>
        <p:nvSpPr>
          <p:cNvPr id="11" name="Rectangle 10"/>
          <p:cNvSpPr/>
          <p:nvPr/>
        </p:nvSpPr>
        <p:spPr>
          <a:xfrm>
            <a:off x="438912" y="1938528"/>
            <a:ext cx="17410176" cy="329184"/>
          </a:xfrm>
          <a:prstGeom prst="rect">
            <a:avLst/>
          </a:prstGeom>
          <a:solidFill>
            <a:srgbClr val="F6F6F6"/>
          </a:solidFill>
          <a:ln>
            <a:noFill/>
          </a:ln>
        </p:spPr>
        <p:txBody>
          <a:bodyPr rtlCol="0" anchor="ctr"/>
          <a:lstStyle/>
          <a:p>
            <a:pPr algn="ctr"/>
          </a:p>
        </p:txBody>
      </p:sp>
      <p:sp>
        <p:nvSpPr>
          <p:cNvPr id="12" name="TextBox 11"/>
          <p:cNvSpPr txBox="1"/>
          <p:nvPr/>
        </p:nvSpPr>
        <p:spPr>
          <a:xfrm>
            <a:off x="566928" y="1938528"/>
            <a:ext cx="1554480" cy="329184"/>
          </a:xfrm>
          <a:prstGeom prst="rect">
            <a:avLst/>
          </a:prstGeom>
          <a:noFill/>
        </p:spPr>
        <p:txBody>
          <a:bodyPr wrap="square" lIns="0" rIns="0" tIns="0" bIns="0" anchor="ctr">
            <a:spAutoFit/>
          </a:bodyPr>
          <a:lstStyle/>
          <a:p>
            <a:pPr algn="l"/>
            <a:r>
              <a:rPr sz="1100" b="1" i="0">
                <a:solidFill>
                  <a:srgbClr val="2B3A8F"/>
                </a:solidFill>
                <a:latin typeface="Aptos"/>
              </a:rPr>
              <a:t>DEPENDS ON</a:t>
            </a:r>
          </a:p>
        </p:txBody>
      </p:sp>
      <p:sp>
        <p:nvSpPr>
          <p:cNvPr id="13" name="TextBox 12"/>
          <p:cNvSpPr txBox="1"/>
          <p:nvPr/>
        </p:nvSpPr>
        <p:spPr>
          <a:xfrm>
            <a:off x="2148840" y="1938528"/>
            <a:ext cx="15544800" cy="329184"/>
          </a:xfrm>
          <a:prstGeom prst="rect">
            <a:avLst/>
          </a:prstGeom>
          <a:noFill/>
        </p:spPr>
        <p:txBody>
          <a:bodyPr wrap="square" lIns="0" rIns="0" tIns="0" bIns="0" anchor="ctr">
            <a:spAutoFit/>
          </a:bodyPr>
          <a:lstStyle/>
          <a:p>
            <a:pPr algn="l"/>
            <a:r>
              <a:rPr sz="1200" b="1" i="0">
                <a:solidFill>
                  <a:srgbClr val="171717"/>
                </a:solidFill>
                <a:latin typeface="Aptos"/>
              </a:rPr>
              <a:t>Versioned analysis results (F06)  ·  Analysis datasets (F05)  ·  Qualified sources (F04)  ·  Hosting environment  ·  Data licence terms</a:t>
            </a:r>
          </a:p>
        </p:txBody>
      </p:sp>
      <p:sp>
        <p:nvSpPr>
          <p:cNvPr id="14" name="TextBox 13"/>
          <p:cNvSpPr txBox="1"/>
          <p:nvPr/>
        </p:nvSpPr>
        <p:spPr>
          <a:xfrm>
            <a:off x="521207" y="2660904"/>
            <a:ext cx="5029200" cy="182880"/>
          </a:xfrm>
          <a:prstGeom prst="rect">
            <a:avLst/>
          </a:prstGeom>
          <a:noFill/>
        </p:spPr>
        <p:txBody>
          <a:bodyPr wrap="square" lIns="0" rIns="0" tIns="0" bIns="0" anchor="t">
            <a:spAutoFit/>
          </a:bodyPr>
          <a:lstStyle/>
          <a:p>
            <a:pPr algn="l"/>
            <a:r>
              <a:rPr sz="1160" b="1" i="0">
                <a:solidFill>
                  <a:srgbClr val="2B3A8F"/>
                </a:solidFill>
                <a:latin typeface="Aptos"/>
              </a:rPr>
              <a:t>DELIVERABLE</a:t>
            </a:r>
          </a:p>
        </p:txBody>
      </p:sp>
      <p:sp>
        <p:nvSpPr>
          <p:cNvPr id="15" name="TextBox 14"/>
          <p:cNvSpPr txBox="1"/>
          <p:nvPr/>
        </p:nvSpPr>
        <p:spPr>
          <a:xfrm>
            <a:off x="5870448" y="2660904"/>
            <a:ext cx="2194560" cy="182880"/>
          </a:xfrm>
          <a:prstGeom prst="rect">
            <a:avLst/>
          </a:prstGeom>
          <a:noFill/>
        </p:spPr>
        <p:txBody>
          <a:bodyPr wrap="square" lIns="0" rIns="0" tIns="0" bIns="0" anchor="t">
            <a:spAutoFit/>
          </a:bodyPr>
          <a:lstStyle/>
          <a:p>
            <a:pPr algn="l"/>
            <a:r>
              <a:rPr sz="1000" b="1" i="0">
                <a:solidFill>
                  <a:srgbClr val="2B3A8F"/>
                </a:solidFill>
                <a:latin typeface="Aptos"/>
              </a:rPr>
              <a:t>AI ASSISTANCE</a:t>
            </a:r>
          </a:p>
        </p:txBody>
      </p:sp>
      <p:sp>
        <p:nvSpPr>
          <p:cNvPr id="16" name="Rectangle 15"/>
          <p:cNvSpPr/>
          <p:nvPr/>
        </p:nvSpPr>
        <p:spPr>
          <a:xfrm>
            <a:off x="8113471" y="2606040"/>
            <a:ext cx="4840833" cy="214884"/>
          </a:xfrm>
          <a:prstGeom prst="rect">
            <a:avLst/>
          </a:prstGeom>
          <a:solidFill>
            <a:srgbClr val="F1F1F1"/>
          </a:solidFill>
          <a:ln>
            <a:noFill/>
          </a:ln>
        </p:spPr>
        <p:txBody>
          <a:bodyPr rtlCol="0" anchor="ctr"/>
          <a:lstStyle/>
          <a:p>
            <a:pPr algn="ctr"/>
          </a:p>
        </p:txBody>
      </p:sp>
      <p:sp>
        <p:nvSpPr>
          <p:cNvPr id="17" name="TextBox 16"/>
          <p:cNvSpPr txBox="1"/>
          <p:nvPr/>
        </p:nvSpPr>
        <p:spPr>
          <a:xfrm>
            <a:off x="8113471" y="2606040"/>
            <a:ext cx="4840833" cy="214884"/>
          </a:xfrm>
          <a:prstGeom prst="rect">
            <a:avLst/>
          </a:prstGeom>
          <a:noFill/>
        </p:spPr>
        <p:txBody>
          <a:bodyPr wrap="square" lIns="0" rIns="0" tIns="0" bIns="0" anchor="ctr">
            <a:spAutoFit/>
          </a:bodyPr>
          <a:lstStyle/>
          <a:p>
            <a:pPr algn="ctr"/>
            <a:r>
              <a:rPr sz="1040" b="1" i="0">
                <a:solidFill>
                  <a:srgbClr val="2B2B2B"/>
                </a:solidFill>
                <a:latin typeface="Aptos"/>
              </a:rPr>
              <a:t>RESULTS + VIEWS</a:t>
            </a:r>
          </a:p>
        </p:txBody>
      </p:sp>
      <p:sp>
        <p:nvSpPr>
          <p:cNvPr id="18" name="Rectangle 17"/>
          <p:cNvSpPr/>
          <p:nvPr/>
        </p:nvSpPr>
        <p:spPr>
          <a:xfrm>
            <a:off x="12978079" y="2606040"/>
            <a:ext cx="4840833" cy="214884"/>
          </a:xfrm>
          <a:prstGeom prst="rect">
            <a:avLst/>
          </a:prstGeom>
          <a:solidFill>
            <a:srgbClr val="F1F1F1"/>
          </a:solidFill>
          <a:ln>
            <a:noFill/>
          </a:ln>
        </p:spPr>
        <p:txBody>
          <a:bodyPr rtlCol="0" anchor="ctr"/>
          <a:lstStyle/>
          <a:p>
            <a:pPr algn="ctr"/>
          </a:p>
        </p:txBody>
      </p:sp>
      <p:sp>
        <p:nvSpPr>
          <p:cNvPr id="19" name="TextBox 18"/>
          <p:cNvSpPr txBox="1"/>
          <p:nvPr/>
        </p:nvSpPr>
        <p:spPr>
          <a:xfrm>
            <a:off x="12978079" y="2606040"/>
            <a:ext cx="4840833" cy="214884"/>
          </a:xfrm>
          <a:prstGeom prst="rect">
            <a:avLst/>
          </a:prstGeom>
          <a:noFill/>
        </p:spPr>
        <p:txBody>
          <a:bodyPr wrap="square" lIns="0" rIns="0" tIns="0" bIns="0" anchor="ctr">
            <a:spAutoFit/>
          </a:bodyPr>
          <a:lstStyle/>
          <a:p>
            <a:pPr algn="ctr"/>
            <a:r>
              <a:rPr sz="1040" b="1" i="0">
                <a:solidFill>
                  <a:srgbClr val="2B2B2B"/>
                </a:solidFill>
                <a:latin typeface="Aptos"/>
              </a:rPr>
              <a:t>REPORTING, REVIEW + RELEASE</a:t>
            </a:r>
          </a:p>
        </p:txBody>
      </p:sp>
      <p:sp>
        <p:nvSpPr>
          <p:cNvPr id="20" name="TextBox 19"/>
          <p:cNvSpPr txBox="1"/>
          <p:nvPr/>
        </p:nvSpPr>
        <p:spPr>
          <a:xfrm>
            <a:off x="8101583" y="2862072"/>
            <a:ext cx="4864608" cy="182880"/>
          </a:xfrm>
          <a:prstGeom prst="rect">
            <a:avLst/>
          </a:prstGeom>
          <a:noFill/>
        </p:spPr>
        <p:txBody>
          <a:bodyPr wrap="square" lIns="0" rIns="0" tIns="0" bIns="0" anchor="t">
            <a:spAutoFit/>
          </a:bodyPr>
          <a:lstStyle/>
          <a:p>
            <a:pPr algn="ctr"/>
            <a:r>
              <a:rPr sz="1150" b="1" i="0">
                <a:solidFill>
                  <a:srgbClr val="171717"/>
                </a:solidFill>
                <a:latin typeface="Aptos"/>
              </a:rPr>
              <a:t>Month 4</a:t>
            </a:r>
          </a:p>
        </p:txBody>
      </p:sp>
      <p:sp>
        <p:nvSpPr>
          <p:cNvPr id="21" name="TextBox 20"/>
          <p:cNvSpPr txBox="1"/>
          <p:nvPr/>
        </p:nvSpPr>
        <p:spPr>
          <a:xfrm>
            <a:off x="12966192" y="2862072"/>
            <a:ext cx="4864608" cy="182880"/>
          </a:xfrm>
          <a:prstGeom prst="rect">
            <a:avLst/>
          </a:prstGeom>
          <a:noFill/>
        </p:spPr>
        <p:txBody>
          <a:bodyPr wrap="square" lIns="0" rIns="0" tIns="0" bIns="0" anchor="t">
            <a:spAutoFit/>
          </a:bodyPr>
          <a:lstStyle/>
          <a:p>
            <a:pPr algn="ctr"/>
            <a:r>
              <a:rPr sz="1150" b="1" i="0">
                <a:solidFill>
                  <a:srgbClr val="171717"/>
                </a:solidFill>
                <a:latin typeface="Aptos"/>
              </a:rPr>
              <a:t>Month 5</a:t>
            </a:r>
          </a:p>
        </p:txBody>
      </p:sp>
      <p:sp>
        <p:nvSpPr>
          <p:cNvPr id="22" name="Rectangle 21"/>
          <p:cNvSpPr/>
          <p:nvPr/>
        </p:nvSpPr>
        <p:spPr>
          <a:xfrm>
            <a:off x="8101583" y="3145536"/>
            <a:ext cx="4864608" cy="4517136"/>
          </a:xfrm>
          <a:prstGeom prst="rect">
            <a:avLst/>
          </a:prstGeom>
          <a:solidFill>
            <a:srgbClr val="FAFAFA"/>
          </a:solidFill>
          <a:ln>
            <a:noFill/>
          </a:ln>
        </p:spPr>
        <p:txBody>
          <a:bodyPr rtlCol="0" anchor="ctr"/>
          <a:lstStyle/>
          <a:p>
            <a:pPr algn="ctr"/>
          </a:p>
        </p:txBody>
      </p:sp>
      <p:cxnSp>
        <p:nvCxnSpPr>
          <p:cNvPr id="23" name="Connector 22"/>
          <p:cNvCxnSpPr/>
          <p:nvPr/>
        </p:nvCxnSpPr>
        <p:spPr>
          <a:xfrm>
            <a:off x="8101583" y="3145536"/>
            <a:ext cx="0" cy="4517135"/>
          </a:xfrm>
          <a:prstGeom prst="line">
            <a:avLst/>
          </a:prstGeom>
          <a:ln w="6350">
            <a:solidFill>
              <a:srgbClr val="E1E1E1"/>
            </a:solidFill>
          </a:ln>
        </p:spPr>
      </p:cxnSp>
      <p:cxnSp>
        <p:nvCxnSpPr>
          <p:cNvPr id="24" name="Connector 23"/>
          <p:cNvCxnSpPr/>
          <p:nvPr/>
        </p:nvCxnSpPr>
        <p:spPr>
          <a:xfrm>
            <a:off x="12966192" y="3145536"/>
            <a:ext cx="0" cy="4517135"/>
          </a:xfrm>
          <a:prstGeom prst="line">
            <a:avLst/>
          </a:prstGeom>
          <a:ln w="6350">
            <a:solidFill>
              <a:srgbClr val="E1E1E1"/>
            </a:solidFill>
          </a:ln>
        </p:spPr>
      </p:cxnSp>
      <p:cxnSp>
        <p:nvCxnSpPr>
          <p:cNvPr id="25" name="Connector 24"/>
          <p:cNvCxnSpPr/>
          <p:nvPr/>
        </p:nvCxnSpPr>
        <p:spPr>
          <a:xfrm>
            <a:off x="17830800" y="3145536"/>
            <a:ext cx="0" cy="4517135"/>
          </a:xfrm>
          <a:prstGeom prst="line">
            <a:avLst/>
          </a:prstGeom>
          <a:ln w="6350">
            <a:solidFill>
              <a:srgbClr val="E1E1E1"/>
            </a:solidFill>
          </a:ln>
        </p:spPr>
      </p:cxnSp>
      <p:sp>
        <p:nvSpPr>
          <p:cNvPr id="26" name="Rectangle 25"/>
          <p:cNvSpPr/>
          <p:nvPr/>
        </p:nvSpPr>
        <p:spPr>
          <a:xfrm>
            <a:off x="438912" y="3145536"/>
            <a:ext cx="17410176" cy="237744"/>
          </a:xfrm>
          <a:prstGeom prst="rect">
            <a:avLst/>
          </a:prstGeom>
          <a:solidFill>
            <a:srgbClr val="1B1F5C"/>
          </a:solidFill>
          <a:ln>
            <a:noFill/>
          </a:ln>
        </p:spPr>
        <p:txBody>
          <a:bodyPr rtlCol="0" anchor="ctr"/>
          <a:lstStyle/>
          <a:p>
            <a:pPr algn="ctr"/>
          </a:p>
        </p:txBody>
      </p:sp>
      <p:sp>
        <p:nvSpPr>
          <p:cNvPr id="27" name="Rectangle 26"/>
          <p:cNvSpPr/>
          <p:nvPr/>
        </p:nvSpPr>
        <p:spPr>
          <a:xfrm>
            <a:off x="438912" y="3145536"/>
            <a:ext cx="45720" cy="237744"/>
          </a:xfrm>
          <a:prstGeom prst="rect">
            <a:avLst/>
          </a:prstGeom>
          <a:solidFill>
            <a:srgbClr val="1B1F5C"/>
          </a:solidFill>
          <a:ln>
            <a:noFill/>
          </a:ln>
        </p:spPr>
        <p:txBody>
          <a:bodyPr rtlCol="0" anchor="ctr"/>
          <a:lstStyle/>
          <a:p>
            <a:pPr algn="ctr"/>
          </a:p>
        </p:txBody>
      </p:sp>
      <p:sp>
        <p:nvSpPr>
          <p:cNvPr id="28" name="TextBox 27"/>
          <p:cNvSpPr txBox="1"/>
          <p:nvPr/>
        </p:nvSpPr>
        <p:spPr>
          <a:xfrm>
            <a:off x="548640" y="3177540"/>
            <a:ext cx="7415783" cy="187452"/>
          </a:xfrm>
          <a:prstGeom prst="rect">
            <a:avLst/>
          </a:prstGeom>
          <a:noFill/>
        </p:spPr>
        <p:txBody>
          <a:bodyPr wrap="square" lIns="0" rIns="0" tIns="0" bIns="0" anchor="t">
            <a:spAutoFit/>
          </a:bodyPr>
          <a:lstStyle/>
          <a:p>
            <a:pPr algn="l"/>
            <a:r>
              <a:rPr sz="1120" b="1" i="0">
                <a:solidFill>
                  <a:srgbClr val="FFFFFF"/>
                </a:solidFill>
                <a:latin typeface="Aptos"/>
              </a:rPr>
              <a:t>EVIDENCE OUTPUTS</a:t>
            </a:r>
          </a:p>
        </p:txBody>
      </p:sp>
      <p:sp>
        <p:nvSpPr>
          <p:cNvPr id="29" name="TextBox 28"/>
          <p:cNvSpPr txBox="1"/>
          <p:nvPr/>
        </p:nvSpPr>
        <p:spPr>
          <a:xfrm>
            <a:off x="521207" y="3510381"/>
            <a:ext cx="566928" cy="182880"/>
          </a:xfrm>
          <a:prstGeom prst="rect">
            <a:avLst/>
          </a:prstGeom>
          <a:noFill/>
        </p:spPr>
        <p:txBody>
          <a:bodyPr wrap="square" lIns="0" rIns="0" tIns="0" bIns="0" anchor="t">
            <a:spAutoFit/>
          </a:bodyPr>
          <a:lstStyle/>
          <a:p>
            <a:pPr algn="l"/>
            <a:r>
              <a:rPr sz="1150" b="1" i="0">
                <a:solidFill>
                  <a:srgbClr val="2B3A8F"/>
                </a:solidFill>
                <a:latin typeface="Aptos"/>
              </a:rPr>
              <a:t>F07.1</a:t>
            </a:r>
          </a:p>
        </p:txBody>
      </p:sp>
      <p:sp>
        <p:nvSpPr>
          <p:cNvPr id="30" name="TextBox 29"/>
          <p:cNvSpPr txBox="1"/>
          <p:nvPr/>
        </p:nvSpPr>
        <p:spPr>
          <a:xfrm>
            <a:off x="1088136" y="3482949"/>
            <a:ext cx="4672583" cy="202996"/>
          </a:xfrm>
          <a:prstGeom prst="rect">
            <a:avLst/>
          </a:prstGeom>
          <a:noFill/>
        </p:spPr>
        <p:txBody>
          <a:bodyPr wrap="square" lIns="0" rIns="0" tIns="0" bIns="0" anchor="t">
            <a:spAutoFit/>
          </a:bodyPr>
          <a:lstStyle/>
          <a:p>
            <a:pPr algn="l"/>
            <a:r>
              <a:rPr sz="1440" b="1" i="0">
                <a:solidFill>
                  <a:srgbClr val="171717"/>
                </a:solidFill>
                <a:latin typeface="Aptos"/>
              </a:rPr>
              <a:t>Versioned Results Store</a:t>
            </a:r>
          </a:p>
        </p:txBody>
      </p:sp>
      <p:sp>
        <p:nvSpPr>
          <p:cNvPr id="31" name="TextBox 30"/>
          <p:cNvSpPr txBox="1"/>
          <p:nvPr/>
        </p:nvSpPr>
        <p:spPr>
          <a:xfrm>
            <a:off x="1088136" y="3697833"/>
            <a:ext cx="4672583" cy="310896"/>
          </a:xfrm>
          <a:prstGeom prst="rect">
            <a:avLst/>
          </a:prstGeom>
          <a:noFill/>
        </p:spPr>
        <p:txBody>
          <a:bodyPr wrap="square" lIns="0" rIns="0" tIns="0" bIns="0" anchor="t">
            <a:spAutoFit/>
          </a:bodyPr>
          <a:lstStyle/>
          <a:p>
            <a:pPr algn="l"/>
            <a:r>
              <a:rPr sz="1000" b="0" i="0">
                <a:solidFill>
                  <a:srgbClr val="595959"/>
                </a:solidFill>
                <a:latin typeface="Aptos"/>
              </a:rPr>
              <a:t>Versioned analysis results supply study TFLs; versioned source and cohort metrics supply feasibility and quality views</a:t>
            </a:r>
          </a:p>
        </p:txBody>
      </p:sp>
      <p:sp>
        <p:nvSpPr>
          <p:cNvPr id="32" name="Rectangle 31"/>
          <p:cNvSpPr/>
          <p:nvPr/>
        </p:nvSpPr>
        <p:spPr>
          <a:xfrm>
            <a:off x="8138159" y="3657600"/>
            <a:ext cx="3575304" cy="164592"/>
          </a:xfrm>
          <a:prstGeom prst="rect">
            <a:avLst/>
          </a:prstGeom>
          <a:solidFill>
            <a:srgbClr val="E4461E"/>
          </a:solidFill>
          <a:ln>
            <a:noFill/>
          </a:ln>
        </p:spPr>
        <p:txBody>
          <a:bodyPr rtlCol="0" anchor="ctr"/>
          <a:lstStyle/>
          <a:p>
            <a:pPr algn="ctr"/>
          </a:p>
        </p:txBody>
      </p:sp>
      <p:sp>
        <p:nvSpPr>
          <p:cNvPr id="33" name="Diamond 32"/>
          <p:cNvSpPr/>
          <p:nvPr/>
        </p:nvSpPr>
        <p:spPr>
          <a:xfrm>
            <a:off x="11658600" y="3687318"/>
            <a:ext cx="109728" cy="105156"/>
          </a:xfrm>
          <a:prstGeom prst="diamond">
            <a:avLst/>
          </a:prstGeom>
          <a:solidFill>
            <a:srgbClr val="171717"/>
          </a:solidFill>
          <a:ln>
            <a:noFill/>
          </a:ln>
        </p:spPr>
        <p:txBody>
          <a:bodyPr rtlCol="0" anchor="ctr"/>
          <a:lstStyle/>
          <a:p>
            <a:pPr algn="ctr"/>
          </a:p>
        </p:txBody>
      </p:sp>
      <p:cxnSp>
        <p:nvCxnSpPr>
          <p:cNvPr id="34" name="Connector 33"/>
          <p:cNvCxnSpPr/>
          <p:nvPr/>
        </p:nvCxnSpPr>
        <p:spPr>
          <a:xfrm>
            <a:off x="438912" y="4096512"/>
            <a:ext cx="17410176" cy="0"/>
          </a:xfrm>
          <a:prstGeom prst="line">
            <a:avLst/>
          </a:prstGeom>
          <a:ln w="6350">
            <a:solidFill>
              <a:srgbClr val="E1E1E1"/>
            </a:solidFill>
          </a:ln>
        </p:spPr>
      </p:cxnSp>
      <p:sp>
        <p:nvSpPr>
          <p:cNvPr id="35" name="TextBox 34"/>
          <p:cNvSpPr txBox="1"/>
          <p:nvPr/>
        </p:nvSpPr>
        <p:spPr>
          <a:xfrm>
            <a:off x="521207" y="4223613"/>
            <a:ext cx="566928" cy="182880"/>
          </a:xfrm>
          <a:prstGeom prst="rect">
            <a:avLst/>
          </a:prstGeom>
          <a:noFill/>
        </p:spPr>
        <p:txBody>
          <a:bodyPr wrap="square" lIns="0" rIns="0" tIns="0" bIns="0" anchor="t">
            <a:spAutoFit/>
          </a:bodyPr>
          <a:lstStyle/>
          <a:p>
            <a:pPr algn="l"/>
            <a:r>
              <a:rPr sz="1150" b="1" i="0">
                <a:solidFill>
                  <a:srgbClr val="2B3A8F"/>
                </a:solidFill>
                <a:latin typeface="Aptos"/>
              </a:rPr>
              <a:t>F07.2</a:t>
            </a:r>
          </a:p>
        </p:txBody>
      </p:sp>
      <p:sp>
        <p:nvSpPr>
          <p:cNvPr id="36" name="TextBox 35"/>
          <p:cNvSpPr txBox="1"/>
          <p:nvPr/>
        </p:nvSpPr>
        <p:spPr>
          <a:xfrm>
            <a:off x="1088136" y="4196181"/>
            <a:ext cx="4672583" cy="202996"/>
          </a:xfrm>
          <a:prstGeom prst="rect">
            <a:avLst/>
          </a:prstGeom>
          <a:noFill/>
        </p:spPr>
        <p:txBody>
          <a:bodyPr wrap="square" lIns="0" rIns="0" tIns="0" bIns="0" anchor="t">
            <a:spAutoFit/>
          </a:bodyPr>
          <a:lstStyle/>
          <a:p>
            <a:pPr algn="l"/>
            <a:r>
              <a:rPr sz="1440" b="1" i="0">
                <a:solidFill>
                  <a:srgbClr val="171717"/>
                </a:solidFill>
                <a:latin typeface="Aptos"/>
              </a:rPr>
              <a:t>Population Explorer &amp; Attrition Funnel</a:t>
            </a:r>
          </a:p>
        </p:txBody>
      </p:sp>
      <p:sp>
        <p:nvSpPr>
          <p:cNvPr id="37" name="TextBox 36"/>
          <p:cNvSpPr txBox="1"/>
          <p:nvPr/>
        </p:nvSpPr>
        <p:spPr>
          <a:xfrm>
            <a:off x="1088136" y="4411065"/>
            <a:ext cx="4672583" cy="310896"/>
          </a:xfrm>
          <a:prstGeom prst="rect">
            <a:avLst/>
          </a:prstGeom>
          <a:noFill/>
        </p:spPr>
        <p:txBody>
          <a:bodyPr wrap="square" lIns="0" rIns="0" tIns="0" bIns="0" anchor="t">
            <a:spAutoFit/>
          </a:bodyPr>
          <a:lstStyle/>
          <a:p>
            <a:pPr algn="l"/>
            <a:r>
              <a:rPr sz="1000" b="0" i="0">
                <a:solidFill>
                  <a:srgbClr val="595959"/>
                </a:solidFill>
                <a:latin typeface="Aptos"/>
              </a:rPr>
              <a:t>Source suitability and study feasibility: populations, coverage and attrition under agreed candidate rules, with denominators</a:t>
            </a:r>
          </a:p>
        </p:txBody>
      </p:sp>
      <p:sp>
        <p:nvSpPr>
          <p:cNvPr id="38" name="TextBox 37"/>
          <p:cNvSpPr txBox="1"/>
          <p:nvPr/>
        </p:nvSpPr>
        <p:spPr>
          <a:xfrm>
            <a:off x="5870448" y="4123944"/>
            <a:ext cx="2176272" cy="658368"/>
          </a:xfrm>
          <a:prstGeom prst="rect">
            <a:avLst/>
          </a:prstGeom>
          <a:noFill/>
        </p:spPr>
        <p:txBody>
          <a:bodyPr wrap="square" lIns="0" rIns="0" tIns="0" bIns="0" anchor="ctr">
            <a:spAutoFit/>
          </a:bodyPr>
          <a:lstStyle/>
          <a:p>
            <a:pPr algn="l"/>
            <a:r>
              <a:rPr sz="1000" b="0" i="0">
                <a:solidFill>
                  <a:srgbClr val="2B3A8F"/>
                </a:solidFill>
                <a:latin typeface="Aptos"/>
              </a:rPr>
              <a:t>Summarizes suitability and feasibility findings</a:t>
            </a:r>
          </a:p>
        </p:txBody>
      </p:sp>
      <p:sp>
        <p:nvSpPr>
          <p:cNvPr id="39" name="Rectangle 38"/>
          <p:cNvSpPr/>
          <p:nvPr/>
        </p:nvSpPr>
        <p:spPr>
          <a:xfrm>
            <a:off x="9354311" y="4370832"/>
            <a:ext cx="4791456" cy="164592"/>
          </a:xfrm>
          <a:prstGeom prst="rect">
            <a:avLst/>
          </a:prstGeom>
          <a:solidFill>
            <a:srgbClr val="E4461E"/>
          </a:solidFill>
          <a:ln>
            <a:noFill/>
          </a:ln>
        </p:spPr>
        <p:txBody>
          <a:bodyPr rtlCol="0" anchor="ctr"/>
          <a:lstStyle/>
          <a:p>
            <a:pPr algn="ctr"/>
          </a:p>
        </p:txBody>
      </p:sp>
      <p:sp>
        <p:nvSpPr>
          <p:cNvPr id="40" name="Diamond 39"/>
          <p:cNvSpPr/>
          <p:nvPr/>
        </p:nvSpPr>
        <p:spPr>
          <a:xfrm>
            <a:off x="14090904" y="4400550"/>
            <a:ext cx="109728" cy="105156"/>
          </a:xfrm>
          <a:prstGeom prst="diamond">
            <a:avLst/>
          </a:prstGeom>
          <a:solidFill>
            <a:srgbClr val="171717"/>
          </a:solidFill>
          <a:ln>
            <a:noFill/>
          </a:ln>
        </p:spPr>
        <p:txBody>
          <a:bodyPr rtlCol="0" anchor="ctr"/>
          <a:lstStyle/>
          <a:p>
            <a:pPr algn="ctr"/>
          </a:p>
        </p:txBody>
      </p:sp>
      <p:cxnSp>
        <p:nvCxnSpPr>
          <p:cNvPr id="41" name="Connector 40"/>
          <p:cNvCxnSpPr/>
          <p:nvPr/>
        </p:nvCxnSpPr>
        <p:spPr>
          <a:xfrm>
            <a:off x="438912" y="4809744"/>
            <a:ext cx="17410176" cy="0"/>
          </a:xfrm>
          <a:prstGeom prst="line">
            <a:avLst/>
          </a:prstGeom>
          <a:ln w="6350">
            <a:solidFill>
              <a:srgbClr val="E1E1E1"/>
            </a:solidFill>
          </a:ln>
        </p:spPr>
      </p:cxnSp>
      <p:sp>
        <p:nvSpPr>
          <p:cNvPr id="42" name="TextBox 41"/>
          <p:cNvSpPr txBox="1"/>
          <p:nvPr/>
        </p:nvSpPr>
        <p:spPr>
          <a:xfrm>
            <a:off x="521207" y="4936845"/>
            <a:ext cx="566928" cy="182880"/>
          </a:xfrm>
          <a:prstGeom prst="rect">
            <a:avLst/>
          </a:prstGeom>
          <a:noFill/>
        </p:spPr>
        <p:txBody>
          <a:bodyPr wrap="square" lIns="0" rIns="0" tIns="0" bIns="0" anchor="t">
            <a:spAutoFit/>
          </a:bodyPr>
          <a:lstStyle/>
          <a:p>
            <a:pPr algn="l"/>
            <a:r>
              <a:rPr sz="1150" b="1" i="0">
                <a:solidFill>
                  <a:srgbClr val="2B3A8F"/>
                </a:solidFill>
                <a:latin typeface="Aptos"/>
              </a:rPr>
              <a:t>F07.3</a:t>
            </a:r>
          </a:p>
        </p:txBody>
      </p:sp>
      <p:sp>
        <p:nvSpPr>
          <p:cNvPr id="43" name="TextBox 42"/>
          <p:cNvSpPr txBox="1"/>
          <p:nvPr/>
        </p:nvSpPr>
        <p:spPr>
          <a:xfrm>
            <a:off x="1088136" y="4909413"/>
            <a:ext cx="4672583" cy="202996"/>
          </a:xfrm>
          <a:prstGeom prst="rect">
            <a:avLst/>
          </a:prstGeom>
          <a:noFill/>
        </p:spPr>
        <p:txBody>
          <a:bodyPr wrap="square" lIns="0" rIns="0" tIns="0" bIns="0" anchor="t">
            <a:spAutoFit/>
          </a:bodyPr>
          <a:lstStyle/>
          <a:p>
            <a:pPr algn="l"/>
            <a:r>
              <a:rPr sz="1440" b="1" i="0">
                <a:solidFill>
                  <a:srgbClr val="171717"/>
                </a:solidFill>
                <a:latin typeface="Aptos"/>
              </a:rPr>
              <a:t>One-Click Report Generation</a:t>
            </a:r>
          </a:p>
        </p:txBody>
      </p:sp>
      <p:sp>
        <p:nvSpPr>
          <p:cNvPr id="44" name="TextBox 43"/>
          <p:cNvSpPr txBox="1"/>
          <p:nvPr/>
        </p:nvSpPr>
        <p:spPr>
          <a:xfrm>
            <a:off x="1088136" y="5124297"/>
            <a:ext cx="4672583" cy="310896"/>
          </a:xfrm>
          <a:prstGeom prst="rect">
            <a:avLst/>
          </a:prstGeom>
          <a:noFill/>
        </p:spPr>
        <p:txBody>
          <a:bodyPr wrap="square" lIns="0" rIns="0" tIns="0" bIns="0" anchor="t">
            <a:spAutoFit/>
          </a:bodyPr>
          <a:lstStyle/>
          <a:p>
            <a:pPr algn="l"/>
            <a:r>
              <a:rPr sz="1000" b="0" i="0">
                <a:solidFill>
                  <a:srgbClr val="595959"/>
                </a:solidFill>
                <a:latin typeface="Aptos"/>
              </a:rPr>
              <a:t>Generates the agreed TFL package from a selected results version, using approved templates and GSK conventions</a:t>
            </a:r>
          </a:p>
        </p:txBody>
      </p:sp>
      <p:sp>
        <p:nvSpPr>
          <p:cNvPr id="45" name="TextBox 44"/>
          <p:cNvSpPr txBox="1"/>
          <p:nvPr/>
        </p:nvSpPr>
        <p:spPr>
          <a:xfrm>
            <a:off x="5870448" y="4837176"/>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study-specific shells for review</a:t>
            </a:r>
          </a:p>
        </p:txBody>
      </p:sp>
      <p:sp>
        <p:nvSpPr>
          <p:cNvPr id="46" name="Rectangle 45"/>
          <p:cNvSpPr/>
          <p:nvPr/>
        </p:nvSpPr>
        <p:spPr>
          <a:xfrm>
            <a:off x="10570463" y="5084064"/>
            <a:ext cx="4791456" cy="164592"/>
          </a:xfrm>
          <a:prstGeom prst="rect">
            <a:avLst/>
          </a:prstGeom>
          <a:solidFill>
            <a:srgbClr val="E4461E"/>
          </a:solidFill>
          <a:ln>
            <a:noFill/>
          </a:ln>
        </p:spPr>
        <p:txBody>
          <a:bodyPr rtlCol="0" anchor="ctr"/>
          <a:lstStyle/>
          <a:p>
            <a:pPr algn="ctr"/>
          </a:p>
        </p:txBody>
      </p:sp>
      <p:sp>
        <p:nvSpPr>
          <p:cNvPr id="47" name="Diamond 46"/>
          <p:cNvSpPr/>
          <p:nvPr/>
        </p:nvSpPr>
        <p:spPr>
          <a:xfrm>
            <a:off x="15307056" y="5113782"/>
            <a:ext cx="109728" cy="105156"/>
          </a:xfrm>
          <a:prstGeom prst="diamond">
            <a:avLst/>
          </a:prstGeom>
          <a:solidFill>
            <a:srgbClr val="171717"/>
          </a:solidFill>
          <a:ln>
            <a:noFill/>
          </a:ln>
        </p:spPr>
        <p:txBody>
          <a:bodyPr rtlCol="0" anchor="ctr"/>
          <a:lstStyle/>
          <a:p>
            <a:pPr algn="ctr"/>
          </a:p>
        </p:txBody>
      </p:sp>
      <p:cxnSp>
        <p:nvCxnSpPr>
          <p:cNvPr id="48" name="Connector 47"/>
          <p:cNvCxnSpPr/>
          <p:nvPr/>
        </p:nvCxnSpPr>
        <p:spPr>
          <a:xfrm>
            <a:off x="438912" y="5522976"/>
            <a:ext cx="17410176" cy="0"/>
          </a:xfrm>
          <a:prstGeom prst="line">
            <a:avLst/>
          </a:prstGeom>
          <a:ln w="6350">
            <a:solidFill>
              <a:srgbClr val="E1E1E1"/>
            </a:solidFill>
          </a:ln>
        </p:spPr>
      </p:cxnSp>
      <p:sp>
        <p:nvSpPr>
          <p:cNvPr id="49" name="TextBox 48"/>
          <p:cNvSpPr txBox="1"/>
          <p:nvPr/>
        </p:nvSpPr>
        <p:spPr>
          <a:xfrm>
            <a:off x="521207" y="5650077"/>
            <a:ext cx="566928" cy="182880"/>
          </a:xfrm>
          <a:prstGeom prst="rect">
            <a:avLst/>
          </a:prstGeom>
          <a:noFill/>
        </p:spPr>
        <p:txBody>
          <a:bodyPr wrap="square" lIns="0" rIns="0" tIns="0" bIns="0" anchor="t">
            <a:spAutoFit/>
          </a:bodyPr>
          <a:lstStyle/>
          <a:p>
            <a:pPr algn="l"/>
            <a:r>
              <a:rPr sz="1150" b="1" i="0">
                <a:solidFill>
                  <a:srgbClr val="2B3A8F"/>
                </a:solidFill>
                <a:latin typeface="Aptos"/>
              </a:rPr>
              <a:t>F07.4</a:t>
            </a:r>
          </a:p>
        </p:txBody>
      </p:sp>
      <p:sp>
        <p:nvSpPr>
          <p:cNvPr id="50" name="TextBox 49"/>
          <p:cNvSpPr txBox="1"/>
          <p:nvPr/>
        </p:nvSpPr>
        <p:spPr>
          <a:xfrm>
            <a:off x="1088136" y="5622645"/>
            <a:ext cx="4672583" cy="202996"/>
          </a:xfrm>
          <a:prstGeom prst="rect">
            <a:avLst/>
          </a:prstGeom>
          <a:noFill/>
        </p:spPr>
        <p:txBody>
          <a:bodyPr wrap="square" lIns="0" rIns="0" tIns="0" bIns="0" anchor="t">
            <a:spAutoFit/>
          </a:bodyPr>
          <a:lstStyle/>
          <a:p>
            <a:pPr algn="l"/>
            <a:r>
              <a:rPr sz="1440" b="1" i="0">
                <a:solidFill>
                  <a:srgbClr val="171717"/>
                </a:solidFill>
                <a:latin typeface="Aptos"/>
              </a:rPr>
              <a:t>Completeness Dashboard</a:t>
            </a:r>
          </a:p>
        </p:txBody>
      </p:sp>
      <p:sp>
        <p:nvSpPr>
          <p:cNvPr id="51" name="TextBox 50"/>
          <p:cNvSpPr txBox="1"/>
          <p:nvPr/>
        </p:nvSpPr>
        <p:spPr>
          <a:xfrm>
            <a:off x="1088136" y="5837529"/>
            <a:ext cx="4672583" cy="310896"/>
          </a:xfrm>
          <a:prstGeom prst="rect">
            <a:avLst/>
          </a:prstGeom>
          <a:noFill/>
        </p:spPr>
        <p:txBody>
          <a:bodyPr wrap="square" lIns="0" rIns="0" tIns="0" bIns="0" anchor="t">
            <a:spAutoFit/>
          </a:bodyPr>
          <a:lstStyle/>
          <a:p>
            <a:pPr algn="l"/>
            <a:r>
              <a:rPr sz="1000" b="0" i="0">
                <a:solidFill>
                  <a:srgbClr val="595959"/>
                </a:solidFill>
                <a:latin typeface="Aptos"/>
              </a:rPr>
              <a:t>Completeness, plausibility and conformance of derived variables, by source and data cut</a:t>
            </a:r>
          </a:p>
        </p:txBody>
      </p:sp>
      <p:sp>
        <p:nvSpPr>
          <p:cNvPr id="52" name="TextBox 51"/>
          <p:cNvSpPr txBox="1"/>
          <p:nvPr/>
        </p:nvSpPr>
        <p:spPr>
          <a:xfrm>
            <a:off x="5870448" y="5550408"/>
            <a:ext cx="2176272" cy="658368"/>
          </a:xfrm>
          <a:prstGeom prst="rect">
            <a:avLst/>
          </a:prstGeom>
          <a:noFill/>
        </p:spPr>
        <p:txBody>
          <a:bodyPr wrap="square" lIns="0" rIns="0" tIns="0" bIns="0" anchor="ctr">
            <a:spAutoFit/>
          </a:bodyPr>
          <a:lstStyle/>
          <a:p>
            <a:pPr algn="l"/>
            <a:r>
              <a:rPr sz="1000" b="0" i="0">
                <a:solidFill>
                  <a:srgbClr val="2B3A8F"/>
                </a:solidFill>
                <a:latin typeface="Aptos"/>
              </a:rPr>
              <a:t>Flags data-quality anomalies for review</a:t>
            </a:r>
          </a:p>
        </p:txBody>
      </p:sp>
      <p:sp>
        <p:nvSpPr>
          <p:cNvPr id="53" name="Rectangle 52"/>
          <p:cNvSpPr/>
          <p:nvPr/>
        </p:nvSpPr>
        <p:spPr>
          <a:xfrm>
            <a:off x="11786615" y="5797296"/>
            <a:ext cx="3575304" cy="164592"/>
          </a:xfrm>
          <a:prstGeom prst="rect">
            <a:avLst/>
          </a:prstGeom>
          <a:solidFill>
            <a:srgbClr val="E4461E"/>
          </a:solidFill>
          <a:ln>
            <a:noFill/>
          </a:ln>
        </p:spPr>
        <p:txBody>
          <a:bodyPr rtlCol="0" anchor="ctr"/>
          <a:lstStyle/>
          <a:p>
            <a:pPr algn="ctr"/>
          </a:p>
        </p:txBody>
      </p:sp>
      <p:sp>
        <p:nvSpPr>
          <p:cNvPr id="54" name="Diamond 53"/>
          <p:cNvSpPr/>
          <p:nvPr/>
        </p:nvSpPr>
        <p:spPr>
          <a:xfrm>
            <a:off x="15307056" y="5827014"/>
            <a:ext cx="109728" cy="105156"/>
          </a:xfrm>
          <a:prstGeom prst="diamond">
            <a:avLst/>
          </a:prstGeom>
          <a:solidFill>
            <a:srgbClr val="171717"/>
          </a:solidFill>
          <a:ln>
            <a:noFill/>
          </a:ln>
        </p:spPr>
        <p:txBody>
          <a:bodyPr rtlCol="0" anchor="ctr"/>
          <a:lstStyle/>
          <a:p>
            <a:pPr algn="ctr"/>
          </a:p>
        </p:txBody>
      </p:sp>
      <p:cxnSp>
        <p:nvCxnSpPr>
          <p:cNvPr id="55" name="Connector 54"/>
          <p:cNvCxnSpPr/>
          <p:nvPr/>
        </p:nvCxnSpPr>
        <p:spPr>
          <a:xfrm>
            <a:off x="438912" y="6236208"/>
            <a:ext cx="17410176" cy="0"/>
          </a:xfrm>
          <a:prstGeom prst="line">
            <a:avLst/>
          </a:prstGeom>
          <a:ln w="6350">
            <a:solidFill>
              <a:srgbClr val="E1E1E1"/>
            </a:solidFill>
          </a:ln>
        </p:spPr>
      </p:cxnSp>
      <p:sp>
        <p:nvSpPr>
          <p:cNvPr id="56" name="TextBox 55"/>
          <p:cNvSpPr txBox="1"/>
          <p:nvPr/>
        </p:nvSpPr>
        <p:spPr>
          <a:xfrm>
            <a:off x="521207" y="6363309"/>
            <a:ext cx="566928" cy="182880"/>
          </a:xfrm>
          <a:prstGeom prst="rect">
            <a:avLst/>
          </a:prstGeom>
          <a:noFill/>
        </p:spPr>
        <p:txBody>
          <a:bodyPr wrap="square" lIns="0" rIns="0" tIns="0" bIns="0" anchor="t">
            <a:spAutoFit/>
          </a:bodyPr>
          <a:lstStyle/>
          <a:p>
            <a:pPr algn="l"/>
            <a:r>
              <a:rPr sz="1150" b="1" i="0">
                <a:solidFill>
                  <a:srgbClr val="2B3A8F"/>
                </a:solidFill>
                <a:latin typeface="Aptos"/>
              </a:rPr>
              <a:t>F07.5</a:t>
            </a:r>
          </a:p>
        </p:txBody>
      </p:sp>
      <p:sp>
        <p:nvSpPr>
          <p:cNvPr id="57" name="TextBox 56"/>
          <p:cNvSpPr txBox="1"/>
          <p:nvPr/>
        </p:nvSpPr>
        <p:spPr>
          <a:xfrm>
            <a:off x="1088136" y="6335877"/>
            <a:ext cx="4672583" cy="202996"/>
          </a:xfrm>
          <a:prstGeom prst="rect">
            <a:avLst/>
          </a:prstGeom>
          <a:noFill/>
        </p:spPr>
        <p:txBody>
          <a:bodyPr wrap="square" lIns="0" rIns="0" tIns="0" bIns="0" anchor="t">
            <a:spAutoFit/>
          </a:bodyPr>
          <a:lstStyle/>
          <a:p>
            <a:pPr algn="l"/>
            <a:r>
              <a:rPr sz="1440" b="1" i="0">
                <a:solidFill>
                  <a:srgbClr val="171717"/>
                </a:solidFill>
                <a:latin typeface="Aptos"/>
              </a:rPr>
              <a:t>Results Review &amp; Reconciliation Workspace</a:t>
            </a:r>
          </a:p>
        </p:txBody>
      </p:sp>
      <p:sp>
        <p:nvSpPr>
          <p:cNvPr id="58" name="TextBox 57"/>
          <p:cNvSpPr txBox="1"/>
          <p:nvPr/>
        </p:nvSpPr>
        <p:spPr>
          <a:xfrm>
            <a:off x="1088136" y="6550761"/>
            <a:ext cx="4672583" cy="310896"/>
          </a:xfrm>
          <a:prstGeom prst="rect">
            <a:avLst/>
          </a:prstGeom>
          <a:noFill/>
        </p:spPr>
        <p:txBody>
          <a:bodyPr wrap="square" lIns="0" rIns="0" tIns="0" bIns="0" anchor="t">
            <a:spAutoFit/>
          </a:bodyPr>
          <a:lstStyle/>
          <a:p>
            <a:pPr algn="l"/>
            <a:r>
              <a:rPr sz="1000" b="0" i="0">
                <a:solidFill>
                  <a:srgbClr val="595959"/>
                </a:solidFill>
                <a:latin typeface="Aptos"/>
              </a:rPr>
              <a:t>Deterministic checks of values, denominators, labels, rounding and versions; reviewers approve or return each output</a:t>
            </a:r>
          </a:p>
        </p:txBody>
      </p:sp>
      <p:sp>
        <p:nvSpPr>
          <p:cNvPr id="59" name="TextBox 58"/>
          <p:cNvSpPr txBox="1"/>
          <p:nvPr/>
        </p:nvSpPr>
        <p:spPr>
          <a:xfrm>
            <a:off x="5870448" y="6263640"/>
            <a:ext cx="2176272" cy="658368"/>
          </a:xfrm>
          <a:prstGeom prst="rect">
            <a:avLst/>
          </a:prstGeom>
          <a:noFill/>
        </p:spPr>
        <p:txBody>
          <a:bodyPr wrap="square" lIns="0" rIns="0" tIns="0" bIns="0" anchor="ctr">
            <a:spAutoFit/>
          </a:bodyPr>
          <a:lstStyle/>
          <a:p>
            <a:pPr algn="l"/>
            <a:r>
              <a:rPr sz="1000" b="0" i="0">
                <a:solidFill>
                  <a:srgbClr val="2B3A8F"/>
                </a:solidFill>
                <a:latin typeface="Aptos"/>
              </a:rPr>
              <a:t>Flags suspicious patterns for review</a:t>
            </a:r>
          </a:p>
        </p:txBody>
      </p:sp>
      <p:sp>
        <p:nvSpPr>
          <p:cNvPr id="60" name="Rectangle 59"/>
          <p:cNvSpPr/>
          <p:nvPr/>
        </p:nvSpPr>
        <p:spPr>
          <a:xfrm>
            <a:off x="11786615" y="6510528"/>
            <a:ext cx="4791456" cy="164592"/>
          </a:xfrm>
          <a:prstGeom prst="rect">
            <a:avLst/>
          </a:prstGeom>
          <a:solidFill>
            <a:srgbClr val="E4461E"/>
          </a:solidFill>
          <a:ln>
            <a:noFill/>
          </a:ln>
        </p:spPr>
        <p:txBody>
          <a:bodyPr rtlCol="0" anchor="ctr"/>
          <a:lstStyle/>
          <a:p>
            <a:pPr algn="ctr"/>
          </a:p>
        </p:txBody>
      </p:sp>
      <p:sp>
        <p:nvSpPr>
          <p:cNvPr id="61" name="Diamond 60"/>
          <p:cNvSpPr/>
          <p:nvPr/>
        </p:nvSpPr>
        <p:spPr>
          <a:xfrm>
            <a:off x="16523208" y="6540246"/>
            <a:ext cx="109728" cy="105156"/>
          </a:xfrm>
          <a:prstGeom prst="diamond">
            <a:avLst/>
          </a:prstGeom>
          <a:solidFill>
            <a:srgbClr val="171717"/>
          </a:solidFill>
          <a:ln>
            <a:noFill/>
          </a:ln>
        </p:spPr>
        <p:txBody>
          <a:bodyPr rtlCol="0" anchor="ctr"/>
          <a:lstStyle/>
          <a:p>
            <a:pPr algn="ctr"/>
          </a:p>
        </p:txBody>
      </p:sp>
      <p:cxnSp>
        <p:nvCxnSpPr>
          <p:cNvPr id="62" name="Connector 61"/>
          <p:cNvCxnSpPr/>
          <p:nvPr/>
        </p:nvCxnSpPr>
        <p:spPr>
          <a:xfrm>
            <a:off x="438912" y="6949440"/>
            <a:ext cx="17410176" cy="0"/>
          </a:xfrm>
          <a:prstGeom prst="line">
            <a:avLst/>
          </a:prstGeom>
          <a:ln w="6350">
            <a:solidFill>
              <a:srgbClr val="E1E1E1"/>
            </a:solidFill>
          </a:ln>
        </p:spPr>
      </p:cxnSp>
      <p:sp>
        <p:nvSpPr>
          <p:cNvPr id="63" name="TextBox 62"/>
          <p:cNvSpPr txBox="1"/>
          <p:nvPr/>
        </p:nvSpPr>
        <p:spPr>
          <a:xfrm>
            <a:off x="521207" y="7076541"/>
            <a:ext cx="566928" cy="182880"/>
          </a:xfrm>
          <a:prstGeom prst="rect">
            <a:avLst/>
          </a:prstGeom>
          <a:noFill/>
        </p:spPr>
        <p:txBody>
          <a:bodyPr wrap="square" lIns="0" rIns="0" tIns="0" bIns="0" anchor="t">
            <a:spAutoFit/>
          </a:bodyPr>
          <a:lstStyle/>
          <a:p>
            <a:pPr algn="l"/>
            <a:r>
              <a:rPr sz="1150" b="1" i="0">
                <a:solidFill>
                  <a:srgbClr val="2B3A8F"/>
                </a:solidFill>
                <a:latin typeface="Aptos"/>
              </a:rPr>
              <a:t>F07.6</a:t>
            </a:r>
          </a:p>
        </p:txBody>
      </p:sp>
      <p:sp>
        <p:nvSpPr>
          <p:cNvPr id="64" name="TextBox 63"/>
          <p:cNvSpPr txBox="1"/>
          <p:nvPr/>
        </p:nvSpPr>
        <p:spPr>
          <a:xfrm>
            <a:off x="1088136" y="7049109"/>
            <a:ext cx="4672583" cy="202996"/>
          </a:xfrm>
          <a:prstGeom prst="rect">
            <a:avLst/>
          </a:prstGeom>
          <a:noFill/>
        </p:spPr>
        <p:txBody>
          <a:bodyPr wrap="square" lIns="0" rIns="0" tIns="0" bIns="0" anchor="t">
            <a:spAutoFit/>
          </a:bodyPr>
          <a:lstStyle/>
          <a:p>
            <a:pPr algn="l"/>
            <a:r>
              <a:rPr sz="1440" b="1" i="0">
                <a:solidFill>
                  <a:srgbClr val="171717"/>
                </a:solidFill>
                <a:latin typeface="Aptos"/>
              </a:rPr>
              <a:t>Narrative, Summary Slides &amp; Release</a:t>
            </a:r>
          </a:p>
        </p:txBody>
      </p:sp>
      <p:sp>
        <p:nvSpPr>
          <p:cNvPr id="65" name="TextBox 64"/>
          <p:cNvSpPr txBox="1"/>
          <p:nvPr/>
        </p:nvSpPr>
        <p:spPr>
          <a:xfrm>
            <a:off x="1088136" y="7263993"/>
            <a:ext cx="4672583" cy="310896"/>
          </a:xfrm>
          <a:prstGeom prst="rect">
            <a:avLst/>
          </a:prstGeom>
          <a:noFill/>
        </p:spPr>
        <p:txBody>
          <a:bodyPr wrap="square" lIns="0" rIns="0" tIns="0" bIns="0" anchor="t">
            <a:spAutoFit/>
          </a:bodyPr>
          <a:lstStyle/>
          <a:p>
            <a:pPr algn="l"/>
            <a:r>
              <a:rPr sz="1000" b="0" i="0">
                <a:solidFill>
                  <a:srgbClr val="595959"/>
                </a:solidFill>
                <a:latin typeface="Aptos"/>
              </a:rPr>
              <a:t>Statistician-reviewed narrative and summary slides; versioned release, with re-approval if inputs change</a:t>
            </a:r>
          </a:p>
        </p:txBody>
      </p:sp>
      <p:sp>
        <p:nvSpPr>
          <p:cNvPr id="66" name="TextBox 65"/>
          <p:cNvSpPr txBox="1"/>
          <p:nvPr/>
        </p:nvSpPr>
        <p:spPr>
          <a:xfrm>
            <a:off x="5870448" y="6976872"/>
            <a:ext cx="2176272" cy="658368"/>
          </a:xfrm>
          <a:prstGeom prst="rect">
            <a:avLst/>
          </a:prstGeom>
          <a:noFill/>
        </p:spPr>
        <p:txBody>
          <a:bodyPr wrap="square" lIns="0" rIns="0" tIns="0" bIns="0" anchor="ctr">
            <a:spAutoFit/>
          </a:bodyPr>
          <a:lstStyle/>
          <a:p>
            <a:pPr algn="l"/>
            <a:r>
              <a:rPr sz="1000" b="0" i="0">
                <a:solidFill>
                  <a:srgbClr val="2B3A8F"/>
                </a:solidFill>
                <a:latin typeface="Aptos"/>
              </a:rPr>
              <a:t>Drafts narratives and summary slides for review</a:t>
            </a:r>
          </a:p>
        </p:txBody>
      </p:sp>
      <p:sp>
        <p:nvSpPr>
          <p:cNvPr id="67" name="Rectangle 66"/>
          <p:cNvSpPr/>
          <p:nvPr/>
        </p:nvSpPr>
        <p:spPr>
          <a:xfrm>
            <a:off x="14218919" y="7223760"/>
            <a:ext cx="3575304" cy="164592"/>
          </a:xfrm>
          <a:prstGeom prst="rect">
            <a:avLst/>
          </a:prstGeom>
          <a:solidFill>
            <a:srgbClr val="E4461E"/>
          </a:solidFill>
          <a:ln>
            <a:noFill/>
          </a:ln>
        </p:spPr>
        <p:txBody>
          <a:bodyPr rtlCol="0" anchor="ctr"/>
          <a:lstStyle/>
          <a:p>
            <a:pPr algn="ctr"/>
          </a:p>
        </p:txBody>
      </p:sp>
      <p:sp>
        <p:nvSpPr>
          <p:cNvPr id="68" name="Diamond 67"/>
          <p:cNvSpPr/>
          <p:nvPr/>
        </p:nvSpPr>
        <p:spPr>
          <a:xfrm>
            <a:off x="17739360" y="7253478"/>
            <a:ext cx="109728" cy="105156"/>
          </a:xfrm>
          <a:prstGeom prst="diamond">
            <a:avLst/>
          </a:prstGeom>
          <a:solidFill>
            <a:srgbClr val="171717"/>
          </a:solidFill>
          <a:ln>
            <a:noFill/>
          </a:ln>
        </p:spPr>
        <p:txBody>
          <a:bodyPr rtlCol="0" anchor="ctr"/>
          <a:lstStyle/>
          <a:p>
            <a:pPr algn="ctr"/>
          </a:p>
        </p:txBody>
      </p:sp>
      <p:cxnSp>
        <p:nvCxnSpPr>
          <p:cNvPr id="69" name="Connector 68"/>
          <p:cNvCxnSpPr/>
          <p:nvPr/>
        </p:nvCxnSpPr>
        <p:spPr>
          <a:xfrm>
            <a:off x="438912" y="7662672"/>
            <a:ext cx="17410176" cy="0"/>
          </a:xfrm>
          <a:prstGeom prst="line">
            <a:avLst/>
          </a:prstGeom>
          <a:ln w="6350">
            <a:solidFill>
              <a:srgbClr val="E1E1E1"/>
            </a:solidFill>
          </a:ln>
        </p:spPr>
      </p:cxnSp>
      <p:sp>
        <p:nvSpPr>
          <p:cNvPr id="70" name="TextBox 69"/>
          <p:cNvSpPr txBox="1"/>
          <p:nvPr/>
        </p:nvSpPr>
        <p:spPr>
          <a:xfrm>
            <a:off x="438912" y="9198864"/>
            <a:ext cx="17410176" cy="182880"/>
          </a:xfrm>
          <a:prstGeom prst="rect">
            <a:avLst/>
          </a:prstGeom>
          <a:noFill/>
        </p:spPr>
        <p:txBody>
          <a:bodyPr wrap="square" lIns="0" rIns="0" tIns="0" bIns="0" anchor="t">
            <a:spAutoFit/>
          </a:bodyPr>
          <a:lstStyle/>
          <a:p>
            <a:pPr algn="ctr"/>
            <a:r>
              <a:rPr sz="1080" b="1" i="0">
                <a:solidFill>
                  <a:srgbClr val="2B3A8F"/>
                </a:solidFill>
                <a:latin typeface="Aptos"/>
              </a:rPr>
              <a:t>ACCEPTANCE GATES  |  WORKSTREAMS RUN IN PARALLEL; GATES CONTROL USE OF APPROVED INPUTS AND PROMOTION OF RELEASES</a:t>
            </a:r>
          </a:p>
        </p:txBody>
      </p:sp>
      <p:sp>
        <p:nvSpPr>
          <p:cNvPr id="71" name="Rectangle 70"/>
          <p:cNvSpPr/>
          <p:nvPr/>
        </p:nvSpPr>
        <p:spPr>
          <a:xfrm>
            <a:off x="438912" y="9464040"/>
            <a:ext cx="5730240" cy="566928"/>
          </a:xfrm>
          <a:prstGeom prst="rect">
            <a:avLst/>
          </a:prstGeom>
          <a:solidFill>
            <a:srgbClr val="F6F6F6"/>
          </a:solidFill>
          <a:ln>
            <a:noFill/>
          </a:ln>
        </p:spPr>
        <p:txBody>
          <a:bodyPr rtlCol="0" anchor="ctr"/>
          <a:lstStyle/>
          <a:p>
            <a:pPr algn="ctr"/>
          </a:p>
        </p:txBody>
      </p:sp>
      <p:sp>
        <p:nvSpPr>
          <p:cNvPr id="72" name="Rectangle 71"/>
          <p:cNvSpPr/>
          <p:nvPr/>
        </p:nvSpPr>
        <p:spPr>
          <a:xfrm>
            <a:off x="438912" y="9464040"/>
            <a:ext cx="47548" cy="566928"/>
          </a:xfrm>
          <a:prstGeom prst="rect">
            <a:avLst/>
          </a:prstGeom>
          <a:solidFill>
            <a:srgbClr val="1B1F5C"/>
          </a:solidFill>
          <a:ln>
            <a:noFill/>
          </a:ln>
        </p:spPr>
        <p:txBody>
          <a:bodyPr rtlCol="0" anchor="ctr"/>
          <a:lstStyle/>
          <a:p>
            <a:pPr algn="ctr"/>
          </a:p>
        </p:txBody>
      </p:sp>
      <p:sp>
        <p:nvSpPr>
          <p:cNvPr id="73" name="TextBox 72"/>
          <p:cNvSpPr txBox="1"/>
          <p:nvPr/>
        </p:nvSpPr>
        <p:spPr>
          <a:xfrm>
            <a:off x="548640"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LATE MONTH 4 · RESULTS &amp; EXPLORER ON TEST INPUTS</a:t>
            </a:r>
          </a:p>
        </p:txBody>
      </p:sp>
      <p:sp>
        <p:nvSpPr>
          <p:cNvPr id="74" name="TextBox 73"/>
          <p:cNvSpPr txBox="1"/>
          <p:nvPr/>
        </p:nvSpPr>
        <p:spPr>
          <a:xfrm>
            <a:off x="548640"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Versioned results and feasibility views testable</a:t>
            </a:r>
          </a:p>
        </p:txBody>
      </p:sp>
      <p:sp>
        <p:nvSpPr>
          <p:cNvPr id="75" name="Rectangle 74"/>
          <p:cNvSpPr/>
          <p:nvPr/>
        </p:nvSpPr>
        <p:spPr>
          <a:xfrm>
            <a:off x="6278880" y="9464040"/>
            <a:ext cx="5730240" cy="566928"/>
          </a:xfrm>
          <a:prstGeom prst="rect">
            <a:avLst/>
          </a:prstGeom>
          <a:solidFill>
            <a:srgbClr val="F6F6F6"/>
          </a:solidFill>
          <a:ln>
            <a:noFill/>
          </a:ln>
        </p:spPr>
        <p:txBody>
          <a:bodyPr rtlCol="0" anchor="ctr"/>
          <a:lstStyle/>
          <a:p>
            <a:pPr algn="ctr"/>
          </a:p>
        </p:txBody>
      </p:sp>
      <p:sp>
        <p:nvSpPr>
          <p:cNvPr id="76" name="Rectangle 75"/>
          <p:cNvSpPr/>
          <p:nvPr/>
        </p:nvSpPr>
        <p:spPr>
          <a:xfrm>
            <a:off x="6278880" y="9464040"/>
            <a:ext cx="47548" cy="566928"/>
          </a:xfrm>
          <a:prstGeom prst="rect">
            <a:avLst/>
          </a:prstGeom>
          <a:solidFill>
            <a:srgbClr val="1B1F5C"/>
          </a:solidFill>
          <a:ln>
            <a:noFill/>
          </a:ln>
        </p:spPr>
        <p:txBody>
          <a:bodyPr rtlCol="0" anchor="ctr"/>
          <a:lstStyle/>
          <a:p>
            <a:pPr algn="ctr"/>
          </a:p>
        </p:txBody>
      </p:sp>
      <p:sp>
        <p:nvSpPr>
          <p:cNvPr id="77" name="TextBox 76"/>
          <p:cNvSpPr txBox="1"/>
          <p:nvPr/>
        </p:nvSpPr>
        <p:spPr>
          <a:xfrm>
            <a:off x="6388608"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MID MONTH 5 · REPORTING READY FOR QUALIFICATION</a:t>
            </a:r>
          </a:p>
        </p:txBody>
      </p:sp>
      <p:sp>
        <p:nvSpPr>
          <p:cNvPr id="78" name="TextBox 77"/>
          <p:cNvSpPr txBox="1"/>
          <p:nvPr/>
        </p:nvSpPr>
        <p:spPr>
          <a:xfrm>
            <a:off x="6388608"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TFL packages and completeness views integrated</a:t>
            </a:r>
          </a:p>
        </p:txBody>
      </p:sp>
      <p:sp>
        <p:nvSpPr>
          <p:cNvPr id="79" name="Rectangle 78"/>
          <p:cNvSpPr/>
          <p:nvPr/>
        </p:nvSpPr>
        <p:spPr>
          <a:xfrm>
            <a:off x="12118848" y="9464040"/>
            <a:ext cx="5730240" cy="566928"/>
          </a:xfrm>
          <a:prstGeom prst="rect">
            <a:avLst/>
          </a:prstGeom>
          <a:solidFill>
            <a:srgbClr val="F6F6F6"/>
          </a:solidFill>
          <a:ln>
            <a:noFill/>
          </a:ln>
        </p:spPr>
        <p:txBody>
          <a:bodyPr rtlCol="0" anchor="ctr"/>
          <a:lstStyle/>
          <a:p>
            <a:pPr algn="ctr"/>
          </a:p>
        </p:txBody>
      </p:sp>
      <p:sp>
        <p:nvSpPr>
          <p:cNvPr id="80" name="Rectangle 79"/>
          <p:cNvSpPr/>
          <p:nvPr/>
        </p:nvSpPr>
        <p:spPr>
          <a:xfrm>
            <a:off x="12118848" y="9464040"/>
            <a:ext cx="47548" cy="566928"/>
          </a:xfrm>
          <a:prstGeom prst="rect">
            <a:avLst/>
          </a:prstGeom>
          <a:solidFill>
            <a:srgbClr val="1B1F5C"/>
          </a:solidFill>
          <a:ln>
            <a:noFill/>
          </a:ln>
        </p:spPr>
        <p:txBody>
          <a:bodyPr rtlCol="0" anchor="ctr"/>
          <a:lstStyle/>
          <a:p>
            <a:pPr algn="ctr"/>
          </a:p>
        </p:txBody>
      </p:sp>
      <p:sp>
        <p:nvSpPr>
          <p:cNvPr id="81" name="TextBox 80"/>
          <p:cNvSpPr txBox="1"/>
          <p:nvPr/>
        </p:nvSpPr>
        <p:spPr>
          <a:xfrm>
            <a:off x="12228576" y="9578340"/>
            <a:ext cx="5510784" cy="155448"/>
          </a:xfrm>
          <a:prstGeom prst="rect">
            <a:avLst/>
          </a:prstGeom>
          <a:noFill/>
        </p:spPr>
        <p:txBody>
          <a:bodyPr wrap="square" lIns="0" rIns="0" tIns="0" bIns="0" anchor="t">
            <a:spAutoFit/>
          </a:bodyPr>
          <a:lstStyle/>
          <a:p>
            <a:pPr algn="l"/>
            <a:r>
              <a:rPr sz="1070" b="1" i="0">
                <a:solidFill>
                  <a:srgbClr val="2B3A8F"/>
                </a:solidFill>
                <a:latin typeface="Aptos"/>
              </a:rPr>
              <a:t>END OF MONTH 5 · PILOT OUTPUTS ACCEPTED</a:t>
            </a:r>
          </a:p>
        </p:txBody>
      </p:sp>
      <p:sp>
        <p:nvSpPr>
          <p:cNvPr id="82" name="TextBox 81"/>
          <p:cNvSpPr txBox="1"/>
          <p:nvPr/>
        </p:nvSpPr>
        <p:spPr>
          <a:xfrm>
            <a:off x="12228576" y="9770364"/>
            <a:ext cx="5510784" cy="164592"/>
          </a:xfrm>
          <a:prstGeom prst="rect">
            <a:avLst/>
          </a:prstGeom>
          <a:noFill/>
        </p:spPr>
        <p:txBody>
          <a:bodyPr wrap="square" lIns="0" rIns="0" tIns="0" bIns="0" anchor="t">
            <a:spAutoFit/>
          </a:bodyPr>
          <a:lstStyle/>
          <a:p>
            <a:pPr algn="l"/>
            <a:r>
              <a:rPr sz="1230" b="1" i="0">
                <a:solidFill>
                  <a:srgbClr val="171717"/>
                </a:solidFill>
                <a:latin typeface="Aptos"/>
              </a:rPr>
              <a:t>Reconciled, reviewed and signed 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RWDPlatform | Final Implementation Roadmap</dc:title>
  <dc:subject>Full product implementation in the original PoC slide template</dc:subject>
  <dc:creator>Onkar</dc:creator>
  <cp:keywords>MedCode, clinical coding, PoC, product, Gantt, knowledge graph, clinical workspace</cp:keywords>
  <dc:description>Formatting-only update of the final implementation plan; all dates are proposed.</dc:description>
  <cp:lastModifiedBy>Steve Canny</cp:lastModifiedBy>
  <cp:revision>1</cp:revision>
  <dcterms:created xsi:type="dcterms:W3CDTF">2013-01-27T09:14:16Z</dcterms:created>
  <dcterms:modified xsi:type="dcterms:W3CDTF">2013-01-27T09:15:58Z</dcterms:modified>
  <cp:category/>
</cp:coreProperties>
</file>