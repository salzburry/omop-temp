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framing:
- This is not an autonomous AI workflow. It is a governed delivery spine.
- Six gates collapse operationally into three checkpoints: requirements ready, build ready, release ready.
- RWB owns scientific intent; RWP owns interpretation/source mapping/configuration; RWDE owns the shared engine and build.
- AI produces drafts and comparisons; deterministic tools produce evidence; people approve.
Sources: governance/WORKFLOW.md;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emphasise:
- The differentiator is traceability and refusal, not code generation.
- The repository contains one shared PySpark engine, an R validation twin, six gates, source profiling, contract binding, QC and two-run release.
- Current state is intentionally honest: the product registry is empty and the demonstration runs on fixtures.
- Current generated state reports 37 registered capabilities, 27 unit-tested, and 10 at component parity. The prostate reference fixture carries 202 contract records.
Sources: README.md; platform/README.md; governance/CURRENT_STATE.md; DEMO.md.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
- AI is intentionally a drafting and retrieval layer, not an approval or execution authority.
- Seven current skills are explicitly invoked: draft contract, answer decisions, source mapping, variable naming, apply verdicts, next cut, and operate product.
- Knowledge search spans decisions, precedents, contracts, capabilities, variables and citations. Semantic tools only propose candidates; a person rules.
- Restricted/vendor-derived material is excluded from AI; the graph never drives builds.
- Use the TSST mismatch as the concrete proof that lexical or ontology matches cannot be auto-bound.
Sources: .claude/skills; governance/WORKFLOW.md; HANDOVER.md.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message:
- Do not build a project composer first. Prove one live product, then harvest reusable patterns from 3–5 projects.
- Reuse candidates are YAML patterns, curated codelists, semantic bindings, signed decisions and validated R modules.
- Future composition imports assets by reference, so provenance and versioning remain intact.
- Tested source/CDM adapters are future state; the current adapter registry is intentionally empty.
- The approval standard does not change as reuse grows.
Sources: HANDOVER.md; products/registry.yaml; platform/tools/source_adapter.py; docs/GSK_SEMANTIC_STRATEGY_ALIGNMENT.md.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473952"/>
            <a:ext cx="10835640" cy="0"/>
          </a:xfrm>
          <a:prstGeom prst="line">
            <a:avLst/>
          </a:prstGeom>
          <a:noFill/>
          <a:ln w="10160">
            <a:solidFill>
              <a:srgbClr val="D9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519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RWD DELIVERY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549640" y="651967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snapshot · main @ 2a84679 · 31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5603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AI-ENABLED · GOVERNED RWD DELIVERY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3232" y="521208"/>
            <a:ext cx="10287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scientific intent to a released analytic dataset—on one governed spine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713232" y="12252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delivery model that separates what AI may assist, what deterministic tools must prove, and what accountable people must approve.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10241280" y="237744"/>
            <a:ext cx="1088136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246888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→ FUTURE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713232" y="1664208"/>
            <a:ext cx="10771632" cy="420624"/>
          </a:xfrm>
          <a:prstGeom prst="roundRect">
            <a:avLst>
              <a:gd name="adj" fmla="val 28261"/>
            </a:avLst>
          </a:prstGeom>
          <a:solidFill>
            <a:srgbClr val="1D2735"/>
          </a:solidFill>
          <a:ln w="12700">
            <a:solidFill>
              <a:srgbClr val="1D27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ASSISTS ACROSS THE LIFECYCLE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11296" y="17373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 •  compare  •  search  •  draft  •  propose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15984" y="173736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explicitly invoked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713232" y="2331720"/>
            <a:ext cx="331012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2496312"/>
            <a:ext cx="1261872" cy="274320"/>
          </a:xfrm>
          <a:prstGeom prst="roundRect">
            <a:avLst>
              <a:gd name="adj" fmla="val 46667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5054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DEFINE &amp; GOVERN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2666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07592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inputs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914400" y="346557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7472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07592" y="34564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+ decisions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896112" y="3886200"/>
            <a:ext cx="2944368" cy="0"/>
          </a:xfrm>
          <a:prstGeom prst="line">
            <a:avLst/>
          </a:prstGeom>
          <a:noFill/>
          <a:ln w="1016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7764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RWB owns scientific intent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4443984" y="2331720"/>
            <a:ext cx="331012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322580000" dist="177419000" dir="162000000000">
              <a:srgbClr val="000000">
                <a:alpha val="12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2496312"/>
            <a:ext cx="1261872" cy="274320"/>
          </a:xfrm>
          <a:prstGeom prst="roundRect">
            <a:avLst>
              <a:gd name="adj" fmla="val 46667"/>
            </a:avLst>
          </a:prstGeom>
          <a:solidFill>
            <a:srgbClr val="FFF2D9"/>
          </a:solidFill>
          <a:ln w="10160">
            <a:solidFill>
              <a:srgbClr val="B86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25054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BIND TO SOURCE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645152" y="30175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6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02666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38344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evidence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4645152" y="346557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6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47472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38344" y="34564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 configuration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4626864" y="3886200"/>
            <a:ext cx="2944368" cy="0"/>
          </a:xfrm>
          <a:prstGeom prst="line">
            <a:avLst/>
          </a:prstGeom>
          <a:noFill/>
          <a:ln w="10160">
            <a:solidFill>
              <a:srgbClr val="D9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397764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RWP owns interpretation + mapping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8174736" y="2331720"/>
            <a:ext cx="331012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4096766000000" dist="22532213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9328" y="2496312"/>
            <a:ext cx="1261872" cy="274320"/>
          </a:xfrm>
          <a:prstGeom prst="roundRect">
            <a:avLst>
              <a:gd name="adj" fmla="val 46667"/>
            </a:avLst>
          </a:prstGeom>
          <a:solidFill>
            <a:srgbClr val="E8F6F1"/>
          </a:solidFill>
          <a:ln w="10160">
            <a:solidFill>
              <a:srgbClr val="168A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25054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BUILD &amp; RELEASE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375904" y="30175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8A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75904" y="3026664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69096" y="3008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+ parity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8375904" y="3465576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8A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347472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69096" y="34564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+ sign-off</a:t>
            </a:r>
            <a:endParaRPr lang="en-US" sz="1140" dirty="0"/>
          </a:p>
        </p:txBody>
      </p:sp>
      <p:sp>
        <p:nvSpPr>
          <p:cNvPr id="42" name="Shape 40"/>
          <p:cNvSpPr/>
          <p:nvPr/>
        </p:nvSpPr>
        <p:spPr>
          <a:xfrm>
            <a:off x="8357616" y="3886200"/>
            <a:ext cx="2944368" cy="0"/>
          </a:xfrm>
          <a:prstGeom prst="line">
            <a:avLst/>
          </a:prstGeom>
          <a:noFill/>
          <a:ln w="10160">
            <a:solidFill>
              <a:srgbClr val="D9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57616" y="397764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RWDE owns shared engine + build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4069080" y="3383280"/>
            <a:ext cx="310896" cy="0"/>
          </a:xfrm>
          <a:prstGeom prst="line">
            <a:avLst/>
          </a:prstGeom>
          <a:noFill/>
          <a:ln w="2286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99832" y="3383280"/>
            <a:ext cx="310896" cy="0"/>
          </a:xfrm>
          <a:prstGeom prst="line">
            <a:avLst/>
          </a:prstGeom>
          <a:noFill/>
          <a:ln w="2286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13232" y="4690872"/>
            <a:ext cx="10771632" cy="484632"/>
          </a:xfrm>
          <a:prstGeom prst="roundRect">
            <a:avLst>
              <a:gd name="adj" fmla="val 2264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791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TOOLS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52928" y="47914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validation and writes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00600" y="4791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77840" y="47914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meaning, approval, and release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44000" y="47914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operational checkpoints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13232" y="5413248"/>
            <a:ext cx="33832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52028928200000000" dist="2861591051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3232" y="5413248"/>
            <a:ext cx="64008" cy="804672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5504688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end to end</a:t>
            </a:r>
            <a:endParaRPr lang="en-US" sz="1110" dirty="0"/>
          </a:p>
        </p:txBody>
      </p:sp>
      <p:sp>
        <p:nvSpPr>
          <p:cNvPr id="55" name="Text 53"/>
          <p:cNvSpPr/>
          <p:nvPr/>
        </p:nvSpPr>
        <p:spPr>
          <a:xfrm>
            <a:off x="914400" y="575157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→ configuration → build → exact released bytes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4233672" y="5413248"/>
            <a:ext cx="33832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60767388140000000000" dist="363422063477000000000" dir="3.4992e+25">
              <a:srgbClr val="000000">
                <a:alpha val="1.2e+24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233672" y="5413248"/>
            <a:ext cx="64008" cy="804672"/>
          </a:xfrm>
          <a:prstGeom prst="rect">
            <a:avLst/>
          </a:prstGeom>
          <a:solidFill>
            <a:srgbClr val="6755B5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5504688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without drift</a:t>
            </a:r>
            <a:endParaRPr lang="en-US" sz="1110" dirty="0"/>
          </a:p>
        </p:txBody>
      </p:sp>
      <p:sp>
        <p:nvSpPr>
          <p:cNvPr id="59" name="Text 57"/>
          <p:cNvSpPr/>
          <p:nvPr/>
        </p:nvSpPr>
        <p:spPr>
          <a:xfrm>
            <a:off x="4434840" y="575157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engine; versioned product-specific configuration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7754112" y="5413248"/>
            <a:ext cx="373075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8.391745829378e+24" dist="4.6154602061579e+24" dir="2.09952e+30">
              <a:srgbClr val="000000">
                <a:alpha val="1.2e+29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754112" y="5413248"/>
            <a:ext cx="64008" cy="804672"/>
          </a:xfrm>
          <a:prstGeom prst="rect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5504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Fail-closed by design</a:t>
            </a:r>
            <a:endParaRPr lang="en-US" sz="1110" dirty="0"/>
          </a:p>
        </p:txBody>
      </p:sp>
      <p:sp>
        <p:nvSpPr>
          <p:cNvPr id="63" name="Text 61"/>
          <p:cNvSpPr/>
          <p:nvPr/>
        </p:nvSpPr>
        <p:spPr>
          <a:xfrm>
            <a:off x="7955280" y="575157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evidence, unresolved decisions, or byte drift block progress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5603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CAPABILITY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3232" y="521208"/>
            <a:ext cx="10287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 today: a governed factory—not a code-generation demo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713232" y="12252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turns approved requirements into a staged ADS through versioned artifacts, source evidence, shared execution, QC, and exact-byte release controls.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10634472" y="237744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34472" y="2468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713232" y="1700784"/>
            <a:ext cx="2487168" cy="2980944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.0657517203310059e+29" dist="5.861634461820533e+28" dir="1.259712e+35">
              <a:srgbClr val="000000">
                <a:alpha val="1.2e+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00784"/>
            <a:ext cx="2487168" cy="502920"/>
          </a:xfrm>
          <a:prstGeom prst="roundRect">
            <a:avLst>
              <a:gd name="adj" fmla="val 23636"/>
            </a:avLst>
          </a:prstGeom>
          <a:solidFill>
            <a:srgbClr val="EAF3FF"/>
          </a:solidFill>
          <a:ln w="11430">
            <a:solidFill>
              <a:srgbClr val="2D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196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Requirements spine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96112" y="2478024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4140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Source-bound specification extraction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896112" y="2971800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90779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functional contract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896112" y="3465576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401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decision register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896112" y="3959352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8953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Anti-drift checks on governed fields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3236976" y="3182112"/>
            <a:ext cx="36576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19272" y="1700784"/>
            <a:ext cx="2487168" cy="2980944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.3535046848203775e+33" dist="7.444275766512077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9272" y="1700784"/>
            <a:ext cx="2487168" cy="502920"/>
          </a:xfrm>
          <a:prstGeom prst="roundRect">
            <a:avLst>
              <a:gd name="adj" fmla="val 23636"/>
            </a:avLst>
          </a:prstGeom>
          <a:solidFill>
            <a:srgbClr val="FFF2D9"/>
          </a:solidFill>
          <a:ln w="11430">
            <a:solidFill>
              <a:srgbClr val="B86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8196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Source evidence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3502152" y="2478024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24140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Config-bound table and column scope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3502152" y="2971800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290779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missingness and distributions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3502152" y="3465576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3401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/ delivery drift detection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3502152" y="3959352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38953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semantic mapping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5843016" y="3182112"/>
            <a:ext cx="36576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25312" y="1700784"/>
            <a:ext cx="2487168" cy="2980944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.7189509497218795e+37" dist="9.454230223470338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1700784"/>
            <a:ext cx="2487168" cy="502920"/>
          </a:xfrm>
          <a:prstGeom prst="roundRect">
            <a:avLst>
              <a:gd name="adj" fmla="val 23636"/>
            </a:avLst>
          </a:prstGeom>
          <a:solidFill>
            <a:srgbClr val="E8F6F1"/>
          </a:solidFill>
          <a:ln w="11430">
            <a:solidFill>
              <a:srgbClr val="168A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18196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Shared build + QC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108192" y="2478024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4140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tumour-agnostic PySpark engine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6108192" y="2971800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290779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twin for independent parity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6108192" y="3465576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401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/ product / reconciliation checks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6108192" y="3959352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38953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and conformance tests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8449056" y="3182112"/>
            <a:ext cx="36576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531352" y="1700784"/>
            <a:ext cx="2953512" cy="2980944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2.183067706146787e+41" dist="1.2006872383807329e+41" dir="2.72097792e+49">
              <a:srgbClr val="000000">
                <a:alpha val="1.2e+49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31352" y="1700784"/>
            <a:ext cx="2953512" cy="502920"/>
          </a:xfrm>
          <a:prstGeom prst="roundRect">
            <a:avLst>
              <a:gd name="adj" fmla="val 23636"/>
            </a:avLst>
          </a:prstGeom>
          <a:solidFill>
            <a:srgbClr val="F0ECFF"/>
          </a:solidFill>
          <a:ln w="11430">
            <a:solidFill>
              <a:srgbClr val="6755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77656" y="1819656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Controlled release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8714232" y="2478024"/>
            <a:ext cx="91440" cy="91440"/>
          </a:xfrm>
          <a:prstGeom prst="ellipse">
            <a:avLst/>
          </a:prstGeom>
          <a:solidFill>
            <a:srgbClr val="6755B5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78824" y="24140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first; never publish directly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8714232" y="2971800"/>
            <a:ext cx="91440" cy="91440"/>
          </a:xfrm>
          <a:prstGeom prst="ellipse">
            <a:avLst/>
          </a:prstGeom>
          <a:solidFill>
            <a:srgbClr val="6755B5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78824" y="2907792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pins spec, config and code</a:t>
            </a:r>
            <a:endParaRPr lang="en-US" sz="1010" dirty="0"/>
          </a:p>
        </p:txBody>
      </p:sp>
      <p:sp>
        <p:nvSpPr>
          <p:cNvPr id="50" name="Shape 48"/>
          <p:cNvSpPr/>
          <p:nvPr/>
        </p:nvSpPr>
        <p:spPr>
          <a:xfrm>
            <a:off x="8714232" y="3465576"/>
            <a:ext cx="91440" cy="91440"/>
          </a:xfrm>
          <a:prstGeom prst="ellipse">
            <a:avLst/>
          </a:prstGeom>
          <a:solidFill>
            <a:srgbClr val="6755B5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78824" y="3401568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names build ID + digest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8714232" y="3959352"/>
            <a:ext cx="91440" cy="91440"/>
          </a:xfrm>
          <a:prstGeom prst="ellipse">
            <a:avLst/>
          </a:prstGeom>
          <a:solidFill>
            <a:srgbClr val="6755B5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78824" y="389534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publishes the approved bytes</a:t>
            </a:r>
            <a:endParaRPr lang="en-US" sz="1010" dirty="0"/>
          </a:p>
        </p:txBody>
      </p:sp>
      <p:sp>
        <p:nvSpPr>
          <p:cNvPr id="54" name="Shape 52"/>
          <p:cNvSpPr/>
          <p:nvPr/>
        </p:nvSpPr>
        <p:spPr>
          <a:xfrm>
            <a:off x="713232" y="4919472"/>
            <a:ext cx="80924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2.7724959868064195e+45" dist="1.524872792743530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50392" y="5074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300" dirty="0"/>
          </a:p>
        </p:txBody>
      </p:sp>
      <p:sp>
        <p:nvSpPr>
          <p:cNvPr id="56" name="Text 54"/>
          <p:cNvSpPr/>
          <p:nvPr/>
        </p:nvSpPr>
        <p:spPr>
          <a:xfrm>
            <a:off x="850392" y="5431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gates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2404872" y="5074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2300" dirty="0"/>
          </a:p>
        </p:txBody>
      </p:sp>
      <p:sp>
        <p:nvSpPr>
          <p:cNvPr id="58" name="Text 56"/>
          <p:cNvSpPr/>
          <p:nvPr/>
        </p:nvSpPr>
        <p:spPr>
          <a:xfrm>
            <a:off x="2404872" y="5431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capabilities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3959352" y="5074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3959352" y="5431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unit-tested capabilities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5513832" y="5074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513832" y="5431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component parity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7068312" y="5074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7068312" y="54315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records in reference fixture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932688" y="5760720"/>
            <a:ext cx="7589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describe repository evidence and maturity states—not production validation.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015984" y="4919472"/>
            <a:ext cx="2468880" cy="960120"/>
          </a:xfrm>
          <a:prstGeom prst="roundRect">
            <a:avLst>
              <a:gd name="adj" fmla="val 12381"/>
            </a:avLst>
          </a:prstGeom>
          <a:solidFill>
            <a:srgbClr val="FFF2D9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17152" y="504748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TODAY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89720" y="528523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prototype on non-approved fixtures</a:t>
            </a:r>
            <a:endParaRPr lang="en-US" sz="1120" dirty="0"/>
          </a:p>
        </p:txBody>
      </p:sp>
      <p:sp>
        <p:nvSpPr>
          <p:cNvPr id="69" name="Text 67"/>
          <p:cNvSpPr/>
          <p:nvPr/>
        </p:nvSpPr>
        <p:spPr>
          <a:xfrm>
            <a:off x="9208008" y="562356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proof point: first authenticated live-data product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5603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OPERATING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3232" y="521208"/>
            <a:ext cx="10287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accelerates the work; it never becomes the authority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713232" y="12252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implementation uses explicit, user-invoked skills to draft and compare. Deterministic tools own writes; accountable people make semantic and release decisions.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10561320" y="237744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0160">
            <a:solidFill>
              <a:srgbClr val="B86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24688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9756648" y="237744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6648" y="2468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10771632" cy="365760"/>
          </a:xfrm>
          <a:prstGeom prst="roundRect">
            <a:avLst>
              <a:gd name="adj" fmla="val 30000"/>
            </a:avLst>
          </a:prstGeom>
          <a:solidFill>
            <a:srgbClr val="1D2735"/>
          </a:solidFill>
          <a:ln w="12700">
            <a:solidFill>
              <a:srgbClr val="1D27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46504"/>
            <a:ext cx="10405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INVOCATION · NO AUTONOMOUS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267712"/>
            <a:ext cx="2057400" cy="877824"/>
          </a:xfrm>
          <a:prstGeom prst="roundRect">
            <a:avLst>
              <a:gd name="adj" fmla="val 13542"/>
            </a:avLst>
          </a:prstGeom>
          <a:solidFill>
            <a:srgbClr val="E8F6F1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1401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22960" y="266090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task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825496" y="2706624"/>
            <a:ext cx="164592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2267712"/>
            <a:ext cx="2743200" cy="877824"/>
          </a:xfrm>
          <a:prstGeom prst="roundRect">
            <a:avLst>
              <a:gd name="adj" fmla="val 13542"/>
            </a:avLst>
          </a:prstGeom>
          <a:solidFill>
            <a:srgbClr val="EAF3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4140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SKILL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3172968" y="266090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drafts · compares · orchestrates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861304" y="2706624"/>
            <a:ext cx="173736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267712"/>
            <a:ext cx="2624328" cy="877824"/>
          </a:xfrm>
          <a:prstGeom prst="roundRect">
            <a:avLst>
              <a:gd name="adj" fmla="val 13542"/>
            </a:avLst>
          </a:prstGeom>
          <a:solidFill>
            <a:srgbClr val="F0ECFF"/>
          </a:solidFill>
          <a:ln w="12700">
            <a:solidFill>
              <a:srgbClr val="6755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1401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TOOL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217920" y="266090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and owns writes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787384" y="2706624"/>
            <a:ext cx="164592" cy="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25128" y="2267712"/>
            <a:ext cx="2459736" cy="877824"/>
          </a:xfrm>
          <a:prstGeom prst="roundRect">
            <a:avLst>
              <a:gd name="adj" fmla="val 13542"/>
            </a:avLst>
          </a:prstGeom>
          <a:solidFill>
            <a:srgbClr val="E8F6F1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24140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9134856" y="2660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· rules · signs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841248" y="334670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explicit skills today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2139696" y="3300984"/>
            <a:ext cx="105156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9696" y="3310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contract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273552" y="3300984"/>
            <a:ext cx="1115568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3101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decisions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471416" y="3300984"/>
            <a:ext cx="1078992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1416" y="33101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mapping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632704" y="3300984"/>
            <a:ext cx="1060704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31012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naming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775704" y="3300984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verdicts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863840" y="3300984"/>
            <a:ext cx="749808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3310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cut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695944" y="3300984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95944" y="3310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product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13232" y="380390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KNOWLEDGE LAYER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13232" y="4096512"/>
            <a:ext cx="3090672" cy="1133856"/>
          </a:xfrm>
          <a:prstGeom prst="roundRect">
            <a:avLst>
              <a:gd name="adj" fmla="val 1048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3.5210699032441527e+49" dist="1.936588446784284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4270248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427939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1847088" y="4270248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7088" y="427939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PRECEDENTS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2843784" y="4270248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43784" y="427939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59536" y="4718304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472744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1847088" y="4718304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47088" y="472744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2843784" y="4718304"/>
            <a:ext cx="83210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472744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905256" y="5029200"/>
            <a:ext cx="2715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search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858768" y="4654296"/>
            <a:ext cx="402336" cy="0"/>
          </a:xfrm>
          <a:prstGeom prst="line">
            <a:avLst/>
          </a:prstGeom>
          <a:noFill/>
          <a:ln w="2159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315968" y="4096512"/>
            <a:ext cx="2148840" cy="1133856"/>
          </a:xfrm>
          <a:prstGeom prst="roundRect">
            <a:avLst>
              <a:gd name="adj" fmla="val 10484"/>
            </a:avLst>
          </a:prstGeom>
          <a:solidFill>
            <a:srgbClr val="FFF2D9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71416" y="4306824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BINDING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443984" y="4919472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UMLS · mCODE · local modules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6519672" y="4654296"/>
            <a:ext cx="356616" cy="0"/>
          </a:xfrm>
          <a:prstGeom prst="line">
            <a:avLst/>
          </a:prstGeom>
          <a:noFill/>
          <a:ln w="2159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40296" y="4096512"/>
            <a:ext cx="1700784" cy="1133856"/>
          </a:xfrm>
          <a:prstGeom prst="roundRect">
            <a:avLst>
              <a:gd name="adj" fmla="val 10484"/>
            </a:avLst>
          </a:prstGeom>
          <a:solidFill>
            <a:srgbClr val="E8F6F1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439826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RULING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695944" y="4654296"/>
            <a:ext cx="338328" cy="0"/>
          </a:xfrm>
          <a:prstGeom prst="line">
            <a:avLst/>
          </a:prstGeom>
          <a:noFill/>
          <a:ln w="2159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089136" y="4096512"/>
            <a:ext cx="1417320" cy="1133856"/>
          </a:xfrm>
          <a:prstGeom prst="roundRect">
            <a:avLst>
              <a:gd name="adj" fmla="val 10484"/>
            </a:avLst>
          </a:prstGeom>
          <a:solidFill>
            <a:srgbClr val="EAF3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26296" y="438912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0689336" y="4096512"/>
            <a:ext cx="795528" cy="1133856"/>
          </a:xfrm>
          <a:prstGeom prst="roundRect">
            <a:avLst>
              <a:gd name="adj" fmla="val 14943"/>
            </a:avLst>
          </a:prstGeom>
          <a:solidFill>
            <a:srgbClr val="1D2735"/>
          </a:solidFill>
          <a:ln w="12700">
            <a:solidFill>
              <a:srgbClr val="1D27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53344" y="4325112"/>
            <a:ext cx="667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13232" y="5468112"/>
            <a:ext cx="7836408" cy="566928"/>
          </a:xfrm>
          <a:prstGeom prst="roundRect">
            <a:avLst>
              <a:gd name="adj" fmla="val 19355"/>
            </a:avLst>
          </a:prstGeom>
          <a:solidFill>
            <a:srgbClr val="FDECEE"/>
          </a:solidFill>
          <a:ln w="12700">
            <a:solidFill>
              <a:srgbClr val="D95E6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3544" y="5596128"/>
            <a:ext cx="7406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23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human ruling matters: TSST matched 'Trier Social Stress Test' rather than 'time to second subsequent therapy'.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759952" y="5468112"/>
            <a:ext cx="2724912" cy="566928"/>
          </a:xfrm>
          <a:prstGeom prst="roundRect">
            <a:avLst>
              <a:gd name="adj" fmla="val 19355"/>
            </a:avLst>
          </a:prstGeom>
          <a:solidFill>
            <a:srgbClr val="1D2735"/>
          </a:solidFill>
          <a:ln w="12700">
            <a:solidFill>
              <a:srgbClr val="1D27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15400" y="556869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restricted data · NO AI-written approvals</a:t>
            </a:r>
            <a:endParaRPr lang="en-US" sz="890" dirty="0"/>
          </a:p>
        </p:txBody>
      </p:sp>
      <p:sp>
        <p:nvSpPr>
          <p:cNvPr id="72" name="Text 70"/>
          <p:cNvSpPr/>
          <p:nvPr/>
        </p:nvSpPr>
        <p:spPr>
          <a:xfrm>
            <a:off x="7955280" y="6144768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implementation: Claude Code skills; operating model is model-neutral.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5603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3232" y="521208"/>
            <a:ext cx="10287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reuse in stages—without weakening the approval standard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713232" y="12252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should earn reuse from completed projects, then compose future project packs from proven assets by reference rather than copy-and-paste.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10652760" y="237744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E8F6F1"/>
          </a:solidFill>
          <a:ln w="10160">
            <a:solidFill>
              <a:srgbClr val="168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0" y="24688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9774936" y="237744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0160">
            <a:solidFill>
              <a:srgbClr val="B86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4936" y="24688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8970264" y="237744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0264" y="2468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6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13232" y="1719072"/>
            <a:ext cx="3255264" cy="341071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4.471758777120074e+53" dist="2.4594673274160405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920240"/>
            <a:ext cx="393192" cy="393192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38528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26464" y="188366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SPINE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914400" y="2450592"/>
            <a:ext cx="2852928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59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→ FIRST LIVE PRODUCT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50976" y="2953512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88950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up one approved product pack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50976" y="3401568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337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source evidence to a delivered data cut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50976" y="3849624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7856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staged build, QC and authenticated release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50976" y="4297680"/>
            <a:ext cx="91440" cy="914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2336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operating roles and signatures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14400" y="4636008"/>
            <a:ext cx="2852928" cy="347472"/>
          </a:xfrm>
          <a:prstGeom prst="roundRect">
            <a:avLst>
              <a:gd name="adj" fmla="val 26316"/>
            </a:avLst>
          </a:prstGeom>
          <a:solidFill>
            <a:srgbClr val="EAF3FF"/>
          </a:solidFill>
          <a:ln w="10160">
            <a:solidFill>
              <a:srgbClr val="2D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end-to-end control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14216" y="3383280"/>
            <a:ext cx="91440" cy="0"/>
          </a:xfrm>
          <a:prstGeom prst="line">
            <a:avLst/>
          </a:prstGeom>
          <a:noFill/>
          <a:ln w="2286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78808" y="1719072"/>
            <a:ext cx="3255264" cy="341071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5.679133646942494e+57" dist="3.1235235058183716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79976" y="1920240"/>
            <a:ext cx="393192" cy="393192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9976" y="1938528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188366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HARVEST REUSE</a:t>
            </a:r>
            <a:endParaRPr lang="en-US" sz="1330" dirty="0"/>
          </a:p>
        </p:txBody>
      </p:sp>
      <p:sp>
        <p:nvSpPr>
          <p:cNvPr id="32" name="Shape 30"/>
          <p:cNvSpPr/>
          <p:nvPr/>
        </p:nvSpPr>
        <p:spPr>
          <a:xfrm>
            <a:off x="4379976" y="2450592"/>
            <a:ext cx="2852928" cy="256032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0160">
            <a:solidFill>
              <a:srgbClr val="B86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9976" y="2459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3–5 PROJECTS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16552" y="2953512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288950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proven YAML and codelist patterns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416552" y="3401568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37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signed decisions and semantic bindings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416552" y="3849624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1144" y="378561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validated R modules by reference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416552" y="4297680"/>
            <a:ext cx="91440" cy="91440"/>
          </a:xfrm>
          <a:prstGeom prst="ellipse">
            <a:avLst/>
          </a:prstGeom>
          <a:solidFill>
            <a:srgbClr val="B86800"/>
          </a:solidFill>
          <a:ln w="12700">
            <a:solidFill>
              <a:srgbClr val="B86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81144" y="42336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reuse, adaptation and exceptions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379976" y="4636008"/>
            <a:ext cx="2852928" cy="347472"/>
          </a:xfrm>
          <a:prstGeom prst="roundRect">
            <a:avLst>
              <a:gd name="adj" fmla="val 26316"/>
            </a:avLst>
          </a:prstGeom>
          <a:solidFill>
            <a:srgbClr val="FFF2D9"/>
          </a:solidFill>
          <a:ln w="10160">
            <a:solidFill>
              <a:srgbClr val="B86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rework and drift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79792" y="3383280"/>
            <a:ext cx="91440" cy="0"/>
          </a:xfrm>
          <a:prstGeom prst="line">
            <a:avLst/>
          </a:prstGeom>
          <a:noFill/>
          <a:ln w="22860">
            <a:solidFill>
              <a:srgbClr val="AAB4C3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644384" y="1719072"/>
            <a:ext cx="3840480" cy="3410712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7.212499731616968e+61" dist="3.966874852389332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845552" y="1920240"/>
            <a:ext cx="393192" cy="393192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1938528"/>
            <a:ext cx="393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357616" y="188366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&amp; SCALE</a:t>
            </a:r>
            <a:endParaRPr lang="en-US" sz="1330" dirty="0"/>
          </a:p>
        </p:txBody>
      </p:sp>
      <p:sp>
        <p:nvSpPr>
          <p:cNvPr id="49" name="Shape 47"/>
          <p:cNvSpPr/>
          <p:nvPr/>
        </p:nvSpPr>
        <p:spPr>
          <a:xfrm>
            <a:off x="7845552" y="2450592"/>
            <a:ext cx="3438144" cy="256032"/>
          </a:xfrm>
          <a:prstGeom prst="roundRect">
            <a:avLst>
              <a:gd name="adj" fmla="val 50000"/>
            </a:avLst>
          </a:prstGeom>
          <a:solidFill>
            <a:srgbClr val="E8F6F1"/>
          </a:solidFill>
          <a:ln w="10160">
            <a:solidFill>
              <a:srgbClr val="168A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5552" y="24597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82128" y="2953512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composer selects objective, indication and source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7882128" y="3401568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3337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Imports approved assets by reference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7882128" y="3849624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3785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tested PySpark / R / source or CDM adapters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7882128" y="4297680"/>
            <a:ext cx="91440" cy="91440"/>
          </a:xfrm>
          <a:prstGeom prst="ellipse">
            <a:avLst/>
          </a:prstGeom>
          <a:solidFill>
            <a:srgbClr val="168A68"/>
          </a:solidFill>
          <a:ln w="12700">
            <a:solidFill>
              <a:srgbClr val="168A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42336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8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a governed project pack for review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7845552" y="4636008"/>
            <a:ext cx="3438144" cy="347472"/>
          </a:xfrm>
          <a:prstGeom prst="roundRect">
            <a:avLst>
              <a:gd name="adj" fmla="val 26316"/>
            </a:avLst>
          </a:prstGeom>
          <a:solidFill>
            <a:srgbClr val="E8F6F1"/>
          </a:solidFill>
          <a:ln w="10160">
            <a:solidFill>
              <a:srgbClr val="168A6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0416" y="470916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multi-tumour delivery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13232" y="53858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ASSETS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1929384" y="5330952"/>
            <a:ext cx="1051560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29384" y="53400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 patterns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3063240" y="5330952"/>
            <a:ext cx="841248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63240" y="53400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Codelists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3995928" y="5330952"/>
            <a:ext cx="1307592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95928" y="534009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+ bindings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5394960" y="5330952"/>
            <a:ext cx="1069848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534009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decisions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6556248" y="5330952"/>
            <a:ext cx="1197864" cy="274320"/>
          </a:xfrm>
          <a:prstGeom prst="roundRect">
            <a:avLst>
              <a:gd name="adj" fmla="val 46667"/>
            </a:avLst>
          </a:prstGeom>
          <a:solidFill>
            <a:srgbClr val="F0ECFF"/>
          </a:solidFill>
          <a:ln w="10160">
            <a:solidFill>
              <a:srgbClr val="BBAF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56248" y="534009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5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modules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7900416" y="5468112"/>
            <a:ext cx="374904" cy="0"/>
          </a:xfrm>
          <a:prstGeom prst="line">
            <a:avLst/>
          </a:prstGeom>
          <a:noFill/>
          <a:ln w="22860">
            <a:solidFill>
              <a:srgbClr val="168A68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339328" y="5330952"/>
            <a:ext cx="1527048" cy="274320"/>
          </a:xfrm>
          <a:prstGeom prst="roundRect">
            <a:avLst>
              <a:gd name="adj" fmla="val 46667"/>
            </a:avLst>
          </a:prstGeom>
          <a:solidFill>
            <a:srgbClr val="1D2735"/>
          </a:solidFill>
          <a:ln w="10160">
            <a:solidFill>
              <a:srgbClr val="1D27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39328" y="534009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COMPOSER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921240" y="5468112"/>
            <a:ext cx="320040" cy="0"/>
          </a:xfrm>
          <a:prstGeom prst="line">
            <a:avLst/>
          </a:prstGeom>
          <a:noFill/>
          <a:ln w="22860">
            <a:solidFill>
              <a:srgbClr val="168A68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0296144" y="5330952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8F6F1"/>
          </a:solidFill>
          <a:ln w="10160">
            <a:solidFill>
              <a:srgbClr val="168A6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96144" y="5340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6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PROJECT PACK</a:t>
            </a:r>
            <a:endParaRPr lang="en-US" sz="710" dirty="0"/>
          </a:p>
        </p:txBody>
      </p:sp>
      <p:sp>
        <p:nvSpPr>
          <p:cNvPr id="78" name="Shape 76"/>
          <p:cNvSpPr/>
          <p:nvPr/>
        </p:nvSpPr>
        <p:spPr>
          <a:xfrm>
            <a:off x="713232" y="5788152"/>
            <a:ext cx="10771632" cy="429768"/>
          </a:xfrm>
          <a:prstGeom prst="roundRect">
            <a:avLst>
              <a:gd name="adj" fmla="val 25532"/>
            </a:avLst>
          </a:prstGeom>
          <a:solidFill>
            <a:srgbClr val="1D2735"/>
          </a:solidFill>
          <a:ln w="12700">
            <a:solidFill>
              <a:srgbClr val="1D273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2688" y="589788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CHANGES THE STARTING POINT—NOT WHO DECIDES, WHAT IS VALIDATED, OR WHICH BYTES ARE RELEASED.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457200"/>
            <a:ext cx="310896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GSK Real World Evidence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RWD Delivery — LT Review</dc:title>
  <dc:subject>Governed RWD Delivery Workflow</dc:subject>
  <dc:creator>OpenAI</dc:creator>
  <cp:lastModifiedBy>OpenAI</cp:lastModifiedBy>
  <cp:revision>1</cp:revision>
  <dcterms:created xsi:type="dcterms:W3CDTF">2026-08-31T13:19:39Z</dcterms:created>
  <dcterms:modified xsi:type="dcterms:W3CDTF">2026-08-31T13:19:39Z</dcterms:modified>
</cp:coreProperties>
</file>