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32-week plan to build the components that turn what we already have into one flow for all RWD work: data products, feasibility, studies and dashboards, from protocol to checked results. W1 is the agreed kickoff, not a calendar date.</a:t>
            </a:r>
          </a:p>
          <a:p/>
          <a:p>
            <a:r>
              <a:t>Built today: the spec builder, which turns a protocol into a spec, and a library of R analysis modules. The plan builds the remaining components around them.</a:t>
            </a:r>
          </a:p>
          <a:p/>
          <a:p>
            <a:r>
              <a:t>A (scientific intent, definitions and data readiness): the researcher portal around the spec builder, a library of versioned, machine-readable functional contracts (format decided at W4), clinical definitions, and mapping to OMOP and existing datasets. B (analytical execution and evidence outputs): the analysis dataset builder, the analysis toolkit built on our R modules, tables and figures, and dashboards. C (independent assurance and operational readiness): independent testing and release, and the pilot and handover.</a:t>
            </a:r>
          </a:p>
          <a:p/>
          <a:p>
            <a:r>
              <a:t>AI is embedded in every deliverable rather than run as a separate workstream. Its role in each: drafting specifications from protocols, generating contract drafts, recommending concept sets, proposing source mappings, generating derivation and analysis code, drafting results narratives, flagging data-quality anomalies, performing independent critic checks during testing, and drafting SOPs and user guidance. Every AI output is reviewed and approved by a person before it is used.</a:t>
            </a:r>
          </a:p>
          <a:p/>
          <a:p>
            <a:r>
              <a:t>How to read it: each bar shows when that deliverable is built. Contracts and the portal start at W5; definitions, mapping and the ADS builder from W9 as OMOP and the clinical layer land; analysis, outputs and dashboards from W13. Everything is built by the W20 freeze, independent testing runs W13–24, and pilot and handover run W25–32.</a:t>
            </a:r>
          </a:p>
          <a:p/>
          <a:p>
            <a:r>
              <a:t>Dependencies: the OMOP CDM migration, the clinical definitions layer, R enabled on Databricks, the AI ideation review, and hosting and publishing.</a:t>
            </a:r>
          </a:p>
          <a:p/>
          <a:p>
            <a:r>
              <a:t>Checkpoints: W4 plan agreed. W20 build complete. W24 ready for pilot. W28 go-live, which is a decision, not a date. W32 handover. Each one is signed off before we move on.</a:t>
            </a:r>
          </a:p>
          <a:p/>
          <a:p>
            <a:r>
              <a:t>Resourcing: indicatively three to four engineers plus protected scientific, method and QC time, confirmed at the investment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oC template element 2 / 2"/>
          <p:cNvSpPr/>
          <p:nvPr/>
        </p:nvSpPr>
        <p:spPr>
          <a:xfrm>
            <a:off x="0" y="0"/>
            <a:ext cx="18288000" cy="50292"/>
          </a:xfrm>
          <a:prstGeom prst="rect">
            <a:avLst/>
          </a:prstGeom>
          <a:solidFill>
            <a:srgbClr val="D9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oC template element 3 / 3"/>
          <p:cNvSpPr txBox="1"/>
          <p:nvPr/>
        </p:nvSpPr>
        <p:spPr>
          <a:xfrm>
            <a:off x="438912" y="365760"/>
            <a:ext cx="12801600" cy="210312"/>
          </a:xfrm>
          <a:prstGeom prst="rect">
            <a:avLst/>
          </a:prstGeom>
          <a:noFill/>
          <a:effectLst/>
        </p:spPr>
        <p:txBody>
          <a:bodyPr wrap="square" tIns="0" bIns="0" lIns="0" r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5400"/>
                </a:solidFill>
                <a:latin typeface="Aptos"/>
              </a:rPr>
              <a:t>RWDPLATFORM  /  GOVERNED ANALYTICS DELIVERY</a:t>
            </a:r>
          </a:p>
        </p:txBody>
      </p:sp>
      <p:sp>
        <p:nvSpPr>
          <p:cNvPr id="4" name="PoC template element 4 / 4"/>
          <p:cNvSpPr txBox="1"/>
          <p:nvPr/>
        </p:nvSpPr>
        <p:spPr>
          <a:xfrm>
            <a:off x="438912" y="694944"/>
            <a:ext cx="15270480" cy="438912"/>
          </a:xfrm>
          <a:prstGeom prst="rect">
            <a:avLst/>
          </a:prstGeom>
          <a:noFill/>
          <a:effectLst/>
        </p:spPr>
        <p:txBody>
          <a:bodyPr wrap="square" tIns="0" bIns="0" lIns="0" r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0" b="1">
                <a:solidFill>
                  <a:srgbClr val="D95400"/>
                </a:solidFill>
                <a:latin typeface="Aptos"/>
              </a:rPr>
              <a:t>Product | Implement the full RWD analytics workflow</a:t>
            </a:r>
          </a:p>
        </p:txBody>
      </p:sp>
      <p:sp>
        <p:nvSpPr>
          <p:cNvPr id="5" name="PoC template element 5 / 5"/>
          <p:cNvSpPr/>
          <p:nvPr/>
        </p:nvSpPr>
        <p:spPr>
          <a:xfrm>
            <a:off x="15563088" y="621792"/>
            <a:ext cx="2276856" cy="457200"/>
          </a:xfrm>
          <a:prstGeom prst="roundRect">
            <a:avLst>
              <a:gd name="adj" fmla="val 10000"/>
            </a:avLst>
          </a:prstGeom>
          <a:solidFill>
            <a:srgbClr val="FF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oC template element 6 / 6"/>
          <p:cNvSpPr txBox="1"/>
          <p:nvPr/>
        </p:nvSpPr>
        <p:spPr>
          <a:xfrm>
            <a:off x="15681959" y="685800"/>
            <a:ext cx="2039112" cy="27432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717"/>
                </a:solidFill>
                <a:latin typeface="Aptos"/>
              </a:rPr>
              <a:t>02 / Product · W1–32</a:t>
            </a:r>
          </a:p>
        </p:txBody>
      </p:sp>
      <p:sp>
        <p:nvSpPr>
          <p:cNvPr id="7" name="PoC template element 7 / 7"/>
          <p:cNvSpPr txBox="1"/>
          <p:nvPr/>
        </p:nvSpPr>
        <p:spPr>
          <a:xfrm>
            <a:off x="438912" y="1170431"/>
            <a:ext cx="17373600" cy="246888"/>
          </a:xfrm>
          <a:prstGeom prst="rect">
            <a:avLst/>
          </a:prstGeom>
          <a:noFill/>
          <a:effectLst/>
        </p:spPr>
        <p:txBody>
          <a:bodyPr wrap="square" tIns="0" bIns="0" lIns="0" r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Aptos"/>
              </a:rPr>
              <a:t>A single governed workflow for all RWD work (data products, feasibility, studies and dashboards), from protocol to validated results.</a:t>
            </a:r>
          </a:p>
        </p:txBody>
      </p:sp>
      <p:sp>
        <p:nvSpPr>
          <p:cNvPr id="11" name="PoC template element 11 / 11"/>
          <p:cNvSpPr txBox="1"/>
          <p:nvPr/>
        </p:nvSpPr>
        <p:spPr>
          <a:xfrm>
            <a:off x="521207" y="2660903"/>
            <a:ext cx="7315200" cy="182880"/>
          </a:xfrm>
          <a:prstGeom prst="rect">
            <a:avLst/>
          </a:prstGeom>
          <a:noFill/>
          <a:effectLst/>
        </p:spPr>
        <p:txBody>
          <a:bodyPr wrap="square" tIns="0" bIns="0" lIns="0" r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D95400"/>
                </a:solidFill>
                <a:latin typeface="Aptos"/>
              </a:rPr>
              <a:t>DELIVERABLE</a:t>
            </a:r>
          </a:p>
        </p:txBody>
      </p:sp>
      <p:sp>
        <p:nvSpPr>
          <p:cNvPr id="13" name="PoC template element 14 / 13"/>
          <p:cNvSpPr/>
          <p:nvPr/>
        </p:nvSpPr>
        <p:spPr>
          <a:xfrm>
            <a:off x="8113471" y="2606039"/>
            <a:ext cx="2408529" cy="214884"/>
          </a:xfrm>
          <a:prstGeom prst="roundRect">
            <a:avLst>
              <a:gd name="adj" fmla="val 1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oC template element 15 / 14"/>
          <p:cNvSpPr txBox="1"/>
          <p:nvPr/>
        </p:nvSpPr>
        <p:spPr>
          <a:xfrm>
            <a:off x="8122615" y="2620670"/>
            <a:ext cx="2390241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2B2B2B"/>
                </a:solidFill>
                <a:latin typeface="Aptos"/>
              </a:rPr>
              <a:t>PLAN + FOUNDATIONS</a:t>
            </a:r>
          </a:p>
        </p:txBody>
      </p:sp>
      <p:sp>
        <p:nvSpPr>
          <p:cNvPr id="15" name="PoC template element 14 / 15"/>
          <p:cNvSpPr/>
          <p:nvPr/>
        </p:nvSpPr>
        <p:spPr>
          <a:xfrm>
            <a:off x="10545775" y="2606039"/>
            <a:ext cx="2408529" cy="214884"/>
          </a:xfrm>
          <a:prstGeom prst="roundRect">
            <a:avLst>
              <a:gd name="adj" fmla="val 1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oC template element 15 / 16"/>
          <p:cNvSpPr txBox="1"/>
          <p:nvPr/>
        </p:nvSpPr>
        <p:spPr>
          <a:xfrm>
            <a:off x="10554919" y="2620670"/>
            <a:ext cx="2390241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2B2B2B"/>
                </a:solidFill>
                <a:latin typeface="Aptos"/>
              </a:rPr>
              <a:t>BUILD + ANALYSIS</a:t>
            </a:r>
          </a:p>
        </p:txBody>
      </p:sp>
      <p:sp>
        <p:nvSpPr>
          <p:cNvPr id="17" name="PoC template element 14 / 17"/>
          <p:cNvSpPr/>
          <p:nvPr/>
        </p:nvSpPr>
        <p:spPr>
          <a:xfrm>
            <a:off x="12978079" y="2606039"/>
            <a:ext cx="2408529" cy="214884"/>
          </a:xfrm>
          <a:prstGeom prst="roundRect">
            <a:avLst>
              <a:gd name="adj" fmla="val 1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oC template element 15 / 18"/>
          <p:cNvSpPr txBox="1"/>
          <p:nvPr/>
        </p:nvSpPr>
        <p:spPr>
          <a:xfrm>
            <a:off x="12987223" y="2620670"/>
            <a:ext cx="2390241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2B2B2B"/>
                </a:solidFill>
                <a:latin typeface="Aptos"/>
              </a:rPr>
              <a:t>INTEGRATE + TEST</a:t>
            </a:r>
          </a:p>
        </p:txBody>
      </p:sp>
      <p:sp>
        <p:nvSpPr>
          <p:cNvPr id="19" name="PoC template element 14 / 19"/>
          <p:cNvSpPr/>
          <p:nvPr/>
        </p:nvSpPr>
        <p:spPr>
          <a:xfrm>
            <a:off x="15410383" y="2606039"/>
            <a:ext cx="2408529" cy="214884"/>
          </a:xfrm>
          <a:prstGeom prst="roundRect">
            <a:avLst>
              <a:gd name="adj" fmla="val 1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oC template element 15 / 20"/>
          <p:cNvSpPr txBox="1"/>
          <p:nvPr/>
        </p:nvSpPr>
        <p:spPr>
          <a:xfrm>
            <a:off x="15419527" y="2620670"/>
            <a:ext cx="2390241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2B2B2B"/>
                </a:solidFill>
                <a:latin typeface="Aptos"/>
              </a:rPr>
              <a:t>PILOT + HANDOVER</a:t>
            </a:r>
          </a:p>
        </p:txBody>
      </p:sp>
      <p:sp>
        <p:nvSpPr>
          <p:cNvPr id="23" name="PoC template element 20 / 23"/>
          <p:cNvSpPr txBox="1"/>
          <p:nvPr/>
        </p:nvSpPr>
        <p:spPr>
          <a:xfrm>
            <a:off x="8101582" y="2862072"/>
            <a:ext cx="1216152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Aptos"/>
              </a:rPr>
              <a:t>W1–4</a:t>
            </a:r>
          </a:p>
        </p:txBody>
      </p:sp>
      <p:sp>
        <p:nvSpPr>
          <p:cNvPr id="24" name="PoC template element 20 / 24"/>
          <p:cNvSpPr txBox="1"/>
          <p:nvPr/>
        </p:nvSpPr>
        <p:spPr>
          <a:xfrm>
            <a:off x="9317736" y="2862072"/>
            <a:ext cx="1216152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Aptos"/>
              </a:rPr>
              <a:t>W5–8</a:t>
            </a:r>
          </a:p>
        </p:txBody>
      </p:sp>
      <p:sp>
        <p:nvSpPr>
          <p:cNvPr id="25" name="PoC template element 20 / 25"/>
          <p:cNvSpPr txBox="1"/>
          <p:nvPr/>
        </p:nvSpPr>
        <p:spPr>
          <a:xfrm>
            <a:off x="10533888" y="2862072"/>
            <a:ext cx="1216152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Aptos"/>
              </a:rPr>
              <a:t>W9–12</a:t>
            </a:r>
          </a:p>
        </p:txBody>
      </p:sp>
      <p:sp>
        <p:nvSpPr>
          <p:cNvPr id="26" name="PoC template element 20 / 26"/>
          <p:cNvSpPr txBox="1"/>
          <p:nvPr/>
        </p:nvSpPr>
        <p:spPr>
          <a:xfrm>
            <a:off x="11750040" y="2862072"/>
            <a:ext cx="1216152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Aptos"/>
              </a:rPr>
              <a:t>W13–16</a:t>
            </a:r>
          </a:p>
        </p:txBody>
      </p:sp>
      <p:sp>
        <p:nvSpPr>
          <p:cNvPr id="27" name="PoC template element 20 / 27"/>
          <p:cNvSpPr txBox="1"/>
          <p:nvPr/>
        </p:nvSpPr>
        <p:spPr>
          <a:xfrm>
            <a:off x="12966192" y="2862072"/>
            <a:ext cx="1216152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Aptos"/>
              </a:rPr>
              <a:t>W17–20</a:t>
            </a:r>
          </a:p>
        </p:txBody>
      </p:sp>
      <p:sp>
        <p:nvSpPr>
          <p:cNvPr id="28" name="PoC template element 20 / 28"/>
          <p:cNvSpPr txBox="1"/>
          <p:nvPr/>
        </p:nvSpPr>
        <p:spPr>
          <a:xfrm>
            <a:off x="14182344" y="2862072"/>
            <a:ext cx="1216152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Aptos"/>
              </a:rPr>
              <a:t>W21–24</a:t>
            </a:r>
          </a:p>
        </p:txBody>
      </p:sp>
      <p:sp>
        <p:nvSpPr>
          <p:cNvPr id="29" name="PoC template element 20 / 29"/>
          <p:cNvSpPr txBox="1"/>
          <p:nvPr/>
        </p:nvSpPr>
        <p:spPr>
          <a:xfrm>
            <a:off x="15398494" y="2862072"/>
            <a:ext cx="1216152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Aptos"/>
              </a:rPr>
              <a:t>W25–28</a:t>
            </a:r>
          </a:p>
        </p:txBody>
      </p:sp>
      <p:sp>
        <p:nvSpPr>
          <p:cNvPr id="30" name="PoC template element 20 / 30"/>
          <p:cNvSpPr txBox="1"/>
          <p:nvPr/>
        </p:nvSpPr>
        <p:spPr>
          <a:xfrm>
            <a:off x="16614648" y="2862072"/>
            <a:ext cx="1216152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1717"/>
                </a:solidFill>
                <a:latin typeface="Aptos"/>
              </a:rPr>
              <a:t>W29–32</a:t>
            </a:r>
          </a:p>
        </p:txBody>
      </p:sp>
      <p:sp>
        <p:nvSpPr>
          <p:cNvPr id="31" name="PoC template element 26 / 31"/>
          <p:cNvSpPr/>
          <p:nvPr/>
        </p:nvSpPr>
        <p:spPr>
          <a:xfrm>
            <a:off x="8101582" y="3145536"/>
            <a:ext cx="1216152" cy="59253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PoC template element 27 / 32"/>
          <p:cNvCxnSpPr/>
          <p:nvPr/>
        </p:nvCxnSpPr>
        <p:spPr>
          <a:xfrm>
            <a:off x="8101582" y="3145536"/>
            <a:ext cx="0" cy="5925312"/>
          </a:xfrm>
          <a:prstGeom prst="line">
            <a:avLst/>
          </a:prstGeom>
          <a:ln w="635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PoC template element 27 / 33"/>
          <p:cNvCxnSpPr/>
          <p:nvPr/>
        </p:nvCxnSpPr>
        <p:spPr>
          <a:xfrm>
            <a:off x="9317736" y="3145536"/>
            <a:ext cx="0" cy="5925312"/>
          </a:xfrm>
          <a:prstGeom prst="line">
            <a:avLst/>
          </a:prstGeom>
          <a:ln w="635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oC template element 26 / 34"/>
          <p:cNvSpPr/>
          <p:nvPr/>
        </p:nvSpPr>
        <p:spPr>
          <a:xfrm>
            <a:off x="10533888" y="3145536"/>
            <a:ext cx="1216152" cy="59253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PoC template element 27 / 35"/>
          <p:cNvCxnSpPr/>
          <p:nvPr/>
        </p:nvCxnSpPr>
        <p:spPr>
          <a:xfrm>
            <a:off x="10533888" y="3145536"/>
            <a:ext cx="0" cy="5925312"/>
          </a:xfrm>
          <a:prstGeom prst="line">
            <a:avLst/>
          </a:prstGeom>
          <a:ln w="635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PoC template element 27 / 36"/>
          <p:cNvCxnSpPr/>
          <p:nvPr/>
        </p:nvCxnSpPr>
        <p:spPr>
          <a:xfrm>
            <a:off x="11750040" y="3145536"/>
            <a:ext cx="0" cy="5925312"/>
          </a:xfrm>
          <a:prstGeom prst="line">
            <a:avLst/>
          </a:prstGeom>
          <a:ln w="635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PoC template element 26 / 37"/>
          <p:cNvSpPr/>
          <p:nvPr/>
        </p:nvSpPr>
        <p:spPr>
          <a:xfrm>
            <a:off x="12966192" y="3145536"/>
            <a:ext cx="1216152" cy="59253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PoC template element 27 / 38"/>
          <p:cNvCxnSpPr/>
          <p:nvPr/>
        </p:nvCxnSpPr>
        <p:spPr>
          <a:xfrm>
            <a:off x="12966192" y="3145536"/>
            <a:ext cx="0" cy="5925312"/>
          </a:xfrm>
          <a:prstGeom prst="line">
            <a:avLst/>
          </a:prstGeom>
          <a:ln w="635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oC template element 27 / 39"/>
          <p:cNvCxnSpPr/>
          <p:nvPr/>
        </p:nvCxnSpPr>
        <p:spPr>
          <a:xfrm>
            <a:off x="14182344" y="3145536"/>
            <a:ext cx="0" cy="5925312"/>
          </a:xfrm>
          <a:prstGeom prst="line">
            <a:avLst/>
          </a:prstGeom>
          <a:ln w="635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PoC template element 26 / 40"/>
          <p:cNvSpPr/>
          <p:nvPr/>
        </p:nvSpPr>
        <p:spPr>
          <a:xfrm>
            <a:off x="15398494" y="3145536"/>
            <a:ext cx="1216152" cy="592531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PoC template element 27 / 41"/>
          <p:cNvCxnSpPr/>
          <p:nvPr/>
        </p:nvCxnSpPr>
        <p:spPr>
          <a:xfrm>
            <a:off x="15398494" y="3145536"/>
            <a:ext cx="0" cy="5925312"/>
          </a:xfrm>
          <a:prstGeom prst="line">
            <a:avLst/>
          </a:prstGeom>
          <a:ln w="635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PoC template element 27 / 42"/>
          <p:cNvCxnSpPr/>
          <p:nvPr/>
        </p:nvCxnSpPr>
        <p:spPr>
          <a:xfrm>
            <a:off x="16614648" y="3145536"/>
            <a:ext cx="0" cy="5925312"/>
          </a:xfrm>
          <a:prstGeom prst="line">
            <a:avLst/>
          </a:prstGeom>
          <a:ln w="635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PoC template element 35 / 43"/>
          <p:cNvCxnSpPr/>
          <p:nvPr/>
        </p:nvCxnSpPr>
        <p:spPr>
          <a:xfrm>
            <a:off x="17830800" y="3145536"/>
            <a:ext cx="0" cy="5925312"/>
          </a:xfrm>
          <a:prstGeom prst="line">
            <a:avLst/>
          </a:prstGeom>
          <a:ln w="635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PoC template element 36 / 44"/>
          <p:cNvCxnSpPr/>
          <p:nvPr/>
        </p:nvCxnSpPr>
        <p:spPr>
          <a:xfrm>
            <a:off x="9317736" y="3145536"/>
            <a:ext cx="0" cy="5925312"/>
          </a:xfrm>
          <a:prstGeom prst="line">
            <a:avLst/>
          </a:prstGeom>
          <a:ln w="1143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PoC template element 36 / 45"/>
          <p:cNvCxnSpPr/>
          <p:nvPr/>
        </p:nvCxnSpPr>
        <p:spPr>
          <a:xfrm>
            <a:off x="14182344" y="3145536"/>
            <a:ext cx="0" cy="5925312"/>
          </a:xfrm>
          <a:prstGeom prst="line">
            <a:avLst/>
          </a:prstGeom>
          <a:ln w="1143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PoC template element 36 / 46"/>
          <p:cNvCxnSpPr/>
          <p:nvPr/>
        </p:nvCxnSpPr>
        <p:spPr>
          <a:xfrm>
            <a:off x="15398494" y="3145536"/>
            <a:ext cx="0" cy="5925312"/>
          </a:xfrm>
          <a:prstGeom prst="line">
            <a:avLst/>
          </a:prstGeom>
          <a:ln w="1143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PoC template element 36 / 47"/>
          <p:cNvCxnSpPr/>
          <p:nvPr/>
        </p:nvCxnSpPr>
        <p:spPr>
          <a:xfrm>
            <a:off x="16614648" y="3145536"/>
            <a:ext cx="0" cy="5925312"/>
          </a:xfrm>
          <a:prstGeom prst="line">
            <a:avLst/>
          </a:prstGeom>
          <a:ln w="1143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PoC template element 36 / 48"/>
          <p:cNvCxnSpPr/>
          <p:nvPr/>
        </p:nvCxnSpPr>
        <p:spPr>
          <a:xfrm>
            <a:off x="17830800" y="3145536"/>
            <a:ext cx="0" cy="5925312"/>
          </a:xfrm>
          <a:prstGeom prst="line">
            <a:avLst/>
          </a:prstGeom>
          <a:ln w="11430">
            <a:solidFill>
              <a:srgbClr val="E1E1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PoC template element 147 / 161"/>
          <p:cNvSpPr txBox="1"/>
          <p:nvPr/>
        </p:nvSpPr>
        <p:spPr>
          <a:xfrm>
            <a:off x="438912" y="9198864"/>
            <a:ext cx="16459200" cy="182880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D95400"/>
                </a:solidFill>
                <a:latin typeface="Aptos"/>
              </a:rPr>
              <a:t>CHECKPOINTS  |  FORMAL SIGN-OFF REQUIRED BEFORE EACH PHASE PROCEEDS</a:t>
            </a:r>
          </a:p>
        </p:txBody>
      </p:sp>
      <p:sp>
        <p:nvSpPr>
          <p:cNvPr id="162" name="PoC template element 148 / 162"/>
          <p:cNvSpPr/>
          <p:nvPr/>
        </p:nvSpPr>
        <p:spPr>
          <a:xfrm>
            <a:off x="438912" y="9464040"/>
            <a:ext cx="3394252" cy="56692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PoC template element 149 / 163"/>
          <p:cNvSpPr/>
          <p:nvPr/>
        </p:nvSpPr>
        <p:spPr>
          <a:xfrm>
            <a:off x="438912" y="9464040"/>
            <a:ext cx="47548" cy="566928"/>
          </a:xfrm>
          <a:prstGeom prst="rect">
            <a:avLst/>
          </a:prstGeom>
          <a:solidFill>
            <a:srgbClr val="D9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PoC template element 150 / 164"/>
          <p:cNvSpPr txBox="1"/>
          <p:nvPr/>
        </p:nvSpPr>
        <p:spPr>
          <a:xfrm>
            <a:off x="548640" y="9578339"/>
            <a:ext cx="3174796" cy="155448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D95400"/>
                </a:solidFill>
                <a:latin typeface="Aptos"/>
              </a:rPr>
              <a:t>W4 · SCOPE APPROVED</a:t>
            </a:r>
          </a:p>
        </p:txBody>
      </p:sp>
      <p:sp>
        <p:nvSpPr>
          <p:cNvPr id="165" name="PoC template element 151 / 165"/>
          <p:cNvSpPr txBox="1"/>
          <p:nvPr/>
        </p:nvSpPr>
        <p:spPr>
          <a:xfrm>
            <a:off x="548640" y="9770364"/>
            <a:ext cx="3174796" cy="164592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71717"/>
                </a:solidFill>
                <a:latin typeface="Aptos"/>
              </a:rPr>
              <a:t>Scope and standards approved</a:t>
            </a:r>
          </a:p>
        </p:txBody>
      </p:sp>
      <p:sp>
        <p:nvSpPr>
          <p:cNvPr id="167" name="PoC template element 148 / 167"/>
          <p:cNvSpPr/>
          <p:nvPr/>
        </p:nvSpPr>
        <p:spPr>
          <a:xfrm>
            <a:off x="3942892" y="9464040"/>
            <a:ext cx="3394252" cy="56692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PoC template element 149 / 168"/>
          <p:cNvSpPr/>
          <p:nvPr/>
        </p:nvSpPr>
        <p:spPr>
          <a:xfrm>
            <a:off x="3942892" y="9464040"/>
            <a:ext cx="47548" cy="566928"/>
          </a:xfrm>
          <a:prstGeom prst="rect">
            <a:avLst/>
          </a:prstGeom>
          <a:solidFill>
            <a:srgbClr val="D9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PoC template element 150 / 169"/>
          <p:cNvSpPr txBox="1"/>
          <p:nvPr/>
        </p:nvSpPr>
        <p:spPr>
          <a:xfrm>
            <a:off x="4052620" y="9578339"/>
            <a:ext cx="3174796" cy="155448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D95400"/>
                </a:solidFill>
                <a:latin typeface="Aptos"/>
              </a:rPr>
              <a:t>W20 · BUILD COMPLETE</a:t>
            </a:r>
          </a:p>
        </p:txBody>
      </p:sp>
      <p:sp>
        <p:nvSpPr>
          <p:cNvPr id="170" name="PoC template element 151 / 170"/>
          <p:cNvSpPr txBox="1"/>
          <p:nvPr/>
        </p:nvSpPr>
        <p:spPr>
          <a:xfrm>
            <a:off x="4052620" y="9770364"/>
            <a:ext cx="3174796" cy="164592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71717"/>
                </a:solidFill>
                <a:latin typeface="Aptos"/>
              </a:rPr>
              <a:t>End-to-end workflow validated</a:t>
            </a:r>
          </a:p>
        </p:txBody>
      </p:sp>
      <p:sp>
        <p:nvSpPr>
          <p:cNvPr id="172" name="PoC template element 148 / 172"/>
          <p:cNvSpPr/>
          <p:nvPr/>
        </p:nvSpPr>
        <p:spPr>
          <a:xfrm>
            <a:off x="7446873" y="9464040"/>
            <a:ext cx="3394252" cy="56692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PoC template element 149 / 173"/>
          <p:cNvSpPr/>
          <p:nvPr/>
        </p:nvSpPr>
        <p:spPr>
          <a:xfrm>
            <a:off x="7446873" y="9464040"/>
            <a:ext cx="47548" cy="566928"/>
          </a:xfrm>
          <a:prstGeom prst="rect">
            <a:avLst/>
          </a:prstGeom>
          <a:solidFill>
            <a:srgbClr val="D9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PoC template element 150 / 174"/>
          <p:cNvSpPr txBox="1"/>
          <p:nvPr/>
        </p:nvSpPr>
        <p:spPr>
          <a:xfrm>
            <a:off x="7556601" y="9578339"/>
            <a:ext cx="3174796" cy="155448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D95400"/>
                </a:solidFill>
                <a:latin typeface="Aptos"/>
              </a:rPr>
              <a:t>W24 · READY FOR PILOT</a:t>
            </a:r>
          </a:p>
        </p:txBody>
      </p:sp>
      <p:sp>
        <p:nvSpPr>
          <p:cNvPr id="175" name="PoC template element 151 / 175"/>
          <p:cNvSpPr txBox="1"/>
          <p:nvPr/>
        </p:nvSpPr>
        <p:spPr>
          <a:xfrm>
            <a:off x="7556601" y="9770364"/>
            <a:ext cx="3174796" cy="164592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71717"/>
                </a:solidFill>
                <a:latin typeface="Aptos"/>
              </a:rPr>
              <a:t>Regression and QC testing passed</a:t>
            </a:r>
          </a:p>
        </p:txBody>
      </p:sp>
      <p:sp>
        <p:nvSpPr>
          <p:cNvPr id="177" name="PoC template element 148 / 177"/>
          <p:cNvSpPr/>
          <p:nvPr/>
        </p:nvSpPr>
        <p:spPr>
          <a:xfrm>
            <a:off x="10950854" y="9464040"/>
            <a:ext cx="3394252" cy="56692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PoC template element 149 / 178"/>
          <p:cNvSpPr/>
          <p:nvPr/>
        </p:nvSpPr>
        <p:spPr>
          <a:xfrm>
            <a:off x="10950854" y="9464040"/>
            <a:ext cx="47548" cy="566928"/>
          </a:xfrm>
          <a:prstGeom prst="rect">
            <a:avLst/>
          </a:prstGeom>
          <a:solidFill>
            <a:srgbClr val="D9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PoC template element 150 / 179"/>
          <p:cNvSpPr txBox="1"/>
          <p:nvPr/>
        </p:nvSpPr>
        <p:spPr>
          <a:xfrm>
            <a:off x="11060582" y="9578339"/>
            <a:ext cx="3174796" cy="155448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D95400"/>
                </a:solidFill>
                <a:latin typeface="Aptos"/>
              </a:rPr>
              <a:t>W28 · GO-LIVE</a:t>
            </a:r>
          </a:p>
        </p:txBody>
      </p:sp>
      <p:sp>
        <p:nvSpPr>
          <p:cNvPr id="180" name="PoC template element 151 / 180"/>
          <p:cNvSpPr txBox="1"/>
          <p:nvPr/>
        </p:nvSpPr>
        <p:spPr>
          <a:xfrm>
            <a:off x="11060582" y="9770364"/>
            <a:ext cx="3174796" cy="164592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71717"/>
                </a:solidFill>
                <a:latin typeface="Aptos"/>
              </a:rPr>
              <a:t>Pilot accepted; go-live approved</a:t>
            </a:r>
          </a:p>
        </p:txBody>
      </p:sp>
      <p:sp>
        <p:nvSpPr>
          <p:cNvPr id="182" name="PoC template element 148 / 182"/>
          <p:cNvSpPr/>
          <p:nvPr/>
        </p:nvSpPr>
        <p:spPr>
          <a:xfrm>
            <a:off x="14454835" y="9464040"/>
            <a:ext cx="3394252" cy="56692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PoC template element 149 / 183"/>
          <p:cNvSpPr/>
          <p:nvPr/>
        </p:nvSpPr>
        <p:spPr>
          <a:xfrm>
            <a:off x="14454835" y="9464040"/>
            <a:ext cx="47548" cy="566928"/>
          </a:xfrm>
          <a:prstGeom prst="rect">
            <a:avLst/>
          </a:prstGeom>
          <a:solidFill>
            <a:srgbClr val="D9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PoC template element 150 / 184"/>
          <p:cNvSpPr txBox="1"/>
          <p:nvPr/>
        </p:nvSpPr>
        <p:spPr>
          <a:xfrm>
            <a:off x="14564563" y="9578339"/>
            <a:ext cx="3174796" cy="155448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D95400"/>
                </a:solidFill>
                <a:latin typeface="Aptos"/>
              </a:rPr>
              <a:t>W32 · HANDOVER</a:t>
            </a:r>
          </a:p>
        </p:txBody>
      </p:sp>
      <p:sp>
        <p:nvSpPr>
          <p:cNvPr id="185" name="PoC template element 151 / 185"/>
          <p:cNvSpPr txBox="1"/>
          <p:nvPr/>
        </p:nvSpPr>
        <p:spPr>
          <a:xfrm>
            <a:off x="14564563" y="9770364"/>
            <a:ext cx="3174796" cy="164592"/>
          </a:xfrm>
          <a:prstGeom prst="rect">
            <a:avLst/>
          </a:prstGeom>
          <a:noFill/>
          <a:effectLst/>
        </p:spPr>
        <p:txBody>
          <a:bodyPr wrap="none" tIns="0" bIns="0" lIns="0" r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71717"/>
                </a:solidFill>
                <a:latin typeface="Aptos"/>
              </a:rPr>
              <a:t>Service transitioned to support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438912" y="1554480"/>
            <a:ext cx="17410176" cy="329184"/>
          </a:xfrm>
          <a:prstGeom prst="rect">
            <a:avLst/>
          </a:prstGeom>
          <a:solidFill>
            <a:srgbClr val="FFF1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66928" y="1554480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D95400"/>
                </a:solidFill>
                <a:latin typeface="Aptos"/>
              </a:rPr>
              <a:t>STARTING POINT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148840" y="1554480"/>
            <a:ext cx="1554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71717"/>
                </a:solidFill>
                <a:latin typeface="Aptos"/>
              </a:rPr>
              <a:t>In place today: the specification builder and a library of R analysis modules. This plan delivers the remaining components and integrates them end to end.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438912" y="1938528"/>
            <a:ext cx="17410176" cy="329184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566928" y="1938528"/>
            <a:ext cx="1554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D95400"/>
                </a:solidFill>
                <a:latin typeface="Aptos"/>
              </a:rPr>
              <a:t>DEPENDS ON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148840" y="1938528"/>
            <a:ext cx="1554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71717"/>
                </a:solidFill>
                <a:latin typeface="Aptos"/>
              </a:rPr>
              <a:t>OMOP CDM migration (in progress)  ·  Clinical definitions layer  ·  R runtime on Databricks  ·  AI governance approval  ·  Hosting and publishing environment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438912" y="3145536"/>
            <a:ext cx="17410176" cy="237744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38912" y="3145536"/>
            <a:ext cx="45720" cy="237744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548640" y="3177540"/>
            <a:ext cx="741578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>
                <a:solidFill>
                  <a:srgbClr val="2B2B2B"/>
                </a:solidFill>
                <a:latin typeface="Aptos"/>
              </a:rPr>
              <a:t>A  SCIENTIFIC INTENT, DEFINITIONS &amp; DATA READINESS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521207" y="349300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5400"/>
                </a:solidFill>
                <a:latin typeface="Aptos"/>
              </a:rPr>
              <a:t>F01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987552" y="3465576"/>
            <a:ext cx="4754880" cy="202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" b="1">
                <a:solidFill>
                  <a:srgbClr val="171717"/>
                </a:solidFill>
                <a:latin typeface="Aptos"/>
              </a:rPr>
              <a:t>Researcher Portal &amp; Spec Builder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987552" y="3666744"/>
            <a:ext cx="4754880" cy="162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ptos"/>
              </a:rPr>
              <a:t>Governed intake and protocol-to-specification authoring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9354312" y="3561588"/>
            <a:ext cx="2359152" cy="164592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Diamond 244"/>
          <p:cNvSpPr/>
          <p:nvPr/>
        </p:nvSpPr>
        <p:spPr>
          <a:xfrm>
            <a:off x="11658600" y="3591306"/>
            <a:ext cx="109728" cy="105156"/>
          </a:xfrm>
          <a:prstGeom prst="diamond">
            <a:avLst/>
          </a:pr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46" name="Connector 245"/>
          <p:cNvCxnSpPr/>
          <p:nvPr/>
        </p:nvCxnSpPr>
        <p:spPr>
          <a:xfrm>
            <a:off x="438912" y="3904488"/>
            <a:ext cx="17410176" cy="0"/>
          </a:xfrm>
          <a:prstGeom prst="line">
            <a:avLst/>
          </a:prstGeom>
          <a:ln w="6350">
            <a:solidFill>
              <a:srgbClr val="E1E1E1"/>
            </a:solidFill>
          </a:ln>
        </p:spPr>
      </p:cxnSp>
      <p:sp>
        <p:nvSpPr>
          <p:cNvPr id="247" name="TextBox 246"/>
          <p:cNvSpPr txBox="1"/>
          <p:nvPr/>
        </p:nvSpPr>
        <p:spPr>
          <a:xfrm>
            <a:off x="521207" y="40142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5400"/>
                </a:solidFill>
                <a:latin typeface="Aptos"/>
              </a:rPr>
              <a:t>F02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987552" y="3986784"/>
            <a:ext cx="4754880" cy="202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" b="1">
                <a:solidFill>
                  <a:srgbClr val="171717"/>
                </a:solidFill>
                <a:latin typeface="Aptos"/>
              </a:rPr>
              <a:t>Functional Contract Library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987552" y="4187952"/>
            <a:ext cx="4754880" cy="162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ptos"/>
              </a:rPr>
              <a:t>Versioned, schema-validated contracts for every build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9354312" y="4082796"/>
            <a:ext cx="2359152" cy="164592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Diamond 251"/>
          <p:cNvSpPr/>
          <p:nvPr/>
        </p:nvSpPr>
        <p:spPr>
          <a:xfrm>
            <a:off x="11658600" y="4112514"/>
            <a:ext cx="109728" cy="105156"/>
          </a:xfrm>
          <a:prstGeom prst="diamond">
            <a:avLst/>
          </a:pr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53" name="Connector 252"/>
          <p:cNvCxnSpPr/>
          <p:nvPr/>
        </p:nvCxnSpPr>
        <p:spPr>
          <a:xfrm>
            <a:off x="438912" y="4425696"/>
            <a:ext cx="17410176" cy="0"/>
          </a:xfrm>
          <a:prstGeom prst="line">
            <a:avLst/>
          </a:prstGeom>
          <a:ln w="6350">
            <a:solidFill>
              <a:srgbClr val="E1E1E1"/>
            </a:solidFill>
          </a:ln>
        </p:spPr>
      </p:cxnSp>
      <p:sp>
        <p:nvSpPr>
          <p:cNvPr id="254" name="TextBox 253"/>
          <p:cNvSpPr txBox="1"/>
          <p:nvPr/>
        </p:nvSpPr>
        <p:spPr>
          <a:xfrm>
            <a:off x="521207" y="4535424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5400"/>
                </a:solidFill>
                <a:latin typeface="Aptos"/>
              </a:rPr>
              <a:t>F03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987552" y="4507992"/>
            <a:ext cx="4754880" cy="202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" b="1">
                <a:solidFill>
                  <a:srgbClr val="171717"/>
                </a:solidFill>
                <a:latin typeface="Aptos"/>
              </a:rPr>
              <a:t>Clinical Definitions Integration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987552" y="4709160"/>
            <a:ext cx="4754880" cy="162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ptos"/>
              </a:rPr>
              <a:t>Version-controlled concept sets and code lists per contract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10570464" y="4604004"/>
            <a:ext cx="2359152" cy="164592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Diamond 257"/>
          <p:cNvSpPr/>
          <p:nvPr/>
        </p:nvSpPr>
        <p:spPr>
          <a:xfrm>
            <a:off x="12874752" y="4633722"/>
            <a:ext cx="109728" cy="105156"/>
          </a:xfrm>
          <a:prstGeom prst="diamond">
            <a:avLst/>
          </a:pr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59" name="Connector 258"/>
          <p:cNvCxnSpPr/>
          <p:nvPr/>
        </p:nvCxnSpPr>
        <p:spPr>
          <a:xfrm>
            <a:off x="438912" y="4946904"/>
            <a:ext cx="17410176" cy="0"/>
          </a:xfrm>
          <a:prstGeom prst="line">
            <a:avLst/>
          </a:prstGeom>
          <a:ln w="6350">
            <a:solidFill>
              <a:srgbClr val="E1E1E1"/>
            </a:solidFill>
          </a:ln>
        </p:spPr>
      </p:cxnSp>
      <p:sp>
        <p:nvSpPr>
          <p:cNvPr id="260" name="TextBox 259"/>
          <p:cNvSpPr txBox="1"/>
          <p:nvPr/>
        </p:nvSpPr>
        <p:spPr>
          <a:xfrm>
            <a:off x="521207" y="5056632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5400"/>
                </a:solidFill>
                <a:latin typeface="Aptos"/>
              </a:rPr>
              <a:t>F04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987552" y="5029200"/>
            <a:ext cx="4754880" cy="202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" b="1">
                <a:solidFill>
                  <a:srgbClr val="171717"/>
                </a:solidFill>
                <a:latin typeface="Aptos"/>
              </a:rPr>
              <a:t>Data Source Mapping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987552" y="5230368"/>
            <a:ext cx="4754880" cy="162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ptos"/>
              </a:rPr>
              <a:t>Source-to-OMOP mapping with coverage and gap reporting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0570464" y="5125212"/>
            <a:ext cx="2359152" cy="164592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Diamond 264"/>
          <p:cNvSpPr/>
          <p:nvPr/>
        </p:nvSpPr>
        <p:spPr>
          <a:xfrm>
            <a:off x="12874752" y="5154930"/>
            <a:ext cx="109728" cy="105156"/>
          </a:xfrm>
          <a:prstGeom prst="diamond">
            <a:avLst/>
          </a:pr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6" name="Connector 265"/>
          <p:cNvCxnSpPr/>
          <p:nvPr/>
        </p:nvCxnSpPr>
        <p:spPr>
          <a:xfrm>
            <a:off x="438912" y="5468112"/>
            <a:ext cx="17410176" cy="0"/>
          </a:xfrm>
          <a:prstGeom prst="line">
            <a:avLst/>
          </a:prstGeom>
          <a:ln w="6350">
            <a:solidFill>
              <a:srgbClr val="E1E1E1"/>
            </a:solidFill>
          </a:ln>
        </p:spPr>
      </p:cxnSp>
      <p:sp>
        <p:nvSpPr>
          <p:cNvPr id="267" name="Rectangle 266"/>
          <p:cNvSpPr/>
          <p:nvPr/>
        </p:nvSpPr>
        <p:spPr>
          <a:xfrm>
            <a:off x="438912" y="5468112"/>
            <a:ext cx="17410176" cy="237744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438912" y="5468112"/>
            <a:ext cx="45720" cy="237744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548640" y="5500116"/>
            <a:ext cx="741578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>
                <a:solidFill>
                  <a:srgbClr val="2B2B2B"/>
                </a:solidFill>
                <a:latin typeface="Aptos"/>
              </a:rPr>
              <a:t>B  ANALYTICAL EXECUTION &amp; EVIDENCE OUTPUTS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521207" y="5815584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5400"/>
                </a:solidFill>
                <a:latin typeface="Aptos"/>
              </a:rPr>
              <a:t>F05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987552" y="5788152"/>
            <a:ext cx="4754880" cy="202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" b="1">
                <a:solidFill>
                  <a:srgbClr val="171717"/>
                </a:solidFill>
                <a:latin typeface="Aptos"/>
              </a:rPr>
              <a:t>Analysis Dataset (ADS) Builder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87552" y="5989320"/>
            <a:ext cx="4754880" cy="162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ptos"/>
              </a:rPr>
              <a:t>Contract-driven analysis datasets with full variable lineage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10570464" y="5884164"/>
            <a:ext cx="3575304" cy="164592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Diamond 274"/>
          <p:cNvSpPr/>
          <p:nvPr/>
        </p:nvSpPr>
        <p:spPr>
          <a:xfrm>
            <a:off x="14090904" y="5913882"/>
            <a:ext cx="109728" cy="105156"/>
          </a:xfrm>
          <a:prstGeom prst="diamond">
            <a:avLst/>
          </a:pr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6" name="Connector 275"/>
          <p:cNvCxnSpPr/>
          <p:nvPr/>
        </p:nvCxnSpPr>
        <p:spPr>
          <a:xfrm>
            <a:off x="438912" y="6227064"/>
            <a:ext cx="17410176" cy="0"/>
          </a:xfrm>
          <a:prstGeom prst="line">
            <a:avLst/>
          </a:prstGeom>
          <a:ln w="6350">
            <a:solidFill>
              <a:srgbClr val="E1E1E1"/>
            </a:solidFill>
          </a:ln>
        </p:spPr>
      </p:cxnSp>
      <p:sp>
        <p:nvSpPr>
          <p:cNvPr id="277" name="TextBox 276"/>
          <p:cNvSpPr txBox="1"/>
          <p:nvPr/>
        </p:nvSpPr>
        <p:spPr>
          <a:xfrm>
            <a:off x="521207" y="6336792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5400"/>
                </a:solidFill>
                <a:latin typeface="Aptos"/>
              </a:rPr>
              <a:t>F06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987552" y="6309360"/>
            <a:ext cx="4754880" cy="202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" b="1">
                <a:solidFill>
                  <a:srgbClr val="171717"/>
                </a:solidFill>
                <a:latin typeface="Aptos"/>
              </a:rPr>
              <a:t>Analysis Toolkit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987552" y="6510528"/>
            <a:ext cx="4754880" cy="162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ptos"/>
              </a:rPr>
              <a:t>Parameterised R modules: descriptive, survival, comparative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11786616" y="6405372"/>
            <a:ext cx="2359152" cy="164592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Diamond 281"/>
          <p:cNvSpPr/>
          <p:nvPr/>
        </p:nvSpPr>
        <p:spPr>
          <a:xfrm>
            <a:off x="14090904" y="6435090"/>
            <a:ext cx="109728" cy="105156"/>
          </a:xfrm>
          <a:prstGeom prst="diamond">
            <a:avLst/>
          </a:pr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3" name="Connector 282"/>
          <p:cNvCxnSpPr/>
          <p:nvPr/>
        </p:nvCxnSpPr>
        <p:spPr>
          <a:xfrm>
            <a:off x="438912" y="6748272"/>
            <a:ext cx="17410176" cy="0"/>
          </a:xfrm>
          <a:prstGeom prst="line">
            <a:avLst/>
          </a:prstGeom>
          <a:ln w="6350">
            <a:solidFill>
              <a:srgbClr val="E1E1E1"/>
            </a:solidFill>
          </a:ln>
        </p:spPr>
      </p:cxnSp>
      <p:sp>
        <p:nvSpPr>
          <p:cNvPr id="284" name="TextBox 283"/>
          <p:cNvSpPr txBox="1"/>
          <p:nvPr/>
        </p:nvSpPr>
        <p:spPr>
          <a:xfrm>
            <a:off x="521207" y="6858000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5400"/>
                </a:solidFill>
                <a:latin typeface="Aptos"/>
              </a:rPr>
              <a:t>F07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987552" y="6830568"/>
            <a:ext cx="4754880" cy="202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" b="1">
                <a:solidFill>
                  <a:srgbClr val="171717"/>
                </a:solidFill>
                <a:latin typeface="Aptos"/>
              </a:rPr>
              <a:t>Tables, Figures &amp; Listings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87552" y="7031736"/>
            <a:ext cx="4754880" cy="162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ptos"/>
              </a:rPr>
              <a:t>Templated TFLs generated from model outputs and reconciled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11786616" y="6926580"/>
            <a:ext cx="2359152" cy="164592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Diamond 288"/>
          <p:cNvSpPr/>
          <p:nvPr/>
        </p:nvSpPr>
        <p:spPr>
          <a:xfrm>
            <a:off x="14090904" y="6956298"/>
            <a:ext cx="109728" cy="105156"/>
          </a:xfrm>
          <a:prstGeom prst="diamond">
            <a:avLst/>
          </a:pr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0" name="Connector 289"/>
          <p:cNvCxnSpPr/>
          <p:nvPr/>
        </p:nvCxnSpPr>
        <p:spPr>
          <a:xfrm>
            <a:off x="438912" y="7269480"/>
            <a:ext cx="17410176" cy="0"/>
          </a:xfrm>
          <a:prstGeom prst="line">
            <a:avLst/>
          </a:prstGeom>
          <a:ln w="6350">
            <a:solidFill>
              <a:srgbClr val="E1E1E1"/>
            </a:solidFill>
          </a:ln>
        </p:spPr>
      </p:cxnSp>
      <p:sp>
        <p:nvSpPr>
          <p:cNvPr id="291" name="TextBox 290"/>
          <p:cNvSpPr txBox="1"/>
          <p:nvPr/>
        </p:nvSpPr>
        <p:spPr>
          <a:xfrm>
            <a:off x="521207" y="737920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5400"/>
                </a:solidFill>
                <a:latin typeface="Aptos"/>
              </a:rPr>
              <a:t>F08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987552" y="7351776"/>
            <a:ext cx="4754880" cy="202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" b="1">
                <a:solidFill>
                  <a:srgbClr val="171717"/>
                </a:solidFill>
                <a:latin typeface="Aptos"/>
              </a:rPr>
              <a:t>Feasibility &amp; Quality Dashboards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987552" y="7552944"/>
            <a:ext cx="4754880" cy="162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ptos"/>
              </a:rPr>
              <a:t>Cohort attrition, data completeness and treatment patterns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11786616" y="7447788"/>
            <a:ext cx="2359152" cy="164592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Diamond 294"/>
          <p:cNvSpPr/>
          <p:nvPr/>
        </p:nvSpPr>
        <p:spPr>
          <a:xfrm>
            <a:off x="14090904" y="7477506"/>
            <a:ext cx="109728" cy="105156"/>
          </a:xfrm>
          <a:prstGeom prst="diamond">
            <a:avLst/>
          </a:pr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6" name="Connector 295"/>
          <p:cNvCxnSpPr/>
          <p:nvPr/>
        </p:nvCxnSpPr>
        <p:spPr>
          <a:xfrm>
            <a:off x="438912" y="7790688"/>
            <a:ext cx="17410176" cy="0"/>
          </a:xfrm>
          <a:prstGeom prst="line">
            <a:avLst/>
          </a:prstGeom>
          <a:ln w="6350">
            <a:solidFill>
              <a:srgbClr val="E1E1E1"/>
            </a:solidFill>
          </a:ln>
        </p:spPr>
      </p:cxnSp>
      <p:sp>
        <p:nvSpPr>
          <p:cNvPr id="297" name="Rectangle 296"/>
          <p:cNvSpPr/>
          <p:nvPr/>
        </p:nvSpPr>
        <p:spPr>
          <a:xfrm>
            <a:off x="438912" y="7790688"/>
            <a:ext cx="17410176" cy="237744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438912" y="7790688"/>
            <a:ext cx="45720" cy="237744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548640" y="7822692"/>
            <a:ext cx="7415783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>
                <a:solidFill>
                  <a:srgbClr val="2B2B2B"/>
                </a:solidFill>
                <a:latin typeface="Aptos"/>
              </a:rPr>
              <a:t>C  INDEPENDENT ASSURANCE &amp; OPERATIONAL READINESS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521207" y="8138160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B2B2B"/>
                </a:solidFill>
                <a:latin typeface="Aptos"/>
              </a:rPr>
              <a:t>F09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987552" y="8110728"/>
            <a:ext cx="4754880" cy="202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" b="1">
                <a:solidFill>
                  <a:srgbClr val="171717"/>
                </a:solidFill>
                <a:latin typeface="Aptos"/>
              </a:rPr>
              <a:t>Independent Testing &amp; Release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987552" y="8311896"/>
            <a:ext cx="4754880" cy="162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ptos"/>
              </a:rPr>
              <a:t>Reference-data regression testing and controlled releases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11786616" y="8206740"/>
            <a:ext cx="3575304" cy="164592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Diamond 304"/>
          <p:cNvSpPr/>
          <p:nvPr/>
        </p:nvSpPr>
        <p:spPr>
          <a:xfrm>
            <a:off x="15307056" y="8236458"/>
            <a:ext cx="109728" cy="105156"/>
          </a:xfrm>
          <a:prstGeom prst="diamond">
            <a:avLst/>
          </a:pr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6" name="Connector 305"/>
          <p:cNvCxnSpPr/>
          <p:nvPr/>
        </p:nvCxnSpPr>
        <p:spPr>
          <a:xfrm>
            <a:off x="438912" y="8549640"/>
            <a:ext cx="17410176" cy="0"/>
          </a:xfrm>
          <a:prstGeom prst="line">
            <a:avLst/>
          </a:prstGeom>
          <a:ln w="6350">
            <a:solidFill>
              <a:srgbClr val="E1E1E1"/>
            </a:solidFill>
          </a:ln>
        </p:spPr>
      </p:cxnSp>
      <p:sp>
        <p:nvSpPr>
          <p:cNvPr id="307" name="TextBox 306"/>
          <p:cNvSpPr txBox="1"/>
          <p:nvPr/>
        </p:nvSpPr>
        <p:spPr>
          <a:xfrm>
            <a:off x="521207" y="86593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B2B2B"/>
                </a:solidFill>
                <a:latin typeface="Aptos"/>
              </a:rPr>
              <a:t>F10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987552" y="8631936"/>
            <a:ext cx="4754880" cy="202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" b="1">
                <a:solidFill>
                  <a:srgbClr val="171717"/>
                </a:solidFill>
                <a:latin typeface="Aptos"/>
              </a:rPr>
              <a:t>Pilot, Training &amp; Handover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87552" y="8833104"/>
            <a:ext cx="4754880" cy="162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ptos"/>
              </a:rPr>
              <a:t>Controlled pilot, SOPs, training and transition to support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5435072" y="8727948"/>
            <a:ext cx="2359152" cy="164592"/>
          </a:xfrm>
          <a:prstGeom prst="rect">
            <a:avLst/>
          </a:prstGeom>
          <a:solidFill>
            <a:srgbClr val="D954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Diamond 310"/>
          <p:cNvSpPr/>
          <p:nvPr/>
        </p:nvSpPr>
        <p:spPr>
          <a:xfrm>
            <a:off x="17739360" y="8757666"/>
            <a:ext cx="109728" cy="105156"/>
          </a:xfrm>
          <a:prstGeom prst="diamond">
            <a:avLst/>
          </a:pr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12" name="Connector 311"/>
          <p:cNvCxnSpPr/>
          <p:nvPr/>
        </p:nvCxnSpPr>
        <p:spPr>
          <a:xfrm>
            <a:off x="438912" y="9070848"/>
            <a:ext cx="17410176" cy="0"/>
          </a:xfrm>
          <a:prstGeom prst="line">
            <a:avLst/>
          </a:prstGeom>
          <a:ln w="6350">
            <a:solidFill>
              <a:srgbClr val="E1E1E1"/>
            </a:solidFill>
          </a:ln>
        </p:spPr>
      </p:cxnSp>
      <p:sp>
        <p:nvSpPr>
          <p:cNvPr id="313" name="TextBox 312"/>
          <p:cNvSpPr txBox="1"/>
          <p:nvPr/>
        </p:nvSpPr>
        <p:spPr>
          <a:xfrm>
            <a:off x="5870448" y="26609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D95400"/>
                </a:solidFill>
                <a:latin typeface="Aptos"/>
              </a:rPr>
              <a:t>AI ROLE  ·  HUMAN-APPROVED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5870448" y="351129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D95400"/>
                </a:solidFill>
                <a:latin typeface="Aptos"/>
              </a:rPr>
              <a:t>Drafts specs from protocols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5870448" y="4032503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D95400"/>
                </a:solidFill>
                <a:latin typeface="Aptos"/>
              </a:rPr>
              <a:t>Generates contract drafts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870448" y="45537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D95400"/>
                </a:solidFill>
                <a:latin typeface="Aptos"/>
              </a:rPr>
              <a:t>Recommends concept sets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5870448" y="50749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D95400"/>
                </a:solidFill>
                <a:latin typeface="Aptos"/>
              </a:rPr>
              <a:t>Proposes source mappings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5870448" y="5833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D95400"/>
                </a:solidFill>
                <a:latin typeface="Aptos"/>
              </a:rPr>
              <a:t>Generates derivation code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5870448" y="6355079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D95400"/>
                </a:solidFill>
                <a:latin typeface="Aptos"/>
              </a:rPr>
              <a:t>Generates analysis code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5870448" y="68762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D95400"/>
                </a:solidFill>
                <a:latin typeface="Aptos"/>
              </a:rPr>
              <a:t>Drafts results narratives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5870448" y="739749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D95400"/>
                </a:solidFill>
                <a:latin typeface="Aptos"/>
              </a:rPr>
              <a:t>Flags data-quality anomalies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870448" y="81564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D95400"/>
                </a:solidFill>
                <a:latin typeface="Aptos"/>
              </a:rPr>
              <a:t>Runs automated critic checks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5870448" y="86776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D95400"/>
                </a:solidFill>
                <a:latin typeface="Aptos"/>
              </a:rPr>
              <a:t>Drafts SOPs and user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RWDPlatform | Final Implementation Roadmap</dc:title>
  <dc:subject>Full product implementation in the original PoC slide template</dc:subject>
  <dc:creator>Onkar</dc:creator>
  <cp:keywords>MedCode, clinical coding, PoC, product, Gantt, knowledge graph, clinical workspace</cp:keywords>
  <dc:description>Formatting-only update of the final implementation plan; all dates are proposed.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