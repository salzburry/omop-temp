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32-week plan to build the components that turn what we already have into one flow for all RWD work: data products, feasibility, studies and dashboards, from protocol to checked results. W1 is the agreed kickoff, not a calendar date.</a:t>
            </a:r>
          </a:p>
          <a:p/>
          <a:p>
            <a:r>
              <a:t>Built today: the spec builder, which turns a protocol into a spec, and a library of R analysis modules. The plan builds the remaining components around them.</a:t>
            </a:r>
          </a:p>
          <a:p/>
          <a:p>
            <a:r>
              <a:t>A (scientific intent, definitions and data readiness): the researcher portal around the spec builder, a library of versioned, machine-readable functional contracts (format decided at W4), clinical definitions, and mapping to OMOP and existing datasets. B (analytical execution and evidence outputs): the analysis dataset builder, the analysis toolkit built on our R modules, tables and figures, and dashboards. C (independent assurance and operational readiness): independent testing and release, and the pilot and handover.</a:t>
            </a:r>
          </a:p>
          <a:p/>
          <a:p>
            <a:r>
              <a:t>AI is embedded in every deliverable and works inside deterministic boundaries: it fills pre-vetted templates and standard vocabularies rather than writing free-form production code. Its roles: mapping clinical intent to OMOP vocabularies (SNOMED, LOINC, RxNorm), generating contract drafts, validating concept sets against the definitions layer, proposing source mappings, injecting cohort parameters into pre-vetted PySpark SQL templates, populating pre-built R-module templates such as Cox and PSM, drafting results narratives, flagging data-quality anomalies, running automated critic checks, and drafting SOPs and user guidance. Every AI output is reviewed and approved by a person before it is used.</a:t>
            </a:r>
          </a:p>
          <a:p/>
          <a:p>
            <a:r>
              <a:t>How to read it: each bar shows when that deliverable is built. Contracts and the portal start at W5; definitions, mapping and the ADS builder from W9 as OMOP and the clinical layer land; analysis, outputs and dashboards from W13. Everything is built by the W20 freeze, independent testing runs W13–24, and pilot and handover run W25–32.</a:t>
            </a:r>
          </a:p>
          <a:p/>
          <a:p>
            <a:r>
              <a:t>Dependencies: the OMOP CDM migration, the clinical definitions layer, R enabled on Databricks, the AI ideation review, and hosting and publishing.</a:t>
            </a:r>
          </a:p>
          <a:p/>
          <a:p>
            <a:r>
              <a:t>Checkpoints: W4 plan agreed. W20 build complete. W24 ready for pilot. W28 go-live, which is a decision, not a date. W32 handover. Each one is signed off before we move on.</a:t>
            </a:r>
          </a:p>
          <a:p/>
          <a:p>
            <a:r>
              <a:t>Resourcing: indicatively three to four engineers plus protected scientific, method and QC time, confirmed at the investment gate.</a:t>
            </a:r>
          </a:p>
          <a:p/>
          <a:p>
            <a:r>
              <a:t>If asked how the engine handles complex designs such as a line-of-therapy algorithm: we do not hand-code LOT logic for each protocol. The researcher states the rules in the portal, for example a new line when a drug is added more than 28 days after the first, or after a treatment gap longer than 60 days. Those rules are stored as parameters in a versioned functional contract (F02). The ADS builder (F05) reads the contract and applies the parameters to a pre-vetted, standard era-and-line algorithm over the OMOP drug exposure data, producing treatment eras and numbered lines such as first-line monotherapy, first-line combination or second-line switch. The analysis toolkit (F06) then applies cohort rules and line-level endpoints using validated R modules and OHDSI packages such as TreatmentPatterns and DrugUtilisation. Changing the rule means changing a parameter, not rewriting code, so every run is reproducible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C template element 2 / 2"/>
          <p:cNvSpPr/>
          <p:nvPr/>
        </p:nvSpPr>
        <p:spPr>
          <a:xfrm>
            <a:off x="0" y="0"/>
            <a:ext cx="18288000" cy="50292"/>
          </a:xfrm>
          <a:prstGeom prst="rect">
            <a:avLst/>
          </a:prstGeom>
          <a:solidFill>
            <a:srgbClr val="D9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oC template element 3 / 3"/>
          <p:cNvSpPr txBox="1"/>
          <p:nvPr/>
        </p:nvSpPr>
        <p:spPr>
          <a:xfrm>
            <a:off x="438912" y="365760"/>
            <a:ext cx="12801600" cy="210312"/>
          </a:xfrm>
          <a:prstGeom prst="rect">
            <a:avLst/>
          </a:prstGeom>
          <a:noFill/>
          <a:effectLst/>
        </p:spPr>
        <p:txBody>
          <a:bodyPr wrap="square" tIns="0" bIns="0" lIns="0" r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5400"/>
                </a:solidFill>
                <a:latin typeface="Aptos"/>
              </a:rPr>
              <a:t>RWDPLATFORM  /  GOVERNED ANALYTICS DELIVERY</a:t>
            </a:r>
          </a:p>
        </p:txBody>
      </p:sp>
      <p:sp>
        <p:nvSpPr>
          <p:cNvPr id="4" name="PoC template element 4 / 4"/>
          <p:cNvSpPr txBox="1"/>
          <p:nvPr/>
        </p:nvSpPr>
        <p:spPr>
          <a:xfrm>
            <a:off x="438912" y="694944"/>
            <a:ext cx="15270480" cy="438912"/>
          </a:xfrm>
          <a:prstGeom prst="rect">
            <a:avLst/>
          </a:prstGeom>
          <a:noFill/>
          <a:effectLst/>
        </p:spPr>
        <p:txBody>
          <a:bodyPr wrap="square" tIns="0" bIns="0" lIns="0" r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80" b="1">
                <a:solidFill>
                  <a:srgbClr val="D95400"/>
                </a:solidFill>
                <a:latin typeface="Aptos"/>
              </a:rPr>
              <a:t>Product | Implement the full RWD analytics workflow</a:t>
            </a:r>
          </a:p>
        </p:txBody>
      </p:sp>
      <p:sp>
        <p:nvSpPr>
          <p:cNvPr id="5" name="PoC template element 5 / 5"/>
          <p:cNvSpPr/>
          <p:nvPr/>
        </p:nvSpPr>
        <p:spPr>
          <a:xfrm>
            <a:off x="15563088" y="621792"/>
            <a:ext cx="2276856" cy="457200"/>
          </a:xfrm>
          <a:prstGeom prst="roundRect">
            <a:avLst>
              <a:gd name="adj" fmla="val 10000"/>
            </a:avLst>
          </a:prstGeom>
          <a:solidFill>
            <a:srgbClr val="FF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C template element 6 / 6"/>
          <p:cNvSpPr txBox="1"/>
          <p:nvPr/>
        </p:nvSpPr>
        <p:spPr>
          <a:xfrm>
            <a:off x="15681959" y="685800"/>
            <a:ext cx="2039112" cy="27432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ptos"/>
              </a:rPr>
              <a:t>02 / Product · W1–32</a:t>
            </a:r>
          </a:p>
        </p:txBody>
      </p:sp>
      <p:sp>
        <p:nvSpPr>
          <p:cNvPr id="7" name="PoC template element 7 / 7"/>
          <p:cNvSpPr txBox="1"/>
          <p:nvPr/>
        </p:nvSpPr>
        <p:spPr>
          <a:xfrm>
            <a:off x="438912" y="1170431"/>
            <a:ext cx="17373600" cy="246888"/>
          </a:xfrm>
          <a:prstGeom prst="rect">
            <a:avLst/>
          </a:prstGeom>
          <a:noFill/>
          <a:effectLst/>
        </p:spPr>
        <p:txBody>
          <a:bodyPr wrap="square" tIns="0" bIns="0" lIns="0" r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ptos"/>
              </a:rPr>
              <a:t>A single governed workflow for all RWD work (data products, feasibility, studies and dashboards), from protocol to validated results.</a:t>
            </a:r>
          </a:p>
        </p:txBody>
      </p:sp>
      <p:sp>
        <p:nvSpPr>
          <p:cNvPr id="11" name="PoC template element 11 / 11"/>
          <p:cNvSpPr txBox="1"/>
          <p:nvPr/>
        </p:nvSpPr>
        <p:spPr>
          <a:xfrm>
            <a:off x="521207" y="2660903"/>
            <a:ext cx="7315200" cy="182880"/>
          </a:xfrm>
          <a:prstGeom prst="rect">
            <a:avLst/>
          </a:prstGeom>
          <a:noFill/>
          <a:effectLst/>
        </p:spPr>
        <p:txBody>
          <a:bodyPr wrap="square" tIns="0" bIns="0" lIns="0" r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D95400"/>
                </a:solidFill>
                <a:latin typeface="Aptos"/>
              </a:rPr>
              <a:t>DELIVERABLE</a:t>
            </a:r>
          </a:p>
        </p:txBody>
      </p:sp>
      <p:sp>
        <p:nvSpPr>
          <p:cNvPr id="13" name="PoC template element 14 / 13"/>
          <p:cNvSpPr/>
          <p:nvPr/>
        </p:nvSpPr>
        <p:spPr>
          <a:xfrm>
            <a:off x="8113471" y="2606039"/>
            <a:ext cx="2408529" cy="21488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C template element 15 / 14"/>
          <p:cNvSpPr txBox="1"/>
          <p:nvPr/>
        </p:nvSpPr>
        <p:spPr>
          <a:xfrm>
            <a:off x="8122615" y="2620670"/>
            <a:ext cx="2390241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B2B2B"/>
                </a:solidFill>
                <a:latin typeface="Aptos"/>
              </a:rPr>
              <a:t>PLAN + FOUNDATIONS</a:t>
            </a:r>
          </a:p>
        </p:txBody>
      </p:sp>
      <p:sp>
        <p:nvSpPr>
          <p:cNvPr id="15" name="PoC template element 14 / 15"/>
          <p:cNvSpPr/>
          <p:nvPr/>
        </p:nvSpPr>
        <p:spPr>
          <a:xfrm>
            <a:off x="10545775" y="2606039"/>
            <a:ext cx="2408529" cy="21488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C template element 15 / 16"/>
          <p:cNvSpPr txBox="1"/>
          <p:nvPr/>
        </p:nvSpPr>
        <p:spPr>
          <a:xfrm>
            <a:off x="10554919" y="2620670"/>
            <a:ext cx="2390241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B2B2B"/>
                </a:solidFill>
                <a:latin typeface="Aptos"/>
              </a:rPr>
              <a:t>BUILD + ANALYSIS</a:t>
            </a:r>
          </a:p>
        </p:txBody>
      </p:sp>
      <p:sp>
        <p:nvSpPr>
          <p:cNvPr id="17" name="PoC template element 14 / 17"/>
          <p:cNvSpPr/>
          <p:nvPr/>
        </p:nvSpPr>
        <p:spPr>
          <a:xfrm>
            <a:off x="12978079" y="2606039"/>
            <a:ext cx="2408529" cy="21488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C template element 15 / 18"/>
          <p:cNvSpPr txBox="1"/>
          <p:nvPr/>
        </p:nvSpPr>
        <p:spPr>
          <a:xfrm>
            <a:off x="12987223" y="2620670"/>
            <a:ext cx="2390241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B2B2B"/>
                </a:solidFill>
                <a:latin typeface="Aptos"/>
              </a:rPr>
              <a:t>INTEGRATE + TEST</a:t>
            </a:r>
          </a:p>
        </p:txBody>
      </p:sp>
      <p:sp>
        <p:nvSpPr>
          <p:cNvPr id="19" name="PoC template element 14 / 19"/>
          <p:cNvSpPr/>
          <p:nvPr/>
        </p:nvSpPr>
        <p:spPr>
          <a:xfrm>
            <a:off x="15410383" y="2606039"/>
            <a:ext cx="2408529" cy="21488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C template element 15 / 20"/>
          <p:cNvSpPr txBox="1"/>
          <p:nvPr/>
        </p:nvSpPr>
        <p:spPr>
          <a:xfrm>
            <a:off x="15419527" y="2620670"/>
            <a:ext cx="2390241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B2B2B"/>
                </a:solidFill>
                <a:latin typeface="Aptos"/>
              </a:rPr>
              <a:t>PILOT + HANDOVER</a:t>
            </a:r>
          </a:p>
        </p:txBody>
      </p:sp>
      <p:sp>
        <p:nvSpPr>
          <p:cNvPr id="23" name="PoC template element 20 / 23"/>
          <p:cNvSpPr txBox="1"/>
          <p:nvPr/>
        </p:nvSpPr>
        <p:spPr>
          <a:xfrm>
            <a:off x="8101582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W1–4</a:t>
            </a:r>
          </a:p>
        </p:txBody>
      </p:sp>
      <p:sp>
        <p:nvSpPr>
          <p:cNvPr id="24" name="PoC template element 20 / 24"/>
          <p:cNvSpPr txBox="1"/>
          <p:nvPr/>
        </p:nvSpPr>
        <p:spPr>
          <a:xfrm>
            <a:off x="9317736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W5–8</a:t>
            </a:r>
          </a:p>
        </p:txBody>
      </p:sp>
      <p:sp>
        <p:nvSpPr>
          <p:cNvPr id="25" name="PoC template element 20 / 25"/>
          <p:cNvSpPr txBox="1"/>
          <p:nvPr/>
        </p:nvSpPr>
        <p:spPr>
          <a:xfrm>
            <a:off x="10533888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W9–12</a:t>
            </a:r>
          </a:p>
        </p:txBody>
      </p:sp>
      <p:sp>
        <p:nvSpPr>
          <p:cNvPr id="26" name="PoC template element 20 / 26"/>
          <p:cNvSpPr txBox="1"/>
          <p:nvPr/>
        </p:nvSpPr>
        <p:spPr>
          <a:xfrm>
            <a:off x="11750040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W13–16</a:t>
            </a:r>
          </a:p>
        </p:txBody>
      </p:sp>
      <p:sp>
        <p:nvSpPr>
          <p:cNvPr id="27" name="PoC template element 20 / 27"/>
          <p:cNvSpPr txBox="1"/>
          <p:nvPr/>
        </p:nvSpPr>
        <p:spPr>
          <a:xfrm>
            <a:off x="12966192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W17–20</a:t>
            </a:r>
          </a:p>
        </p:txBody>
      </p:sp>
      <p:sp>
        <p:nvSpPr>
          <p:cNvPr id="28" name="PoC template element 20 / 28"/>
          <p:cNvSpPr txBox="1"/>
          <p:nvPr/>
        </p:nvSpPr>
        <p:spPr>
          <a:xfrm>
            <a:off x="14182344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W21–24</a:t>
            </a:r>
          </a:p>
        </p:txBody>
      </p:sp>
      <p:sp>
        <p:nvSpPr>
          <p:cNvPr id="29" name="PoC template element 20 / 29"/>
          <p:cNvSpPr txBox="1"/>
          <p:nvPr/>
        </p:nvSpPr>
        <p:spPr>
          <a:xfrm>
            <a:off x="15398494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W25–28</a:t>
            </a:r>
          </a:p>
        </p:txBody>
      </p:sp>
      <p:sp>
        <p:nvSpPr>
          <p:cNvPr id="30" name="PoC template element 20 / 30"/>
          <p:cNvSpPr txBox="1"/>
          <p:nvPr/>
        </p:nvSpPr>
        <p:spPr>
          <a:xfrm>
            <a:off x="16614648" y="2862072"/>
            <a:ext cx="1216152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1717"/>
                </a:solidFill>
                <a:latin typeface="Aptos"/>
              </a:rPr>
              <a:t>W29–32</a:t>
            </a:r>
          </a:p>
        </p:txBody>
      </p:sp>
      <p:sp>
        <p:nvSpPr>
          <p:cNvPr id="31" name="PoC template element 26 / 31"/>
          <p:cNvSpPr/>
          <p:nvPr/>
        </p:nvSpPr>
        <p:spPr>
          <a:xfrm>
            <a:off x="8101582" y="3145536"/>
            <a:ext cx="1216152" cy="59253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PoC template element 27 / 32"/>
          <p:cNvCxnSpPr/>
          <p:nvPr/>
        </p:nvCxnSpPr>
        <p:spPr>
          <a:xfrm>
            <a:off x="8101582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oC template element 27 / 33"/>
          <p:cNvCxnSpPr/>
          <p:nvPr/>
        </p:nvCxnSpPr>
        <p:spPr>
          <a:xfrm>
            <a:off x="9317736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oC template element 26 / 34"/>
          <p:cNvSpPr/>
          <p:nvPr/>
        </p:nvSpPr>
        <p:spPr>
          <a:xfrm>
            <a:off x="10533888" y="3145536"/>
            <a:ext cx="1216152" cy="59253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PoC template element 27 / 35"/>
          <p:cNvCxnSpPr/>
          <p:nvPr/>
        </p:nvCxnSpPr>
        <p:spPr>
          <a:xfrm>
            <a:off x="10533888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oC template element 27 / 36"/>
          <p:cNvCxnSpPr/>
          <p:nvPr/>
        </p:nvCxnSpPr>
        <p:spPr>
          <a:xfrm>
            <a:off x="11750040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oC template element 26 / 37"/>
          <p:cNvSpPr/>
          <p:nvPr/>
        </p:nvSpPr>
        <p:spPr>
          <a:xfrm>
            <a:off x="12966192" y="3145536"/>
            <a:ext cx="1216152" cy="59253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PoC template element 27 / 38"/>
          <p:cNvCxnSpPr/>
          <p:nvPr/>
        </p:nvCxnSpPr>
        <p:spPr>
          <a:xfrm>
            <a:off x="12966192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oC template element 27 / 39"/>
          <p:cNvCxnSpPr/>
          <p:nvPr/>
        </p:nvCxnSpPr>
        <p:spPr>
          <a:xfrm>
            <a:off x="14182344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oC template element 26 / 40"/>
          <p:cNvSpPr/>
          <p:nvPr/>
        </p:nvSpPr>
        <p:spPr>
          <a:xfrm>
            <a:off x="15398494" y="3145536"/>
            <a:ext cx="1216152" cy="59253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PoC template element 27 / 41"/>
          <p:cNvCxnSpPr/>
          <p:nvPr/>
        </p:nvCxnSpPr>
        <p:spPr>
          <a:xfrm>
            <a:off x="15398494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oC template element 27 / 42"/>
          <p:cNvCxnSpPr/>
          <p:nvPr/>
        </p:nvCxnSpPr>
        <p:spPr>
          <a:xfrm>
            <a:off x="16614648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PoC template element 35 / 43"/>
          <p:cNvCxnSpPr/>
          <p:nvPr/>
        </p:nvCxnSpPr>
        <p:spPr>
          <a:xfrm>
            <a:off x="17830800" y="3145536"/>
            <a:ext cx="0" cy="5925312"/>
          </a:xfrm>
          <a:prstGeom prst="line">
            <a:avLst/>
          </a:prstGeom>
          <a:ln w="635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oC template element 36 / 44"/>
          <p:cNvCxnSpPr/>
          <p:nvPr/>
        </p:nvCxnSpPr>
        <p:spPr>
          <a:xfrm>
            <a:off x="9317736" y="3145536"/>
            <a:ext cx="0" cy="5925312"/>
          </a:xfrm>
          <a:prstGeom prst="line">
            <a:avLst/>
          </a:prstGeom>
          <a:ln w="1143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PoC template element 36 / 45"/>
          <p:cNvCxnSpPr/>
          <p:nvPr/>
        </p:nvCxnSpPr>
        <p:spPr>
          <a:xfrm>
            <a:off x="14182344" y="3145536"/>
            <a:ext cx="0" cy="5925312"/>
          </a:xfrm>
          <a:prstGeom prst="line">
            <a:avLst/>
          </a:prstGeom>
          <a:ln w="1143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PoC template element 36 / 46"/>
          <p:cNvCxnSpPr/>
          <p:nvPr/>
        </p:nvCxnSpPr>
        <p:spPr>
          <a:xfrm>
            <a:off x="15398494" y="3145536"/>
            <a:ext cx="0" cy="5925312"/>
          </a:xfrm>
          <a:prstGeom prst="line">
            <a:avLst/>
          </a:prstGeom>
          <a:ln w="1143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PoC template element 36 / 47"/>
          <p:cNvCxnSpPr/>
          <p:nvPr/>
        </p:nvCxnSpPr>
        <p:spPr>
          <a:xfrm>
            <a:off x="16614648" y="3145536"/>
            <a:ext cx="0" cy="5925312"/>
          </a:xfrm>
          <a:prstGeom prst="line">
            <a:avLst/>
          </a:prstGeom>
          <a:ln w="1143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PoC template element 36 / 48"/>
          <p:cNvCxnSpPr/>
          <p:nvPr/>
        </p:nvCxnSpPr>
        <p:spPr>
          <a:xfrm>
            <a:off x="17830800" y="3145536"/>
            <a:ext cx="0" cy="5925312"/>
          </a:xfrm>
          <a:prstGeom prst="line">
            <a:avLst/>
          </a:prstGeom>
          <a:ln w="11430">
            <a:solidFill>
              <a:srgbClr val="E1E1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PoC template element 147 / 161"/>
          <p:cNvSpPr txBox="1"/>
          <p:nvPr/>
        </p:nvSpPr>
        <p:spPr>
          <a:xfrm>
            <a:off x="438912" y="9198864"/>
            <a:ext cx="16459200" cy="182880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95400"/>
                </a:solidFill>
                <a:latin typeface="Aptos"/>
              </a:rPr>
              <a:t>CHECKPOINTS  |  FORMAL SIGN-OFF REQUIRED BEFORE EACH PHASE PROCEEDS</a:t>
            </a:r>
          </a:p>
        </p:txBody>
      </p:sp>
      <p:sp>
        <p:nvSpPr>
          <p:cNvPr id="162" name="PoC template element 148 / 162"/>
          <p:cNvSpPr/>
          <p:nvPr/>
        </p:nvSpPr>
        <p:spPr>
          <a:xfrm>
            <a:off x="438912" y="9464040"/>
            <a:ext cx="3394252" cy="56692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oC template element 149 / 163"/>
          <p:cNvSpPr/>
          <p:nvPr/>
        </p:nvSpPr>
        <p:spPr>
          <a:xfrm>
            <a:off x="438912" y="9464040"/>
            <a:ext cx="47548" cy="566928"/>
          </a:xfrm>
          <a:prstGeom prst="rect">
            <a:avLst/>
          </a:prstGeom>
          <a:solidFill>
            <a:srgbClr val="D9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oC template element 150 / 164"/>
          <p:cNvSpPr txBox="1"/>
          <p:nvPr/>
        </p:nvSpPr>
        <p:spPr>
          <a:xfrm>
            <a:off x="548640" y="9578339"/>
            <a:ext cx="3174796" cy="155448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D95400"/>
                </a:solidFill>
                <a:latin typeface="Aptos"/>
              </a:rPr>
              <a:t>W4 · SCOPE APPROVED</a:t>
            </a:r>
          </a:p>
        </p:txBody>
      </p:sp>
      <p:sp>
        <p:nvSpPr>
          <p:cNvPr id="165" name="PoC template element 151 / 165"/>
          <p:cNvSpPr txBox="1"/>
          <p:nvPr/>
        </p:nvSpPr>
        <p:spPr>
          <a:xfrm>
            <a:off x="548640" y="9770364"/>
            <a:ext cx="3174796" cy="164592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71717"/>
                </a:solidFill>
                <a:latin typeface="Aptos"/>
              </a:rPr>
              <a:t>Scope and standards approved</a:t>
            </a:r>
          </a:p>
        </p:txBody>
      </p:sp>
      <p:sp>
        <p:nvSpPr>
          <p:cNvPr id="167" name="PoC template element 148 / 167"/>
          <p:cNvSpPr/>
          <p:nvPr/>
        </p:nvSpPr>
        <p:spPr>
          <a:xfrm>
            <a:off x="3942892" y="9464040"/>
            <a:ext cx="3394252" cy="56692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PoC template element 149 / 168"/>
          <p:cNvSpPr/>
          <p:nvPr/>
        </p:nvSpPr>
        <p:spPr>
          <a:xfrm>
            <a:off x="3942892" y="9464040"/>
            <a:ext cx="47548" cy="566928"/>
          </a:xfrm>
          <a:prstGeom prst="rect">
            <a:avLst/>
          </a:prstGeom>
          <a:solidFill>
            <a:srgbClr val="D9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PoC template element 150 / 169"/>
          <p:cNvSpPr txBox="1"/>
          <p:nvPr/>
        </p:nvSpPr>
        <p:spPr>
          <a:xfrm>
            <a:off x="4052620" y="9578339"/>
            <a:ext cx="3174796" cy="155448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D95400"/>
                </a:solidFill>
                <a:latin typeface="Aptos"/>
              </a:rPr>
              <a:t>W20 · BUILD COMPLETE</a:t>
            </a:r>
          </a:p>
        </p:txBody>
      </p:sp>
      <p:sp>
        <p:nvSpPr>
          <p:cNvPr id="170" name="PoC template element 151 / 170"/>
          <p:cNvSpPr txBox="1"/>
          <p:nvPr/>
        </p:nvSpPr>
        <p:spPr>
          <a:xfrm>
            <a:off x="4052620" y="9770364"/>
            <a:ext cx="3174796" cy="164592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71717"/>
                </a:solidFill>
                <a:latin typeface="Aptos"/>
              </a:rPr>
              <a:t>End-to-end workflow validated</a:t>
            </a:r>
          </a:p>
        </p:txBody>
      </p:sp>
      <p:sp>
        <p:nvSpPr>
          <p:cNvPr id="172" name="PoC template element 148 / 172"/>
          <p:cNvSpPr/>
          <p:nvPr/>
        </p:nvSpPr>
        <p:spPr>
          <a:xfrm>
            <a:off x="7446873" y="9464040"/>
            <a:ext cx="3394252" cy="56692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PoC template element 149 / 173"/>
          <p:cNvSpPr/>
          <p:nvPr/>
        </p:nvSpPr>
        <p:spPr>
          <a:xfrm>
            <a:off x="7446873" y="9464040"/>
            <a:ext cx="47548" cy="566928"/>
          </a:xfrm>
          <a:prstGeom prst="rect">
            <a:avLst/>
          </a:prstGeom>
          <a:solidFill>
            <a:srgbClr val="D9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PoC template element 150 / 174"/>
          <p:cNvSpPr txBox="1"/>
          <p:nvPr/>
        </p:nvSpPr>
        <p:spPr>
          <a:xfrm>
            <a:off x="7556601" y="9578339"/>
            <a:ext cx="3174796" cy="155448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D95400"/>
                </a:solidFill>
                <a:latin typeface="Aptos"/>
              </a:rPr>
              <a:t>W24 · READY FOR PILOT</a:t>
            </a:r>
          </a:p>
        </p:txBody>
      </p:sp>
      <p:sp>
        <p:nvSpPr>
          <p:cNvPr id="175" name="PoC template element 151 / 175"/>
          <p:cNvSpPr txBox="1"/>
          <p:nvPr/>
        </p:nvSpPr>
        <p:spPr>
          <a:xfrm>
            <a:off x="7556601" y="9770364"/>
            <a:ext cx="3174796" cy="164592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71717"/>
                </a:solidFill>
                <a:latin typeface="Aptos"/>
              </a:rPr>
              <a:t>Regression and QC testing passed</a:t>
            </a:r>
          </a:p>
        </p:txBody>
      </p:sp>
      <p:sp>
        <p:nvSpPr>
          <p:cNvPr id="177" name="PoC template element 148 / 177"/>
          <p:cNvSpPr/>
          <p:nvPr/>
        </p:nvSpPr>
        <p:spPr>
          <a:xfrm>
            <a:off x="10950854" y="9464040"/>
            <a:ext cx="3394252" cy="56692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oC template element 149 / 178"/>
          <p:cNvSpPr/>
          <p:nvPr/>
        </p:nvSpPr>
        <p:spPr>
          <a:xfrm>
            <a:off x="10950854" y="9464040"/>
            <a:ext cx="47548" cy="566928"/>
          </a:xfrm>
          <a:prstGeom prst="rect">
            <a:avLst/>
          </a:prstGeom>
          <a:solidFill>
            <a:srgbClr val="D9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PoC template element 150 / 179"/>
          <p:cNvSpPr txBox="1"/>
          <p:nvPr/>
        </p:nvSpPr>
        <p:spPr>
          <a:xfrm>
            <a:off x="11060582" y="9578339"/>
            <a:ext cx="3174796" cy="155448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D95400"/>
                </a:solidFill>
                <a:latin typeface="Aptos"/>
              </a:rPr>
              <a:t>W28 · GO-LIVE</a:t>
            </a:r>
          </a:p>
        </p:txBody>
      </p:sp>
      <p:sp>
        <p:nvSpPr>
          <p:cNvPr id="180" name="PoC template element 151 / 180"/>
          <p:cNvSpPr txBox="1"/>
          <p:nvPr/>
        </p:nvSpPr>
        <p:spPr>
          <a:xfrm>
            <a:off x="11060582" y="9770364"/>
            <a:ext cx="3174796" cy="164592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71717"/>
                </a:solidFill>
                <a:latin typeface="Aptos"/>
              </a:rPr>
              <a:t>Pilot accepted; go-live approved</a:t>
            </a:r>
          </a:p>
        </p:txBody>
      </p:sp>
      <p:sp>
        <p:nvSpPr>
          <p:cNvPr id="182" name="PoC template element 148 / 182"/>
          <p:cNvSpPr/>
          <p:nvPr/>
        </p:nvSpPr>
        <p:spPr>
          <a:xfrm>
            <a:off x="14454835" y="9464040"/>
            <a:ext cx="3394252" cy="56692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PoC template element 149 / 183"/>
          <p:cNvSpPr/>
          <p:nvPr/>
        </p:nvSpPr>
        <p:spPr>
          <a:xfrm>
            <a:off x="14454835" y="9464040"/>
            <a:ext cx="47548" cy="566928"/>
          </a:xfrm>
          <a:prstGeom prst="rect">
            <a:avLst/>
          </a:prstGeom>
          <a:solidFill>
            <a:srgbClr val="D9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PoC template element 150 / 184"/>
          <p:cNvSpPr txBox="1"/>
          <p:nvPr/>
        </p:nvSpPr>
        <p:spPr>
          <a:xfrm>
            <a:off x="14564563" y="9578339"/>
            <a:ext cx="3174796" cy="155448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D95400"/>
                </a:solidFill>
                <a:latin typeface="Aptos"/>
              </a:rPr>
              <a:t>W32 · HANDOVER</a:t>
            </a:r>
          </a:p>
        </p:txBody>
      </p:sp>
      <p:sp>
        <p:nvSpPr>
          <p:cNvPr id="185" name="PoC template element 151 / 185"/>
          <p:cNvSpPr txBox="1"/>
          <p:nvPr/>
        </p:nvSpPr>
        <p:spPr>
          <a:xfrm>
            <a:off x="14564563" y="9770364"/>
            <a:ext cx="3174796" cy="164592"/>
          </a:xfrm>
          <a:prstGeom prst="rect">
            <a:avLst/>
          </a:prstGeom>
          <a:noFill/>
          <a:effectLst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71717"/>
                </a:solidFill>
                <a:latin typeface="Aptos"/>
              </a:rPr>
              <a:t>Service transitioned to support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38912" y="1554480"/>
            <a:ext cx="17410176" cy="329184"/>
          </a:xfrm>
          <a:prstGeom prst="rect">
            <a:avLst/>
          </a:prstGeom>
          <a:solidFill>
            <a:srgbClr val="FFF1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66928" y="155448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STARTING POINT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148840" y="1554480"/>
            <a:ext cx="1554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71717"/>
                </a:solidFill>
                <a:latin typeface="Aptos"/>
              </a:rPr>
              <a:t>In place today: the specification builder and a library of R analysis modules. This plan delivers the remaining components and integrates them end to end.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38912" y="1938528"/>
            <a:ext cx="17410176" cy="32918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66928" y="193852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DEPENDS ON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48840" y="1938528"/>
            <a:ext cx="1554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71717"/>
                </a:solidFill>
                <a:latin typeface="Aptos"/>
              </a:rPr>
              <a:t>OMOP CDM migration (in progress)  ·  Clinical definitions layer  ·  R runtime on Databricks  ·  AI governance approval  ·  Hosting and publishing environment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38912" y="3145536"/>
            <a:ext cx="17410176" cy="237744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38912" y="3145536"/>
            <a:ext cx="45720" cy="237744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48640" y="3177540"/>
            <a:ext cx="7415783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2B2B2B"/>
                </a:solidFill>
                <a:latin typeface="Aptos"/>
              </a:rPr>
              <a:t>A  SCIENTIFIC INTENT, DEFINITIONS &amp; DATA READINESS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21207" y="349300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87552" y="3465576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Researcher Portal &amp; Spec Builder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987552" y="3666744"/>
            <a:ext cx="4754880" cy="162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Governed intake and protocol-to-specification authoring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9354312" y="3561588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Diamond 244"/>
          <p:cNvSpPr/>
          <p:nvPr/>
        </p:nvSpPr>
        <p:spPr>
          <a:xfrm>
            <a:off x="11658600" y="3591306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438912" y="3904488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47" name="TextBox 246"/>
          <p:cNvSpPr txBox="1"/>
          <p:nvPr/>
        </p:nvSpPr>
        <p:spPr>
          <a:xfrm>
            <a:off x="521207" y="398678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F02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87552" y="3922776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Functional Contract Library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87552" y="411937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Versioned, schema-validated contracts encoding temporal logic, e.g. gaps, switch rules and combination windows for LOT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9354312" y="4082796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Diamond 251"/>
          <p:cNvSpPr/>
          <p:nvPr/>
        </p:nvSpPr>
        <p:spPr>
          <a:xfrm>
            <a:off x="11658600" y="4112514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>
            <a:off x="438912" y="4425696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54" name="TextBox 253"/>
          <p:cNvSpPr txBox="1"/>
          <p:nvPr/>
        </p:nvSpPr>
        <p:spPr>
          <a:xfrm>
            <a:off x="521207" y="4535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87552" y="4507992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Clinical Definitions Integration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87552" y="4709160"/>
            <a:ext cx="4754880" cy="162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Version-controlled concept sets and code lists per contract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0570464" y="4604004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Diamond 257"/>
          <p:cNvSpPr/>
          <p:nvPr/>
        </p:nvSpPr>
        <p:spPr>
          <a:xfrm>
            <a:off x="12874752" y="4633722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>
            <a:off x="438912" y="4946904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60" name="TextBox 259"/>
          <p:cNvSpPr txBox="1"/>
          <p:nvPr/>
        </p:nvSpPr>
        <p:spPr>
          <a:xfrm>
            <a:off x="521207" y="502920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987552" y="4965192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Data Source Mapping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87552" y="516636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Structured claims and EHR data, plus clinical notes via local clinical NLP, mapped to OMOP across therapeutic areas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0570464" y="5125212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Diamond 264"/>
          <p:cNvSpPr/>
          <p:nvPr/>
        </p:nvSpPr>
        <p:spPr>
          <a:xfrm>
            <a:off x="12874752" y="5154930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6" name="Connector 265"/>
          <p:cNvCxnSpPr/>
          <p:nvPr/>
        </p:nvCxnSpPr>
        <p:spPr>
          <a:xfrm>
            <a:off x="438912" y="5468112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67" name="Rectangle 266"/>
          <p:cNvSpPr/>
          <p:nvPr/>
        </p:nvSpPr>
        <p:spPr>
          <a:xfrm>
            <a:off x="438912" y="5468112"/>
            <a:ext cx="17410176" cy="237744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438912" y="5468112"/>
            <a:ext cx="45720" cy="237744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548640" y="5500116"/>
            <a:ext cx="7415783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2B2B2B"/>
                </a:solidFill>
                <a:latin typeface="Aptos"/>
              </a:rPr>
              <a:t>B  ANALYTICAL EXECUTION &amp; EVIDENCE OUTPUTS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21207" y="578815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87552" y="5724144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Analysis Dataset (ADS) Builder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87552" y="592074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Contract-driven ADS build compiling longitudinal patient timelines, treatment eras and lines of therapy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0570464" y="5884164"/>
            <a:ext cx="3575304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Diamond 274"/>
          <p:cNvSpPr/>
          <p:nvPr/>
        </p:nvSpPr>
        <p:spPr>
          <a:xfrm>
            <a:off x="14090904" y="5913882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438912" y="6227064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77" name="TextBox 276"/>
          <p:cNvSpPr txBox="1"/>
          <p:nvPr/>
        </p:nvSpPr>
        <p:spPr>
          <a:xfrm>
            <a:off x="521207" y="630936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F06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87552" y="6245352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Analysis Toolkit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87552" y="64465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Parameterized R modules using validated OHDSI packages to apply cohort rules: LOT-based index dates, attrition and line-level endpoints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1786616" y="6405372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Diamond 281"/>
          <p:cNvSpPr/>
          <p:nvPr/>
        </p:nvSpPr>
        <p:spPr>
          <a:xfrm>
            <a:off x="14090904" y="6435090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3" name="Connector 282"/>
          <p:cNvCxnSpPr/>
          <p:nvPr/>
        </p:nvCxnSpPr>
        <p:spPr>
          <a:xfrm>
            <a:off x="438912" y="6748272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84" name="TextBox 283"/>
          <p:cNvSpPr txBox="1"/>
          <p:nvPr/>
        </p:nvSpPr>
        <p:spPr>
          <a:xfrm>
            <a:off x="521207" y="685800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F07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987552" y="6830568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Tables, Figures &amp; Listings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87552" y="7031736"/>
            <a:ext cx="4754880" cy="162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Templated TFLs generated from model outputs and reconciled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11786616" y="6926580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Diamond 288"/>
          <p:cNvSpPr/>
          <p:nvPr/>
        </p:nvSpPr>
        <p:spPr>
          <a:xfrm>
            <a:off x="14090904" y="6956298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>
            <a:off x="438912" y="7269480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91" name="TextBox 290"/>
          <p:cNvSpPr txBox="1"/>
          <p:nvPr/>
        </p:nvSpPr>
        <p:spPr>
          <a:xfrm>
            <a:off x="521207" y="737920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5400"/>
                </a:solidFill>
                <a:latin typeface="Aptos"/>
              </a:rPr>
              <a:t>F08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87552" y="7351776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Feasibility &amp; Quality Dashboards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87552" y="7552944"/>
            <a:ext cx="4754880" cy="162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Cohort attrition, data completeness and treatment patterns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11786616" y="7447788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Diamond 294"/>
          <p:cNvSpPr/>
          <p:nvPr/>
        </p:nvSpPr>
        <p:spPr>
          <a:xfrm>
            <a:off x="14090904" y="7477506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>
            <a:off x="438912" y="7790688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297" name="Rectangle 296"/>
          <p:cNvSpPr/>
          <p:nvPr/>
        </p:nvSpPr>
        <p:spPr>
          <a:xfrm>
            <a:off x="438912" y="7790688"/>
            <a:ext cx="17410176" cy="237744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438912" y="7790688"/>
            <a:ext cx="45720" cy="237744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548640" y="7822692"/>
            <a:ext cx="7415783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2B2B2B"/>
                </a:solidFill>
                <a:latin typeface="Aptos"/>
              </a:rPr>
              <a:t>C  INDEPENDENT ASSURANCE &amp; OPERATIONAL READINESS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521207" y="813816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B2B2B"/>
                </a:solidFill>
                <a:latin typeface="Aptos"/>
              </a:rPr>
              <a:t>F09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987552" y="8110728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Independent Testing &amp; Release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987552" y="8311896"/>
            <a:ext cx="4754880" cy="162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Reference-data regression testing and controlled releases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11786616" y="8206740"/>
            <a:ext cx="3575304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Diamond 304"/>
          <p:cNvSpPr/>
          <p:nvPr/>
        </p:nvSpPr>
        <p:spPr>
          <a:xfrm>
            <a:off x="15307056" y="8236458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>
            <a:off x="438912" y="8549640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307" name="TextBox 306"/>
          <p:cNvSpPr txBox="1"/>
          <p:nvPr/>
        </p:nvSpPr>
        <p:spPr>
          <a:xfrm>
            <a:off x="521207" y="865936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B2B2B"/>
                </a:solidFill>
                <a:latin typeface="Aptos"/>
              </a:rPr>
              <a:t>F10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87552" y="8631936"/>
            <a:ext cx="475488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>
                <a:solidFill>
                  <a:srgbClr val="171717"/>
                </a:solidFill>
                <a:latin typeface="Aptos"/>
              </a:rPr>
              <a:t>Pilot, Training &amp; Handover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87552" y="8833104"/>
            <a:ext cx="4754880" cy="162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ptos"/>
              </a:rPr>
              <a:t>Controlled pilot, SOPs, training and transition to support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5435072" y="8727948"/>
            <a:ext cx="2359152" cy="164592"/>
          </a:xfrm>
          <a:prstGeom prst="rect">
            <a:avLst/>
          </a:prstGeom>
          <a:solidFill>
            <a:srgbClr val="D95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Diamond 310"/>
          <p:cNvSpPr/>
          <p:nvPr/>
        </p:nvSpPr>
        <p:spPr>
          <a:xfrm>
            <a:off x="17739360" y="8757666"/>
            <a:ext cx="109728" cy="105156"/>
          </a:xfrm>
          <a:prstGeom prst="diamond">
            <a:avLst/>
          </a:prstGeom>
          <a:solidFill>
            <a:srgbClr val="1717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>
            <a:off x="438912" y="9070848"/>
            <a:ext cx="17410176" cy="0"/>
          </a:xfrm>
          <a:prstGeom prst="line">
            <a:avLst/>
          </a:prstGeom>
          <a:ln w="6350">
            <a:solidFill>
              <a:srgbClr val="E1E1E1"/>
            </a:solidFill>
          </a:ln>
        </p:spPr>
      </p:cxnSp>
      <p:sp>
        <p:nvSpPr>
          <p:cNvPr id="313" name="TextBox 312"/>
          <p:cNvSpPr txBox="1"/>
          <p:nvPr/>
        </p:nvSpPr>
        <p:spPr>
          <a:xfrm>
            <a:off x="5870448" y="266090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D95400"/>
                </a:solidFill>
                <a:latin typeface="Aptos"/>
              </a:rPr>
              <a:t>AI ROLE  ·  HUMAN-APPROVED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852160" y="3419856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Maps protocol concepts (conditions, drugs, labs) to OMOP vocabularies (SNOMED, RxNorm, LOINC)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5852160" y="3941063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Converts plain-language rules into contract parameters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5852160" y="4462272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Validates concept sets against the definitions layer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5852160" y="49834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Proposes source mappings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5852160" y="5742432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Injects cohort parameters into standardized, pre-vetted PySpark SQL templates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5852160" y="6263639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Populates variables into strict, pre-built statistical R-module templates (e.g., Cox, PSM)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5852160" y="6784848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Drafts results narratives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852160" y="7306056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Flags data-quality anomalies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852160" y="8065008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Runs automated critic checks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852160" y="8586216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D95400"/>
                </a:solidFill>
                <a:latin typeface="Aptos"/>
              </a:rPr>
              <a:t>Drafts SOPs and user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RWDPlatform | Final Implementation Roadmap</dc:title>
  <dc:subject>Full product implementation in the original PoC slide template</dc:subject>
  <dc:creator>Onkar</dc:creator>
  <cp:keywords>MedCode, clinical coding, PoC, product, Gantt, knowledge graph, clinical workspace</cp:keywords>
  <dc:description>Formatting-only update of the final implementation plan; all dates are proposed.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