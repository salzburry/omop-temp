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1161C"/>
          </a:solidFill>
          <a:ln w="12700">
            <a:solidFill>
              <a:srgbClr val="11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50292"/>
          </a:xfrm>
          <a:prstGeom prst="rect">
            <a:avLst/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1161C"/>
          </a:solidFill>
          <a:ln w="12700">
            <a:solidFill>
              <a:srgbClr val="1116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79692"/>
            <a:ext cx="5943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GSK Real World Evidence | Data &amp; Analytics Platform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75120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75120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AI-Assisted Workflow for Protocols and RDQs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396728" y="201168"/>
            <a:ext cx="1234440" cy="265176"/>
          </a:xfrm>
          <a:prstGeom prst="roundRect">
            <a:avLst>
              <a:gd name="adj" fmla="val 17241"/>
            </a:avLst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51592" y="254203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STATE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governed pathway from scientific intent to reproducible, traceable study outputs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243584"/>
            <a:ext cx="1101852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6D2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67028"/>
            <a:ext cx="137160" cy="137160"/>
          </a:xfrm>
          <a:prstGeom prst="ellipse">
            <a:avLst/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31216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40" kern="0" dirty="0">
                <a:solidFill>
                  <a:srgbClr val="E64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INTELLIGENCE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932688" y="1449324"/>
            <a:ext cx="3169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intent • retrieve knowledge • map source context • draft implementation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39768" y="1316736"/>
            <a:ext cx="0" cy="246888"/>
          </a:xfrm>
          <a:prstGeom prst="line">
            <a:avLst/>
          </a:prstGeom>
          <a:noFill/>
          <a:ln w="12700">
            <a:solidFill>
              <a:srgbClr val="D6D2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4360" y="1367028"/>
            <a:ext cx="137160" cy="137160"/>
          </a:xfrm>
          <a:prstGeom prst="ellipse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5528" y="131216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40" kern="0" dirty="0">
                <a:solidFill>
                  <a:srgbClr val="2C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EXECUTION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605528" y="1449324"/>
            <a:ext cx="3169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specifications • source-bound assets • deterministic R / SQL modules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912608" y="1316736"/>
            <a:ext cx="0" cy="246888"/>
          </a:xfrm>
          <a:prstGeom prst="line">
            <a:avLst/>
          </a:prstGeom>
          <a:noFill/>
          <a:ln w="12700">
            <a:solidFill>
              <a:srgbClr val="D6D2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77200" y="1367028"/>
            <a:ext cx="137160" cy="137160"/>
          </a:xfrm>
          <a:prstGeom prst="ellipse">
            <a:avLst/>
          </a:prstGeom>
          <a:solidFill>
            <a:srgbClr val="146C67"/>
          </a:solidFill>
          <a:ln w="12700">
            <a:solidFill>
              <a:srgbClr val="146C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8368" y="131216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40" kern="0" dirty="0">
                <a:solidFill>
                  <a:srgbClr val="146C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ACCOUNTABLE GATES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8278368" y="1449324"/>
            <a:ext cx="3169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intent • analysis results • controlled release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23260" y="3090672"/>
            <a:ext cx="118872" cy="256032"/>
          </a:xfrm>
          <a:prstGeom prst="chevron">
            <a:avLst/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03036" y="3090672"/>
            <a:ext cx="118872" cy="256032"/>
          </a:xfrm>
          <a:prstGeom prst="chevron">
            <a:avLst/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82812" y="3090672"/>
            <a:ext cx="118872" cy="256032"/>
          </a:xfrm>
          <a:prstGeom prst="chevron">
            <a:avLst/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" y="1860804"/>
            <a:ext cx="2633472" cy="2971800"/>
          </a:xfrm>
          <a:prstGeom prst="roundRect">
            <a:avLst>
              <a:gd name="adj" fmla="val 2431"/>
            </a:avLst>
          </a:prstGeom>
          <a:solidFill>
            <a:srgbClr val="D9D5CF">
              <a:alpha val="58000"/>
            </a:srgbClr>
          </a:solidFill>
          <a:ln w="12700">
            <a:solidFill>
              <a:srgbClr val="D9D5C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1810512"/>
            <a:ext cx="2633472" cy="2971800"/>
          </a:xfrm>
          <a:prstGeom prst="roundRect">
            <a:avLst>
              <a:gd name="adj" fmla="val 2431"/>
            </a:avLst>
          </a:prstGeom>
          <a:solidFill>
            <a:srgbClr val="FFFFFF"/>
          </a:solidFill>
          <a:ln w="12700">
            <a:solidFill>
              <a:srgbClr val="D6D2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1810512"/>
            <a:ext cx="68580" cy="2971800"/>
          </a:xfrm>
          <a:prstGeom prst="rect">
            <a:avLst/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" y="1975104"/>
            <a:ext cx="356616" cy="356616"/>
          </a:xfrm>
          <a:prstGeom prst="ellipse">
            <a:avLst/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2043684"/>
            <a:ext cx="356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25296" y="199339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70" kern="0" dirty="0">
                <a:solidFill>
                  <a:srgbClr val="E64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768096" y="2414016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0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 &amp; Specify</a:t>
            </a:r>
            <a:endParaRPr lang="en-US" sz="1520" dirty="0"/>
          </a:p>
        </p:txBody>
      </p:sp>
      <p:sp>
        <p:nvSpPr>
          <p:cNvPr id="28" name="Shape 26"/>
          <p:cNvSpPr/>
          <p:nvPr/>
        </p:nvSpPr>
        <p:spPr>
          <a:xfrm>
            <a:off x="768096" y="2816352"/>
            <a:ext cx="2231136" cy="0"/>
          </a:xfrm>
          <a:prstGeom prst="line">
            <a:avLst/>
          </a:prstGeom>
          <a:noFill/>
          <a:ln w="17780">
            <a:solidFill>
              <a:srgbClr val="E64B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295351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 / SAP / RDQ</a:t>
            </a:r>
            <a:endParaRPr lang="en-US" sz="1010" dirty="0"/>
          </a:p>
        </p:txBody>
      </p:sp>
      <p:sp>
        <p:nvSpPr>
          <p:cNvPr id="30" name="Text 28"/>
          <p:cNvSpPr/>
          <p:nvPr/>
        </p:nvSpPr>
        <p:spPr>
          <a:xfrm>
            <a:off x="768096" y="318211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authoring, consistency checks and regulatory alignment.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68096" y="3712464"/>
            <a:ext cx="2231136" cy="0"/>
          </a:xfrm>
          <a:prstGeom prst="line">
            <a:avLst/>
          </a:prstGeom>
          <a:noFill/>
          <a:ln w="10160">
            <a:solidFill>
              <a:srgbClr val="D6D2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" y="381304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specification</a:t>
            </a:r>
            <a:endParaRPr lang="en-US" sz="1010" dirty="0"/>
          </a:p>
        </p:txBody>
      </p:sp>
      <p:sp>
        <p:nvSpPr>
          <p:cNvPr id="33" name="Text 31"/>
          <p:cNvSpPr/>
          <p:nvPr/>
        </p:nvSpPr>
        <p:spPr>
          <a:xfrm>
            <a:off x="768096" y="403250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Structured, version-controlled analytical contract derived from approved intent.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749808" y="4389120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B93B24"/>
          </a:solidFill>
          <a:ln w="12700">
            <a:solidFill>
              <a:srgbClr val="B93B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443984"/>
            <a:ext cx="212140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INTENT APPROVED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87852" y="1860804"/>
            <a:ext cx="2633472" cy="2971800"/>
          </a:xfrm>
          <a:prstGeom prst="roundRect">
            <a:avLst>
              <a:gd name="adj" fmla="val 2431"/>
            </a:avLst>
          </a:prstGeom>
          <a:solidFill>
            <a:srgbClr val="D9D5CF">
              <a:alpha val="58000"/>
            </a:srgbClr>
          </a:solidFill>
          <a:ln w="12700">
            <a:solidFill>
              <a:srgbClr val="D9D5C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46704" y="1810512"/>
            <a:ext cx="2633472" cy="2971800"/>
          </a:xfrm>
          <a:prstGeom prst="roundRect">
            <a:avLst>
              <a:gd name="adj" fmla="val 2431"/>
            </a:avLst>
          </a:prstGeom>
          <a:solidFill>
            <a:srgbClr val="FFFFFF"/>
          </a:solidFill>
          <a:ln w="12700">
            <a:solidFill>
              <a:srgbClr val="D6D2C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46704" y="1810512"/>
            <a:ext cx="68580" cy="2971800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47872" y="1975104"/>
            <a:ext cx="356616" cy="356616"/>
          </a:xfrm>
          <a:prstGeom prst="ellipse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47872" y="2043684"/>
            <a:ext cx="356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05072" y="199339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70" kern="0" dirty="0">
                <a:solidFill>
                  <a:srgbClr val="2C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3547872" y="2414016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0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&amp; Validate ADS</a:t>
            </a:r>
            <a:endParaRPr lang="en-US" sz="1520" dirty="0"/>
          </a:p>
        </p:txBody>
      </p:sp>
      <p:sp>
        <p:nvSpPr>
          <p:cNvPr id="43" name="Shape 41"/>
          <p:cNvSpPr/>
          <p:nvPr/>
        </p:nvSpPr>
        <p:spPr>
          <a:xfrm>
            <a:off x="3547872" y="2816352"/>
            <a:ext cx="2231136" cy="0"/>
          </a:xfrm>
          <a:prstGeom prst="line">
            <a:avLst/>
          </a:prstGeom>
          <a:noFill/>
          <a:ln w="17780">
            <a:solidFill>
              <a:srgbClr val="2C32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47872" y="295351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binding &amp; canonicalization</a:t>
            </a:r>
            <a:endParaRPr lang="en-US" sz="1010" dirty="0"/>
          </a:p>
        </p:txBody>
      </p:sp>
      <p:sp>
        <p:nvSpPr>
          <p:cNvPr id="45" name="Text 43"/>
          <p:cNvSpPr/>
          <p:nvPr/>
        </p:nvSpPr>
        <p:spPr>
          <a:xfrm>
            <a:off x="3547872" y="318211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Maps approved concepts to source tables, variables and reusable data products.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3547872" y="3712464"/>
            <a:ext cx="2231136" cy="0"/>
          </a:xfrm>
          <a:prstGeom prst="line">
            <a:avLst/>
          </a:prstGeom>
          <a:noFill/>
          <a:ln w="10160">
            <a:solidFill>
              <a:srgbClr val="D6D2C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47872" y="381304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ADS execution</a:t>
            </a:r>
            <a:endParaRPr lang="en-US" sz="1010" dirty="0"/>
          </a:p>
        </p:txBody>
      </p:sp>
      <p:sp>
        <p:nvSpPr>
          <p:cNvPr id="48" name="Text 46"/>
          <p:cNvSpPr/>
          <p:nvPr/>
        </p:nvSpPr>
        <p:spPr>
          <a:xfrm>
            <a:off x="3547872" y="403250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 / SQL modules execute the approved mapping; automated controls and independent QC verify the ADS.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3529584" y="4389120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02736" y="4443984"/>
            <a:ext cx="212140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DATA READY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67628" y="1860804"/>
            <a:ext cx="2633472" cy="2971800"/>
          </a:xfrm>
          <a:prstGeom prst="roundRect">
            <a:avLst>
              <a:gd name="adj" fmla="val 2431"/>
            </a:avLst>
          </a:prstGeom>
          <a:solidFill>
            <a:srgbClr val="D9D5CF">
              <a:alpha val="58000"/>
            </a:srgbClr>
          </a:solidFill>
          <a:ln w="12700">
            <a:solidFill>
              <a:srgbClr val="D9D5C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26480" y="1810512"/>
            <a:ext cx="2633472" cy="2971800"/>
          </a:xfrm>
          <a:prstGeom prst="roundRect">
            <a:avLst>
              <a:gd name="adj" fmla="val 2431"/>
            </a:avLst>
          </a:prstGeom>
          <a:solidFill>
            <a:srgbClr val="FFFFFF"/>
          </a:solidFill>
          <a:ln w="12700">
            <a:solidFill>
              <a:srgbClr val="D6D2C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26480" y="1810512"/>
            <a:ext cx="68580" cy="2971800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27648" y="1975104"/>
            <a:ext cx="356616" cy="356616"/>
          </a:xfrm>
          <a:prstGeom prst="ellipse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27648" y="2043684"/>
            <a:ext cx="356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784848" y="199339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70" kern="0" dirty="0">
                <a:solidFill>
                  <a:srgbClr val="2C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</a:t>
            </a:r>
            <a:endParaRPr lang="en-US" sz="860" dirty="0"/>
          </a:p>
        </p:txBody>
      </p:sp>
      <p:sp>
        <p:nvSpPr>
          <p:cNvPr id="57" name="Text 55"/>
          <p:cNvSpPr/>
          <p:nvPr/>
        </p:nvSpPr>
        <p:spPr>
          <a:xfrm>
            <a:off x="6327648" y="2414016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0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Analyse &amp; Validate</a:t>
            </a:r>
            <a:endParaRPr lang="en-US" sz="1520" dirty="0"/>
          </a:p>
        </p:txBody>
      </p:sp>
      <p:sp>
        <p:nvSpPr>
          <p:cNvPr id="58" name="Shape 56"/>
          <p:cNvSpPr/>
          <p:nvPr/>
        </p:nvSpPr>
        <p:spPr>
          <a:xfrm>
            <a:off x="6327648" y="2816352"/>
            <a:ext cx="2231136" cy="0"/>
          </a:xfrm>
          <a:prstGeom prst="line">
            <a:avLst/>
          </a:prstGeom>
          <a:noFill/>
          <a:ln w="17780">
            <a:solidFill>
              <a:srgbClr val="2C323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27648" y="295351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TLF creation</a:t>
            </a:r>
            <a:endParaRPr lang="en-US" sz="1010" dirty="0"/>
          </a:p>
        </p:txBody>
      </p:sp>
      <p:sp>
        <p:nvSpPr>
          <p:cNvPr id="60" name="Text 58"/>
          <p:cNvSpPr/>
          <p:nvPr/>
        </p:nvSpPr>
        <p:spPr>
          <a:xfrm>
            <a:off x="6327648" y="318211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analysis configuration from the approved ADS and standard analytical modules.</a:t>
            </a:r>
            <a:endParaRPr lang="en-US" sz="980" dirty="0"/>
          </a:p>
        </p:txBody>
      </p:sp>
      <p:sp>
        <p:nvSpPr>
          <p:cNvPr id="61" name="Shape 59"/>
          <p:cNvSpPr/>
          <p:nvPr/>
        </p:nvSpPr>
        <p:spPr>
          <a:xfrm>
            <a:off x="6327648" y="3712464"/>
            <a:ext cx="2231136" cy="0"/>
          </a:xfrm>
          <a:prstGeom prst="line">
            <a:avLst/>
          </a:prstGeom>
          <a:noFill/>
          <a:ln w="10160">
            <a:solidFill>
              <a:srgbClr val="D6D2C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27648" y="381304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TLF validation</a:t>
            </a:r>
            <a:endParaRPr lang="en-US" sz="1010" dirty="0"/>
          </a:p>
        </p:txBody>
      </p:sp>
      <p:sp>
        <p:nvSpPr>
          <p:cNvPr id="63" name="Text 61"/>
          <p:cNvSpPr/>
          <p:nvPr/>
        </p:nvSpPr>
        <p:spPr>
          <a:xfrm>
            <a:off x="6327648" y="403250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Reconciliation, statistical review and study-specific output QC.</a:t>
            </a:r>
            <a:endParaRPr lang="en-US" sz="960" dirty="0"/>
          </a:p>
        </p:txBody>
      </p:sp>
      <p:sp>
        <p:nvSpPr>
          <p:cNvPr id="64" name="Shape 62"/>
          <p:cNvSpPr/>
          <p:nvPr/>
        </p:nvSpPr>
        <p:spPr>
          <a:xfrm>
            <a:off x="6309360" y="4389120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82512" y="4443984"/>
            <a:ext cx="212140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APPROVED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947404" y="1860804"/>
            <a:ext cx="2633472" cy="2971800"/>
          </a:xfrm>
          <a:prstGeom prst="roundRect">
            <a:avLst>
              <a:gd name="adj" fmla="val 2431"/>
            </a:avLst>
          </a:prstGeom>
          <a:solidFill>
            <a:srgbClr val="D9D5CF">
              <a:alpha val="58000"/>
            </a:srgbClr>
          </a:solidFill>
          <a:ln w="12700">
            <a:solidFill>
              <a:srgbClr val="D9D5C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06256" y="1810512"/>
            <a:ext cx="2633472" cy="2971800"/>
          </a:xfrm>
          <a:prstGeom prst="roundRect">
            <a:avLst>
              <a:gd name="adj" fmla="val 2431"/>
            </a:avLst>
          </a:prstGeom>
          <a:solidFill>
            <a:srgbClr val="FFFFFF"/>
          </a:solidFill>
          <a:ln w="12700">
            <a:solidFill>
              <a:srgbClr val="D6D2C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906256" y="1810512"/>
            <a:ext cx="68580" cy="2971800"/>
          </a:xfrm>
          <a:prstGeom prst="rect">
            <a:avLst/>
          </a:prstGeom>
          <a:solidFill>
            <a:srgbClr val="146C67"/>
          </a:solidFill>
          <a:ln w="12700">
            <a:solidFill>
              <a:srgbClr val="146C6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107424" y="1975104"/>
            <a:ext cx="356616" cy="356616"/>
          </a:xfrm>
          <a:prstGeom prst="ellipse">
            <a:avLst/>
          </a:prstGeom>
          <a:solidFill>
            <a:srgbClr val="146C67"/>
          </a:solidFill>
          <a:ln w="12700">
            <a:solidFill>
              <a:srgbClr val="146C6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07424" y="2043684"/>
            <a:ext cx="356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564624" y="199339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70" kern="0" dirty="0">
                <a:solidFill>
                  <a:srgbClr val="146C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</a:t>
            </a:r>
            <a:endParaRPr lang="en-US" sz="860" dirty="0"/>
          </a:p>
        </p:txBody>
      </p:sp>
      <p:sp>
        <p:nvSpPr>
          <p:cNvPr id="72" name="Text 70"/>
          <p:cNvSpPr/>
          <p:nvPr/>
        </p:nvSpPr>
        <p:spPr>
          <a:xfrm>
            <a:off x="9107424" y="2414016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0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Communicate &amp; Release</a:t>
            </a:r>
            <a:endParaRPr lang="en-US" sz="1520" dirty="0"/>
          </a:p>
        </p:txBody>
      </p:sp>
      <p:sp>
        <p:nvSpPr>
          <p:cNvPr id="73" name="Shape 71"/>
          <p:cNvSpPr/>
          <p:nvPr/>
        </p:nvSpPr>
        <p:spPr>
          <a:xfrm>
            <a:off x="9107424" y="2816352"/>
            <a:ext cx="2231136" cy="0"/>
          </a:xfrm>
          <a:prstGeom prst="line">
            <a:avLst/>
          </a:prstGeom>
          <a:noFill/>
          <a:ln w="17780">
            <a:solidFill>
              <a:srgbClr val="146C6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107424" y="295351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drafting</a:t>
            </a:r>
            <a:endParaRPr lang="en-US" sz="1010" dirty="0"/>
          </a:p>
        </p:txBody>
      </p:sp>
      <p:sp>
        <p:nvSpPr>
          <p:cNvPr id="75" name="Text 73"/>
          <p:cNvSpPr/>
          <p:nvPr/>
        </p:nvSpPr>
        <p:spPr>
          <a:xfrm>
            <a:off x="9107424" y="318211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narrative draft grounded only in approved results, with automated numerical reconciliation.</a:t>
            </a:r>
            <a:endParaRPr lang="en-US" sz="980" dirty="0"/>
          </a:p>
        </p:txBody>
      </p:sp>
      <p:sp>
        <p:nvSpPr>
          <p:cNvPr id="76" name="Shape 74"/>
          <p:cNvSpPr/>
          <p:nvPr/>
        </p:nvSpPr>
        <p:spPr>
          <a:xfrm>
            <a:off x="9107424" y="3712464"/>
            <a:ext cx="2231136" cy="0"/>
          </a:xfrm>
          <a:prstGeom prst="line">
            <a:avLst/>
          </a:prstGeom>
          <a:noFill/>
          <a:ln w="10160">
            <a:solidFill>
              <a:srgbClr val="D6D2C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107424" y="381304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approval</a:t>
            </a:r>
            <a:endParaRPr lang="en-US" sz="1010" dirty="0"/>
          </a:p>
        </p:txBody>
      </p:sp>
      <p:sp>
        <p:nvSpPr>
          <p:cNvPr id="78" name="Text 76"/>
          <p:cNvSpPr/>
          <p:nvPr/>
        </p:nvSpPr>
        <p:spPr>
          <a:xfrm>
            <a:off x="9107424" y="403250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Medical/scientific review and controlled release with full result lineage.</a:t>
            </a:r>
            <a:endParaRPr lang="en-US" sz="960" dirty="0"/>
          </a:p>
        </p:txBody>
      </p:sp>
      <p:sp>
        <p:nvSpPr>
          <p:cNvPr id="79" name="Shape 77"/>
          <p:cNvSpPr/>
          <p:nvPr/>
        </p:nvSpPr>
        <p:spPr>
          <a:xfrm>
            <a:off x="9089136" y="4389120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146C67"/>
          </a:solidFill>
          <a:ln w="12700">
            <a:solidFill>
              <a:srgbClr val="146C6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162288" y="4443984"/>
            <a:ext cx="212140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APPROVED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66928" y="4956048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50" kern="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— reusable assets compound across studies</a:t>
            </a:r>
            <a:endParaRPr lang="en-US" sz="880" dirty="0"/>
          </a:p>
        </p:txBody>
      </p:sp>
      <p:sp>
        <p:nvSpPr>
          <p:cNvPr id="82" name="Shape 80"/>
          <p:cNvSpPr/>
          <p:nvPr/>
        </p:nvSpPr>
        <p:spPr>
          <a:xfrm>
            <a:off x="566928" y="5202936"/>
            <a:ext cx="11018520" cy="310896"/>
          </a:xfrm>
          <a:prstGeom prst="roundRect">
            <a:avLst>
              <a:gd name="adj" fmla="val 11765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66928" y="5202936"/>
            <a:ext cx="73152" cy="310896"/>
          </a:xfrm>
          <a:prstGeom prst="rect">
            <a:avLst/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68096" y="52715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E64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KNOWLEDGE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2633472" y="5266944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clinical concepts, code lists and analytical specifications</a:t>
            </a:r>
            <a:endParaRPr lang="en-US" sz="920" dirty="0"/>
          </a:p>
        </p:txBody>
      </p:sp>
      <p:sp>
        <p:nvSpPr>
          <p:cNvPr id="86" name="Shape 84"/>
          <p:cNvSpPr/>
          <p:nvPr/>
        </p:nvSpPr>
        <p:spPr>
          <a:xfrm>
            <a:off x="566928" y="5577840"/>
            <a:ext cx="11018520" cy="310896"/>
          </a:xfrm>
          <a:prstGeom prst="roundRect">
            <a:avLst>
              <a:gd name="adj" fmla="val 11765"/>
            </a:avLst>
          </a:prstGeom>
          <a:solidFill>
            <a:srgbClr val="E4F1EF"/>
          </a:solidFill>
          <a:ln w="12700">
            <a:solidFill>
              <a:srgbClr val="E4F1E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66928" y="5577840"/>
            <a:ext cx="73152" cy="310896"/>
          </a:xfrm>
          <a:prstGeom prst="rect">
            <a:avLst/>
          </a:prstGeom>
          <a:solidFill>
            <a:srgbClr val="146C67"/>
          </a:solidFill>
          <a:ln w="12700">
            <a:solidFill>
              <a:srgbClr val="146C6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68096" y="5646420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46C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EXECUTION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2633472" y="5641848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mappings • data products / ADS patterns • validated R / SQL and analytical modules</a:t>
            </a:r>
            <a:endParaRPr lang="en-US" sz="920" dirty="0"/>
          </a:p>
        </p:txBody>
      </p:sp>
      <p:sp>
        <p:nvSpPr>
          <p:cNvPr id="90" name="Shape 88"/>
          <p:cNvSpPr/>
          <p:nvPr/>
        </p:nvSpPr>
        <p:spPr>
          <a:xfrm>
            <a:off x="566928" y="5952744"/>
            <a:ext cx="11018520" cy="310896"/>
          </a:xfrm>
          <a:prstGeom prst="roundRect">
            <a:avLst>
              <a:gd name="adj" fmla="val 11765"/>
            </a:avLst>
          </a:prstGeom>
          <a:solidFill>
            <a:srgbClr val="E9EDF0"/>
          </a:solidFill>
          <a:ln w="12700">
            <a:solidFill>
              <a:srgbClr val="E9ED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66928" y="5952744"/>
            <a:ext cx="73152" cy="310896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68096" y="6021324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C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DATA FOUNDATION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2633472" y="6016752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CDM • source metadata • governed mappings • longitudinal patient context</a:t>
            </a:r>
            <a:endParaRPr lang="en-US" sz="920" dirty="0"/>
          </a:p>
        </p:txBody>
      </p:sp>
      <p:sp>
        <p:nvSpPr>
          <p:cNvPr id="94" name="Shape 92"/>
          <p:cNvSpPr/>
          <p:nvPr/>
        </p:nvSpPr>
        <p:spPr>
          <a:xfrm>
            <a:off x="566928" y="6345936"/>
            <a:ext cx="11018520" cy="219456"/>
          </a:xfrm>
          <a:prstGeom prst="roundRect">
            <a:avLst>
              <a:gd name="adj" fmla="val 16667"/>
            </a:avLst>
          </a:prstGeom>
          <a:solidFill>
            <a:srgbClr val="11161C"/>
          </a:solidFill>
          <a:ln w="12700">
            <a:solidFill>
              <a:srgbClr val="11161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49808" y="6400800"/>
            <a:ext cx="10652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&amp; CONTROL ACROSS EVERY STAGE  •  EXPLAINABLE  •  AUDITABLE  •  REPRODUCIBLE  •  PRIVACY &amp; SECURITY  •  LINEAGE &amp; APPROVALS</a:t>
            </a:r>
            <a:endParaRPr lang="en-US" sz="8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75120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AI-Assisted Workflow for Clinical Code List Generation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396728" y="201168"/>
            <a:ext cx="1234440" cy="265176"/>
          </a:xfrm>
          <a:prstGeom prst="roundRect">
            <a:avLst>
              <a:gd name="adj" fmla="val 17241"/>
            </a:avLst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51592" y="254203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STATE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clinical intent to an explainable, versioned and reusable clinical concept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243584"/>
            <a:ext cx="1101852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6D2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67028"/>
            <a:ext cx="137160" cy="137160"/>
          </a:xfrm>
          <a:prstGeom prst="ellipse">
            <a:avLst/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31216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40" kern="0" dirty="0">
                <a:solidFill>
                  <a:srgbClr val="E64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KNOWLEDGE ENGINE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932688" y="1449324"/>
            <a:ext cx="3169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• synonym expansion • hierarchy traversal • cross-vocabulary mapping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39768" y="1316736"/>
            <a:ext cx="0" cy="246888"/>
          </a:xfrm>
          <a:prstGeom prst="line">
            <a:avLst/>
          </a:prstGeom>
          <a:noFill/>
          <a:ln w="12700">
            <a:solidFill>
              <a:srgbClr val="D6D2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4360" y="1367028"/>
            <a:ext cx="137160" cy="137160"/>
          </a:xfrm>
          <a:prstGeom prst="ellipse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5528" y="131216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40" kern="0" dirty="0">
                <a:solidFill>
                  <a:srgbClr val="2C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ADJUDICATION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605528" y="1449324"/>
            <a:ext cx="3169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meaning • inclusion / exclusion • fitness for purpose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912608" y="1316736"/>
            <a:ext cx="0" cy="246888"/>
          </a:xfrm>
          <a:prstGeom prst="line">
            <a:avLst/>
          </a:prstGeom>
          <a:noFill/>
          <a:ln w="12700">
            <a:solidFill>
              <a:srgbClr val="D6D2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77200" y="1367028"/>
            <a:ext cx="137160" cy="137160"/>
          </a:xfrm>
          <a:prstGeom prst="ellipse">
            <a:avLst/>
          </a:prstGeom>
          <a:solidFill>
            <a:srgbClr val="146C67"/>
          </a:solidFill>
          <a:ln w="12700">
            <a:solidFill>
              <a:srgbClr val="146C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8368" y="131216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40" kern="0" dirty="0">
                <a:solidFill>
                  <a:srgbClr val="146C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ASSETS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8278368" y="1449324"/>
            <a:ext cx="3169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concepts, mappings and evidence are versioned and reused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23260" y="3090672"/>
            <a:ext cx="118872" cy="256032"/>
          </a:xfrm>
          <a:prstGeom prst="chevron">
            <a:avLst/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03036" y="3090672"/>
            <a:ext cx="118872" cy="256032"/>
          </a:xfrm>
          <a:prstGeom prst="chevron">
            <a:avLst/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82812" y="3090672"/>
            <a:ext cx="118872" cy="256032"/>
          </a:xfrm>
          <a:prstGeom prst="chevron">
            <a:avLst/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" y="1860804"/>
            <a:ext cx="2633472" cy="2971800"/>
          </a:xfrm>
          <a:prstGeom prst="roundRect">
            <a:avLst>
              <a:gd name="adj" fmla="val 2431"/>
            </a:avLst>
          </a:prstGeom>
          <a:solidFill>
            <a:srgbClr val="D9D5CF">
              <a:alpha val="58000"/>
            </a:srgbClr>
          </a:solidFill>
          <a:ln w="12700">
            <a:solidFill>
              <a:srgbClr val="D9D5C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1810512"/>
            <a:ext cx="2633472" cy="2971800"/>
          </a:xfrm>
          <a:prstGeom prst="roundRect">
            <a:avLst>
              <a:gd name="adj" fmla="val 2431"/>
            </a:avLst>
          </a:prstGeom>
          <a:solidFill>
            <a:srgbClr val="FFFFFF"/>
          </a:solidFill>
          <a:ln w="12700">
            <a:solidFill>
              <a:srgbClr val="D6D2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1810512"/>
            <a:ext cx="68580" cy="2971800"/>
          </a:xfrm>
          <a:prstGeom prst="rect">
            <a:avLst/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" y="1975104"/>
            <a:ext cx="356616" cy="356616"/>
          </a:xfrm>
          <a:prstGeom prst="ellipse">
            <a:avLst/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2043684"/>
            <a:ext cx="356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25296" y="199339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70" kern="0" dirty="0">
                <a:solidFill>
                  <a:srgbClr val="E64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768096" y="2414016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0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 Clinical Intent</a:t>
            </a:r>
            <a:endParaRPr lang="en-US" sz="1520" dirty="0"/>
          </a:p>
        </p:txBody>
      </p:sp>
      <p:sp>
        <p:nvSpPr>
          <p:cNvPr id="28" name="Shape 26"/>
          <p:cNvSpPr/>
          <p:nvPr/>
        </p:nvSpPr>
        <p:spPr>
          <a:xfrm>
            <a:off x="768096" y="2816352"/>
            <a:ext cx="2231136" cy="0"/>
          </a:xfrm>
          <a:prstGeom prst="line">
            <a:avLst/>
          </a:prstGeom>
          <a:noFill/>
          <a:ln w="17780">
            <a:solidFill>
              <a:srgbClr val="E64B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295351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request</a:t>
            </a:r>
            <a:endParaRPr lang="en-US" sz="1010" dirty="0"/>
          </a:p>
        </p:txBody>
      </p:sp>
      <p:sp>
        <p:nvSpPr>
          <p:cNvPr id="30" name="Text 28"/>
          <p:cNvSpPr/>
          <p:nvPr/>
        </p:nvSpPr>
        <p:spPr>
          <a:xfrm>
            <a:off x="768096" y="318211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Requestor defines purpose, population, vocabulary and target RWD source.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68096" y="3712464"/>
            <a:ext cx="2231136" cy="0"/>
          </a:xfrm>
          <a:prstGeom prst="line">
            <a:avLst/>
          </a:prstGeom>
          <a:noFill/>
          <a:ln w="10160">
            <a:solidFill>
              <a:srgbClr val="D6D2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" y="381304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and boundaries</a:t>
            </a:r>
            <a:endParaRPr lang="en-US" sz="1010" dirty="0"/>
          </a:p>
        </p:txBody>
      </p:sp>
      <p:sp>
        <p:nvSpPr>
          <p:cNvPr id="33" name="Text 31"/>
          <p:cNvSpPr/>
          <p:nvPr/>
        </p:nvSpPr>
        <p:spPr>
          <a:xfrm>
            <a:off x="768096" y="403250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Inclusions, exclusions, evidence rules and intended use.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749808" y="4389120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B93B24"/>
          </a:solidFill>
          <a:ln w="12700">
            <a:solidFill>
              <a:srgbClr val="B93B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443984"/>
            <a:ext cx="212140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DEFINITION APPROVED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87852" y="1860804"/>
            <a:ext cx="2633472" cy="2971800"/>
          </a:xfrm>
          <a:prstGeom prst="roundRect">
            <a:avLst>
              <a:gd name="adj" fmla="val 2431"/>
            </a:avLst>
          </a:prstGeom>
          <a:solidFill>
            <a:srgbClr val="D9D5CF">
              <a:alpha val="58000"/>
            </a:srgbClr>
          </a:solidFill>
          <a:ln w="12700">
            <a:solidFill>
              <a:srgbClr val="D9D5C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46704" y="1810512"/>
            <a:ext cx="2633472" cy="2971800"/>
          </a:xfrm>
          <a:prstGeom prst="roundRect">
            <a:avLst>
              <a:gd name="adj" fmla="val 2431"/>
            </a:avLst>
          </a:prstGeom>
          <a:solidFill>
            <a:srgbClr val="FFFFFF"/>
          </a:solidFill>
          <a:ln w="12700">
            <a:solidFill>
              <a:srgbClr val="D6D2C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46704" y="1810512"/>
            <a:ext cx="68580" cy="2971800"/>
          </a:xfrm>
          <a:prstGeom prst="rect">
            <a:avLst/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47872" y="1975104"/>
            <a:ext cx="356616" cy="356616"/>
          </a:xfrm>
          <a:prstGeom prst="ellipse">
            <a:avLst/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47872" y="2043684"/>
            <a:ext cx="356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05072" y="199339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70" kern="0" dirty="0">
                <a:solidFill>
                  <a:srgbClr val="E64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3547872" y="2414016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0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Retrieve &amp; Expand</a:t>
            </a:r>
            <a:endParaRPr lang="en-US" sz="1520" dirty="0"/>
          </a:p>
        </p:txBody>
      </p:sp>
      <p:sp>
        <p:nvSpPr>
          <p:cNvPr id="43" name="Shape 41"/>
          <p:cNvSpPr/>
          <p:nvPr/>
        </p:nvSpPr>
        <p:spPr>
          <a:xfrm>
            <a:off x="3547872" y="2816352"/>
            <a:ext cx="2231136" cy="0"/>
          </a:xfrm>
          <a:prstGeom prst="line">
            <a:avLst/>
          </a:prstGeom>
          <a:noFill/>
          <a:ln w="17780">
            <a:solidFill>
              <a:srgbClr val="E64B2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47872" y="295351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retrieval</a:t>
            </a:r>
            <a:endParaRPr lang="en-US" sz="1010" dirty="0"/>
          </a:p>
        </p:txBody>
      </p:sp>
      <p:sp>
        <p:nvSpPr>
          <p:cNvPr id="45" name="Text 43"/>
          <p:cNvSpPr/>
          <p:nvPr/>
        </p:nvSpPr>
        <p:spPr>
          <a:xfrm>
            <a:off x="3547872" y="318211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9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internal concepts plus medical terminologies, custom ontologies and source mappings.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3547872" y="3712464"/>
            <a:ext cx="2231136" cy="0"/>
          </a:xfrm>
          <a:prstGeom prst="line">
            <a:avLst/>
          </a:prstGeom>
          <a:noFill/>
          <a:ln w="10160">
            <a:solidFill>
              <a:srgbClr val="D6D2C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47872" y="381304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normalization</a:t>
            </a:r>
            <a:endParaRPr lang="en-US" sz="1010" dirty="0"/>
          </a:p>
        </p:txBody>
      </p:sp>
      <p:sp>
        <p:nvSpPr>
          <p:cNvPr id="48" name="Text 46"/>
          <p:cNvSpPr/>
          <p:nvPr/>
        </p:nvSpPr>
        <p:spPr>
          <a:xfrm>
            <a:off x="3547872" y="403250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Resolves synonyms, hierarchies and cross-vocabulary mappings into one canonical candidate concept.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3529584" y="4389120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B93B24"/>
          </a:solidFill>
          <a:ln w="12700">
            <a:solidFill>
              <a:srgbClr val="B93B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02736" y="4443984"/>
            <a:ext cx="212140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SET READY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67628" y="1860804"/>
            <a:ext cx="2633472" cy="2971800"/>
          </a:xfrm>
          <a:prstGeom prst="roundRect">
            <a:avLst>
              <a:gd name="adj" fmla="val 2431"/>
            </a:avLst>
          </a:prstGeom>
          <a:solidFill>
            <a:srgbClr val="D9D5CF">
              <a:alpha val="58000"/>
            </a:srgbClr>
          </a:solidFill>
          <a:ln w="12700">
            <a:solidFill>
              <a:srgbClr val="D9D5C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26480" y="1810512"/>
            <a:ext cx="2633472" cy="2971800"/>
          </a:xfrm>
          <a:prstGeom prst="roundRect">
            <a:avLst>
              <a:gd name="adj" fmla="val 2431"/>
            </a:avLst>
          </a:prstGeom>
          <a:solidFill>
            <a:srgbClr val="FFFFFF"/>
          </a:solidFill>
          <a:ln w="12700">
            <a:solidFill>
              <a:srgbClr val="D6D2C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26480" y="1810512"/>
            <a:ext cx="68580" cy="2971800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27648" y="1975104"/>
            <a:ext cx="356616" cy="356616"/>
          </a:xfrm>
          <a:prstGeom prst="ellipse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27648" y="2043684"/>
            <a:ext cx="356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784848" y="199339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70" kern="0" dirty="0">
                <a:solidFill>
                  <a:srgbClr val="2C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860" dirty="0"/>
          </a:p>
        </p:txBody>
      </p:sp>
      <p:sp>
        <p:nvSpPr>
          <p:cNvPr id="57" name="Text 55"/>
          <p:cNvSpPr/>
          <p:nvPr/>
        </p:nvSpPr>
        <p:spPr>
          <a:xfrm>
            <a:off x="6327648" y="2414016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0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Adjudicate &amp; Validate</a:t>
            </a:r>
            <a:endParaRPr lang="en-US" sz="1520" dirty="0"/>
          </a:p>
        </p:txBody>
      </p:sp>
      <p:sp>
        <p:nvSpPr>
          <p:cNvPr id="58" name="Shape 56"/>
          <p:cNvSpPr/>
          <p:nvPr/>
        </p:nvSpPr>
        <p:spPr>
          <a:xfrm>
            <a:off x="6327648" y="2816352"/>
            <a:ext cx="2231136" cy="0"/>
          </a:xfrm>
          <a:prstGeom prst="line">
            <a:avLst/>
          </a:prstGeom>
          <a:noFill/>
          <a:ln w="17780">
            <a:solidFill>
              <a:srgbClr val="2C323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27648" y="295351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coder review</a:t>
            </a:r>
            <a:endParaRPr lang="en-US" sz="1010" dirty="0"/>
          </a:p>
        </p:txBody>
      </p:sp>
      <p:sp>
        <p:nvSpPr>
          <p:cNvPr id="60" name="Text 58"/>
          <p:cNvSpPr/>
          <p:nvPr/>
        </p:nvSpPr>
        <p:spPr>
          <a:xfrm>
            <a:off x="6327648" y="318211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inclusion/exclusion decisions with iterative AI refinement.</a:t>
            </a:r>
            <a:endParaRPr lang="en-US" sz="980" dirty="0"/>
          </a:p>
        </p:txBody>
      </p:sp>
      <p:sp>
        <p:nvSpPr>
          <p:cNvPr id="61" name="Shape 59"/>
          <p:cNvSpPr/>
          <p:nvPr/>
        </p:nvSpPr>
        <p:spPr>
          <a:xfrm>
            <a:off x="6327648" y="3712464"/>
            <a:ext cx="2231136" cy="0"/>
          </a:xfrm>
          <a:prstGeom prst="line">
            <a:avLst/>
          </a:prstGeom>
          <a:noFill/>
          <a:ln w="10160">
            <a:solidFill>
              <a:srgbClr val="D6D2C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27648" y="381304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Empirical source validation</a:t>
            </a:r>
            <a:endParaRPr lang="en-US" sz="1010" dirty="0"/>
          </a:p>
        </p:txBody>
      </p:sp>
      <p:sp>
        <p:nvSpPr>
          <p:cNvPr id="63" name="Text 61"/>
          <p:cNvSpPr/>
          <p:nvPr/>
        </p:nvSpPr>
        <p:spPr>
          <a:xfrm>
            <a:off x="6327648" y="403250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coverage, unmapped or zero-hit codes, dominance and target-source fit.</a:t>
            </a:r>
            <a:endParaRPr lang="en-US" sz="960" dirty="0"/>
          </a:p>
        </p:txBody>
      </p:sp>
      <p:sp>
        <p:nvSpPr>
          <p:cNvPr id="64" name="Shape 62"/>
          <p:cNvSpPr/>
          <p:nvPr/>
        </p:nvSpPr>
        <p:spPr>
          <a:xfrm>
            <a:off x="6309360" y="4389120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82512" y="4443984"/>
            <a:ext cx="212140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&amp; DATA VALIDATED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947404" y="1860804"/>
            <a:ext cx="2633472" cy="2971800"/>
          </a:xfrm>
          <a:prstGeom prst="roundRect">
            <a:avLst>
              <a:gd name="adj" fmla="val 2431"/>
            </a:avLst>
          </a:prstGeom>
          <a:solidFill>
            <a:srgbClr val="D9D5CF">
              <a:alpha val="58000"/>
            </a:srgbClr>
          </a:solidFill>
          <a:ln w="12700">
            <a:solidFill>
              <a:srgbClr val="D9D5C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06256" y="1810512"/>
            <a:ext cx="2633472" cy="2971800"/>
          </a:xfrm>
          <a:prstGeom prst="roundRect">
            <a:avLst>
              <a:gd name="adj" fmla="val 2431"/>
            </a:avLst>
          </a:prstGeom>
          <a:solidFill>
            <a:srgbClr val="FFFFFF"/>
          </a:solidFill>
          <a:ln w="12700">
            <a:solidFill>
              <a:srgbClr val="D6D2C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906256" y="1810512"/>
            <a:ext cx="68580" cy="2971800"/>
          </a:xfrm>
          <a:prstGeom prst="rect">
            <a:avLst/>
          </a:prstGeom>
          <a:solidFill>
            <a:srgbClr val="146C67"/>
          </a:solidFill>
          <a:ln w="12700">
            <a:solidFill>
              <a:srgbClr val="146C6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107424" y="1975104"/>
            <a:ext cx="356616" cy="356616"/>
          </a:xfrm>
          <a:prstGeom prst="ellipse">
            <a:avLst/>
          </a:prstGeom>
          <a:solidFill>
            <a:srgbClr val="146C67"/>
          </a:solidFill>
          <a:ln w="12700">
            <a:solidFill>
              <a:srgbClr val="146C6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07424" y="2043684"/>
            <a:ext cx="356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564624" y="199339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70" kern="0" dirty="0">
                <a:solidFill>
                  <a:srgbClr val="146C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</a:t>
            </a:r>
            <a:endParaRPr lang="en-US" sz="860" dirty="0"/>
          </a:p>
        </p:txBody>
      </p:sp>
      <p:sp>
        <p:nvSpPr>
          <p:cNvPr id="72" name="Text 70"/>
          <p:cNvSpPr/>
          <p:nvPr/>
        </p:nvSpPr>
        <p:spPr>
          <a:xfrm>
            <a:off x="9107424" y="2414016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0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 &amp; Publish</a:t>
            </a:r>
            <a:endParaRPr lang="en-US" sz="1520" dirty="0"/>
          </a:p>
        </p:txBody>
      </p:sp>
      <p:sp>
        <p:nvSpPr>
          <p:cNvPr id="73" name="Shape 71"/>
          <p:cNvSpPr/>
          <p:nvPr/>
        </p:nvSpPr>
        <p:spPr>
          <a:xfrm>
            <a:off x="9107424" y="2816352"/>
            <a:ext cx="2231136" cy="0"/>
          </a:xfrm>
          <a:prstGeom prst="line">
            <a:avLst/>
          </a:prstGeom>
          <a:noFill/>
          <a:ln w="17780">
            <a:solidFill>
              <a:srgbClr val="146C6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107424" y="295351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Requestor approval</a:t>
            </a:r>
            <a:endParaRPr lang="en-US" sz="1010" dirty="0"/>
          </a:p>
        </p:txBody>
      </p:sp>
      <p:sp>
        <p:nvSpPr>
          <p:cNvPr id="75" name="Text 73"/>
          <p:cNvSpPr/>
          <p:nvPr/>
        </p:nvSpPr>
        <p:spPr>
          <a:xfrm>
            <a:off x="9107424" y="318211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owner confirms fitness for purpose and intended use.</a:t>
            </a:r>
            <a:endParaRPr lang="en-US" sz="980" dirty="0"/>
          </a:p>
        </p:txBody>
      </p:sp>
      <p:sp>
        <p:nvSpPr>
          <p:cNvPr id="76" name="Shape 74"/>
          <p:cNvSpPr/>
          <p:nvPr/>
        </p:nvSpPr>
        <p:spPr>
          <a:xfrm>
            <a:off x="9107424" y="3712464"/>
            <a:ext cx="2231136" cy="0"/>
          </a:xfrm>
          <a:prstGeom prst="line">
            <a:avLst/>
          </a:prstGeom>
          <a:noFill/>
          <a:ln w="10160">
            <a:solidFill>
              <a:srgbClr val="D6D2C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107424" y="381304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clinical concept</a:t>
            </a:r>
            <a:endParaRPr lang="en-US" sz="1010" dirty="0"/>
          </a:p>
        </p:txBody>
      </p:sp>
      <p:sp>
        <p:nvSpPr>
          <p:cNvPr id="78" name="Text 76"/>
          <p:cNvSpPr/>
          <p:nvPr/>
        </p:nvSpPr>
        <p:spPr>
          <a:xfrm>
            <a:off x="9107424" y="403250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9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and reusable with evidence, source mappings and validation status.</a:t>
            </a:r>
            <a:endParaRPr lang="en-US" sz="960" dirty="0"/>
          </a:p>
        </p:txBody>
      </p:sp>
      <p:sp>
        <p:nvSpPr>
          <p:cNvPr id="79" name="Shape 77"/>
          <p:cNvSpPr/>
          <p:nvPr/>
        </p:nvSpPr>
        <p:spPr>
          <a:xfrm>
            <a:off x="9089136" y="4389120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146C67"/>
          </a:solidFill>
          <a:ln w="12700">
            <a:solidFill>
              <a:srgbClr val="146C6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162288" y="4443984"/>
            <a:ext cx="212140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SET RELEASED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434840" y="1682496"/>
            <a:ext cx="3712464" cy="228600"/>
          </a:xfrm>
          <a:prstGeom prst="roundRect">
            <a:avLst>
              <a:gd name="adj" fmla="val 16000"/>
            </a:avLst>
          </a:prstGeom>
          <a:solidFill>
            <a:srgbClr val="F7F6F3"/>
          </a:solidFill>
          <a:ln w="8890">
            <a:solidFill>
              <a:srgbClr val="D6D2C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53712" y="17419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ITERATIVE AI–EXPERT REFINEMENT UNTIL CLINICALLY SATISFACTORY</a:t>
            </a:r>
            <a:endParaRPr lang="en-US" sz="780" dirty="0"/>
          </a:p>
        </p:txBody>
      </p:sp>
      <p:sp>
        <p:nvSpPr>
          <p:cNvPr id="83" name="Text 81"/>
          <p:cNvSpPr/>
          <p:nvPr/>
        </p:nvSpPr>
        <p:spPr>
          <a:xfrm>
            <a:off x="566928" y="4956048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50" kern="0" dirty="0">
                <a:solidFill>
                  <a:srgbClr val="5F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— reusable assets compound across studies</a:t>
            </a:r>
            <a:endParaRPr lang="en-US" sz="880" dirty="0"/>
          </a:p>
        </p:txBody>
      </p:sp>
      <p:sp>
        <p:nvSpPr>
          <p:cNvPr id="84" name="Shape 82"/>
          <p:cNvSpPr/>
          <p:nvPr/>
        </p:nvSpPr>
        <p:spPr>
          <a:xfrm>
            <a:off x="566928" y="5202936"/>
            <a:ext cx="11018520" cy="310896"/>
          </a:xfrm>
          <a:prstGeom prst="roundRect">
            <a:avLst>
              <a:gd name="adj" fmla="val 11765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66928" y="5202936"/>
            <a:ext cx="73152" cy="310896"/>
          </a:xfrm>
          <a:prstGeom prst="rect">
            <a:avLst/>
          </a:prstGeom>
          <a:solidFill>
            <a:srgbClr val="E64B2F"/>
          </a:solidFill>
          <a:ln w="12700">
            <a:solidFill>
              <a:srgbClr val="E64B2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68096" y="52715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E64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SOURCES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2633472" y="5266944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internal code sets • medical terminologies • custom ontologies</a:t>
            </a:r>
            <a:endParaRPr lang="en-US" sz="920" dirty="0"/>
          </a:p>
        </p:txBody>
      </p:sp>
      <p:sp>
        <p:nvSpPr>
          <p:cNvPr id="88" name="Shape 86"/>
          <p:cNvSpPr/>
          <p:nvPr/>
        </p:nvSpPr>
        <p:spPr>
          <a:xfrm>
            <a:off x="566928" y="5577840"/>
            <a:ext cx="11018520" cy="310896"/>
          </a:xfrm>
          <a:prstGeom prst="roundRect">
            <a:avLst>
              <a:gd name="adj" fmla="val 11765"/>
            </a:avLst>
          </a:prstGeom>
          <a:solidFill>
            <a:srgbClr val="E4F1EF"/>
          </a:solidFill>
          <a:ln w="12700">
            <a:solidFill>
              <a:srgbClr val="E4F1E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66928" y="5577840"/>
            <a:ext cx="73152" cy="310896"/>
          </a:xfrm>
          <a:prstGeom prst="rect">
            <a:avLst/>
          </a:prstGeom>
          <a:solidFill>
            <a:srgbClr val="146C67"/>
          </a:solidFill>
          <a:ln w="12700">
            <a:solidFill>
              <a:srgbClr val="146C67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68096" y="5646420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46C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CONCEPT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2633472" y="5641848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Synonyms • hierarchy • cross-vocabulary mappings • evidence and rationale</a:t>
            </a:r>
            <a:endParaRPr lang="en-US" sz="920" dirty="0"/>
          </a:p>
        </p:txBody>
      </p:sp>
      <p:sp>
        <p:nvSpPr>
          <p:cNvPr id="92" name="Shape 90"/>
          <p:cNvSpPr/>
          <p:nvPr/>
        </p:nvSpPr>
        <p:spPr>
          <a:xfrm>
            <a:off x="566928" y="5952744"/>
            <a:ext cx="11018520" cy="310896"/>
          </a:xfrm>
          <a:prstGeom prst="roundRect">
            <a:avLst>
              <a:gd name="adj" fmla="val 11765"/>
            </a:avLst>
          </a:prstGeom>
          <a:solidFill>
            <a:srgbClr val="E9EDF0"/>
          </a:solidFill>
          <a:ln w="12700">
            <a:solidFill>
              <a:srgbClr val="E9ED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66928" y="5952744"/>
            <a:ext cx="73152" cy="310896"/>
          </a:xfrm>
          <a:prstGeom prst="rect">
            <a:avLst/>
          </a:prstGeom>
          <a:solidFill>
            <a:srgbClr val="2C3238"/>
          </a:solidFill>
          <a:ln w="12700">
            <a:solidFill>
              <a:srgbClr val="2C323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68096" y="6021324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C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DOWNSTREAM REUSE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2633472" y="6016752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Cohorts • exposures • outcomes • covariates • future studies</a:t>
            </a:r>
            <a:endParaRPr lang="en-US" sz="920" dirty="0"/>
          </a:p>
        </p:txBody>
      </p:sp>
      <p:sp>
        <p:nvSpPr>
          <p:cNvPr id="96" name="Shape 94"/>
          <p:cNvSpPr/>
          <p:nvPr/>
        </p:nvSpPr>
        <p:spPr>
          <a:xfrm>
            <a:off x="566928" y="6345936"/>
            <a:ext cx="11018520" cy="219456"/>
          </a:xfrm>
          <a:prstGeom prst="roundRect">
            <a:avLst>
              <a:gd name="adj" fmla="val 16667"/>
            </a:avLst>
          </a:prstGeom>
          <a:solidFill>
            <a:srgbClr val="11161C"/>
          </a:solidFill>
          <a:ln w="12700">
            <a:solidFill>
              <a:srgbClr val="11161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49808" y="6400800"/>
            <a:ext cx="10652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&amp; CONTROL  •  EXPLAINABILITY  •  VERSIONING  •  EVIDENCE  •  AUDITABILITY  •  PRIVACY &amp; SECURITY  •  RETRIEVAL / MODEL PROVENANCE</a:t>
            </a:r>
            <a:endParaRPr lang="en-US" sz="8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75120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GSK Real World Evidence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RWE Workflows</dc:title>
  <dc:subject>AI Roadmap workflow slides for LT review</dc:subject>
  <dc:creator>OpenAI</dc:creator>
  <cp:lastModifiedBy>OpenAI</cp:lastModifiedBy>
  <cp:revision>1</cp:revision>
  <dcterms:created xsi:type="dcterms:W3CDTF">2026-08-31T10:18:22Z</dcterms:created>
  <dcterms:modified xsi:type="dcterms:W3CDTF">2026-08-31T10:18:22Z</dcterms:modified>
</cp:coreProperties>
</file>