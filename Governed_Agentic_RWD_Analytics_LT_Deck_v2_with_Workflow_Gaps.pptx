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8BEA7-FF03-4274-B689-7BAAC95281E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ACAB1-34FA-4193-B254-D62DA948C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7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ACAB1-34FA-4193-B254-D62DA948C3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4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57C00"/>
                </a:solidFill>
                <a:latin typeface="Inter"/>
              </a:rPr>
              <a:t>AI ROADMAP | CURRENT-STATE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50" b="1">
                <a:solidFill>
                  <a:srgbClr val="16314A"/>
                </a:solidFill>
                <a:latin typeface="Inter"/>
              </a:rPr>
              <a:t>Where today’s gaps emerge across the RWD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A8F"/>
                </a:solidFill>
                <a:latin typeface="Inter"/>
              </a:rPr>
              <a:t>QC is documented in the Excel workbook. The key problem is keeping scientific intent, QC requirements, source mappings, code and released outputs on the same controlled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51392" y="201168"/>
            <a:ext cx="2816352" cy="29260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FFD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51976" y="254203"/>
            <a:ext cx="2615184" cy="1463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80" b="1">
                <a:solidFill>
                  <a:srgbClr val="F57C00"/>
                </a:solidFill>
                <a:latin typeface="Inter"/>
              </a:rPr>
              <a:t>QC EXISTS  •  VERSION ALIGNMENT IS THE GAP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58568" y="1975104"/>
            <a:ext cx="64007" cy="0"/>
          </a:xfrm>
          <a:prstGeom prst="line">
            <a:avLst/>
          </a:prstGeom>
          <a:ln w="15240">
            <a:solidFill>
              <a:srgbClr val="A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2295144" y="1892807"/>
            <a:ext cx="100584" cy="164592"/>
          </a:xfrm>
          <a:prstGeom prst="chevron">
            <a:avLst/>
          </a:prstGeom>
          <a:solidFill>
            <a:srgbClr val="A8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" y="1554480"/>
            <a:ext cx="1819656" cy="822960"/>
          </a:xfrm>
          <a:prstGeom prst="roundRect">
            <a:avLst/>
          </a:prstGeom>
          <a:solidFill>
            <a:srgbClr val="ECF4FF"/>
          </a:solidFill>
          <a:ln w="1524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1554480"/>
            <a:ext cx="1819656" cy="5943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30352" y="1700784"/>
            <a:ext cx="310896" cy="3108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SCIENTIFIC
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Protocol • SAP • RDQ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48740" y="2377440"/>
            <a:ext cx="0" cy="210312"/>
          </a:xfrm>
          <a:prstGeom prst="line">
            <a:avLst/>
          </a:prstGeom>
          <a:ln w="1143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912" y="2633472"/>
            <a:ext cx="1819656" cy="2039112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72384"/>
            <a:ext cx="1443122" cy="3477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0" b="1" dirty="0">
                <a:solidFill>
                  <a:srgbClr val="16314A"/>
                </a:solidFill>
                <a:latin typeface="Inter"/>
              </a:rPr>
              <a:t>Interpretation &amp; decision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1" y="3483864"/>
            <a:ext cx="1571276" cy="4300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 dirty="0">
                <a:solidFill>
                  <a:srgbClr val="203549"/>
                </a:solidFill>
                <a:latin typeface="Inter"/>
              </a:rPr>
              <a:t>• Ambiguities resolved in meetings, email or memory
• Rationale is difficult to reuse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15384" y="1975104"/>
            <a:ext cx="64008" cy="0"/>
          </a:xfrm>
          <a:prstGeom prst="line">
            <a:avLst/>
          </a:prstGeom>
          <a:ln w="15240">
            <a:solidFill>
              <a:srgbClr val="A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4251960" y="1892807"/>
            <a:ext cx="100584" cy="164592"/>
          </a:xfrm>
          <a:prstGeom prst="chevron">
            <a:avLst/>
          </a:prstGeom>
          <a:solidFill>
            <a:srgbClr val="A8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395728" y="1554480"/>
            <a:ext cx="1819656" cy="822960"/>
          </a:xfrm>
          <a:prstGeom prst="roundRect">
            <a:avLst/>
          </a:prstGeom>
          <a:solidFill>
            <a:srgbClr val="F0EDFF"/>
          </a:solidFill>
          <a:ln w="1524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95728" y="1554480"/>
            <a:ext cx="1819656" cy="5943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487168" y="1700784"/>
            <a:ext cx="310896" cy="310896"/>
          </a:xfrm>
          <a:prstGeom prst="ellipse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1216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SPECIFICATION +
QC WORKBOOK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Excel specification / QC sheet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05556" y="2377440"/>
            <a:ext cx="0" cy="210312"/>
          </a:xfrm>
          <a:prstGeom prst="line">
            <a:avLst/>
          </a:prstGeom>
          <a:ln w="11430">
            <a:solidFill>
              <a:srgbClr val="6C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23160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395728" y="2633472"/>
            <a:ext cx="1819656" cy="2039112"/>
          </a:xfrm>
          <a:prstGeom prst="roundRect">
            <a:avLst/>
          </a:prstGeom>
          <a:solidFill>
            <a:srgbClr val="FAF8FF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505456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10028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5456" y="3072384"/>
            <a:ext cx="160020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0" b="1">
                <a:solidFill>
                  <a:srgbClr val="16314A"/>
                </a:solidFill>
                <a:latin typeface="Inter"/>
              </a:rPr>
              <a:t>Version and change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3417596"/>
            <a:ext cx="1593541" cy="5625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>
                <a:solidFill>
                  <a:srgbClr val="203549"/>
                </a:solidFill>
                <a:latin typeface="Inter"/>
              </a:rPr>
              <a:t>• Detailed QC exists, but workbook copies can diverge
• Changes do not automatically propagate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72200" y="1975104"/>
            <a:ext cx="64008" cy="0"/>
          </a:xfrm>
          <a:prstGeom prst="line">
            <a:avLst/>
          </a:prstGeom>
          <a:ln w="15240">
            <a:solidFill>
              <a:srgbClr val="A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6208776" y="1892807"/>
            <a:ext cx="100584" cy="164592"/>
          </a:xfrm>
          <a:prstGeom prst="chevron">
            <a:avLst/>
          </a:prstGeom>
          <a:solidFill>
            <a:srgbClr val="A8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52544" y="1554480"/>
            <a:ext cx="1819656" cy="822960"/>
          </a:xfrm>
          <a:prstGeom prst="roundRect">
            <a:avLst/>
          </a:prstGeom>
          <a:solidFill>
            <a:srgbClr val="E9F8F6"/>
          </a:solidFill>
          <a:ln w="15240">
            <a:solidFill>
              <a:srgbClr val="009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52544" y="1554480"/>
            <a:ext cx="1819656" cy="59436"/>
          </a:xfrm>
          <a:prstGeom prst="rect">
            <a:avLst/>
          </a:prstGeom>
          <a:solidFill>
            <a:srgbClr val="00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443983" y="1700784"/>
            <a:ext cx="310896" cy="310896"/>
          </a:xfrm>
          <a:prstGeom prst="ellipse">
            <a:avLst/>
          </a:prstGeom>
          <a:solidFill>
            <a:srgbClr val="009E93"/>
          </a:solidFill>
          <a:ln>
            <a:solidFill>
              <a:srgbClr val="009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43983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1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SOURCE &amp;
MAPPING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1416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Dictionary • schema • profiling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62372" y="2377440"/>
            <a:ext cx="0" cy="210312"/>
          </a:xfrm>
          <a:prstGeom prst="line">
            <a:avLst/>
          </a:prstGeom>
          <a:ln w="11430">
            <a:solidFill>
              <a:srgbClr val="009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379976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352544" y="2633472"/>
            <a:ext cx="1819656" cy="2039112"/>
          </a:xfrm>
          <a:prstGeom prst="roundRect">
            <a:avLst/>
          </a:prstGeom>
          <a:solidFill>
            <a:srgbClr val="F6FCFB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462272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6844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3072384"/>
            <a:ext cx="160020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0" b="1">
                <a:solidFill>
                  <a:srgbClr val="16314A"/>
                </a:solidFill>
                <a:latin typeface="Inter"/>
              </a:rPr>
              <a:t>Source variability &amp; semantics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62273" y="3417596"/>
            <a:ext cx="1400582" cy="5625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>
                <a:solidFill>
                  <a:srgbClr val="203549"/>
                </a:solidFill>
                <a:latin typeface="Inter"/>
              </a:rPr>
              <a:t>• Tables and variables differ by source / refresh
• Equivalence relies on manual judgement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29016" y="1975104"/>
            <a:ext cx="64008" cy="0"/>
          </a:xfrm>
          <a:prstGeom prst="line">
            <a:avLst/>
          </a:prstGeom>
          <a:ln w="15240">
            <a:solidFill>
              <a:srgbClr val="A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hevron 52"/>
          <p:cNvSpPr/>
          <p:nvPr/>
        </p:nvSpPr>
        <p:spPr>
          <a:xfrm>
            <a:off x="8165592" y="1892807"/>
            <a:ext cx="100584" cy="164592"/>
          </a:xfrm>
          <a:prstGeom prst="chevron">
            <a:avLst/>
          </a:prstGeom>
          <a:solidFill>
            <a:srgbClr val="A8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309360" y="1554480"/>
            <a:ext cx="1819656" cy="822960"/>
          </a:xfrm>
          <a:prstGeom prst="roundRect">
            <a:avLst/>
          </a:prstGeom>
          <a:solidFill>
            <a:srgbClr val="FFF5EB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09360" y="1554480"/>
            <a:ext cx="1819656" cy="5943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400800" y="1700784"/>
            <a:ext cx="310896" cy="310896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84848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BUILD / ADS &amp;
TLF CREATION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8232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R / Python implementation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19188" y="2377440"/>
            <a:ext cx="0" cy="210312"/>
          </a:xfrm>
          <a:prstGeom prst="line">
            <a:avLst/>
          </a:prstGeom>
          <a:ln w="1143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336792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309360" y="2633472"/>
            <a:ext cx="1819656" cy="2039112"/>
          </a:xfrm>
          <a:prstGeom prst="roundRect">
            <a:avLst/>
          </a:prstGeom>
          <a:solidFill>
            <a:srgbClr val="FFFAF4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419088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23660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3072384"/>
            <a:ext cx="160020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0" b="1">
                <a:solidFill>
                  <a:srgbClr val="16314A"/>
                </a:solidFill>
                <a:latin typeface="Inter"/>
              </a:rPr>
              <a:t>Manual translation &amp; low reuse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417596"/>
            <a:ext cx="1525687" cy="5625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 dirty="0">
                <a:solidFill>
                  <a:srgbClr val="203549"/>
                </a:solidFill>
                <a:latin typeface="Inter"/>
              </a:rPr>
              <a:t>• Spec and QC requirements are re-keyed into code
• Similar variables can be built differently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085832" y="1975104"/>
            <a:ext cx="64008" cy="0"/>
          </a:xfrm>
          <a:prstGeom prst="line">
            <a:avLst/>
          </a:prstGeom>
          <a:ln w="15240">
            <a:solidFill>
              <a:srgbClr val="A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hevron 67"/>
          <p:cNvSpPr/>
          <p:nvPr/>
        </p:nvSpPr>
        <p:spPr>
          <a:xfrm>
            <a:off x="10122408" y="1892807"/>
            <a:ext cx="100584" cy="164592"/>
          </a:xfrm>
          <a:prstGeom prst="chevron">
            <a:avLst/>
          </a:prstGeom>
          <a:solidFill>
            <a:srgbClr val="A8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266176" y="1554480"/>
            <a:ext cx="1819656" cy="822960"/>
          </a:xfrm>
          <a:prstGeom prst="roundRect">
            <a:avLst/>
          </a:prstGeom>
          <a:solidFill>
            <a:srgbClr val="ECF4FF"/>
          </a:solidFill>
          <a:ln w="1524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266176" y="1554480"/>
            <a:ext cx="1819656" cy="5943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357616" y="1700784"/>
            <a:ext cx="310896" cy="310896"/>
          </a:xfrm>
          <a:prstGeom prst="ellipse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57616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41664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QC &amp;
VALIDATION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85048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Independent QC • reconciliation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76004" y="2377440"/>
            <a:ext cx="0" cy="210312"/>
          </a:xfrm>
          <a:prstGeom prst="line">
            <a:avLst/>
          </a:prstGeom>
          <a:ln w="1143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293608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8266176" y="2633472"/>
            <a:ext cx="1819656" cy="2039112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75904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80476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75904" y="3072384"/>
            <a:ext cx="160020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0" b="1">
                <a:solidFill>
                  <a:srgbClr val="16314A"/>
                </a:solidFill>
                <a:latin typeface="Inter"/>
              </a:rPr>
              <a:t>QC / build misalignment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5905" y="3417596"/>
            <a:ext cx="1571276" cy="5625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>
                <a:solidFill>
                  <a:srgbClr val="203549"/>
                </a:solidFill>
                <a:latin typeface="Inter"/>
              </a:rPr>
              <a:t>• QC code is maintained separately from build logic
• Revision mismatch and late defects remain possible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222992" y="1554480"/>
            <a:ext cx="1819656" cy="822960"/>
          </a:xfrm>
          <a:prstGeom prst="roundRect">
            <a:avLst/>
          </a:prstGeom>
          <a:solidFill>
            <a:srgbClr val="E9F8F6"/>
          </a:solidFill>
          <a:ln w="15240">
            <a:solidFill>
              <a:srgbClr val="009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222992" y="1554480"/>
            <a:ext cx="1819656" cy="59436"/>
          </a:xfrm>
          <a:prstGeom prst="rect">
            <a:avLst/>
          </a:prstGeom>
          <a:solidFill>
            <a:srgbClr val="00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314432" y="1700784"/>
            <a:ext cx="310896" cy="310896"/>
          </a:xfrm>
          <a:prstGeom prst="ellipse">
            <a:avLst/>
          </a:prstGeom>
          <a:solidFill>
            <a:srgbClr val="009E93"/>
          </a:solidFill>
          <a:ln>
            <a:solidFill>
              <a:srgbClr val="009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314432" y="1732788"/>
            <a:ext cx="310896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1664207"/>
            <a:ext cx="1261872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10" b="1">
                <a:solidFill>
                  <a:srgbClr val="16314A"/>
                </a:solidFill>
                <a:latin typeface="Inter"/>
              </a:rPr>
              <a:t>RELEASE &amp;
REFRESH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41864" y="2157984"/>
            <a:ext cx="1581912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40" b="0">
                <a:solidFill>
                  <a:srgbClr val="667A8F"/>
                </a:solidFill>
                <a:latin typeface="Inter"/>
              </a:rPr>
              <a:t>Outputs • evidence • next cut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1132820" y="2377440"/>
            <a:ext cx="0" cy="210312"/>
          </a:xfrm>
          <a:prstGeom prst="line">
            <a:avLst/>
          </a:prstGeom>
          <a:ln w="11430">
            <a:solidFill>
              <a:srgbClr val="009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10250424" y="2670048"/>
            <a:ext cx="1819656" cy="2039112"/>
          </a:xfrm>
          <a:prstGeom prst="roundRect">
            <a:avLst/>
          </a:prstGeom>
          <a:solidFill>
            <a:srgbClr val="EDF1F5"/>
          </a:solidFill>
          <a:ln w="127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0222992" y="2633472"/>
            <a:ext cx="1819656" cy="2039112"/>
          </a:xfrm>
          <a:prstGeom prst="roundRect">
            <a:avLst/>
          </a:prstGeom>
          <a:solidFill>
            <a:srgbClr val="F6FCFB"/>
          </a:solidFill>
          <a:ln w="1143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10332720" y="2752344"/>
            <a:ext cx="393192" cy="219456"/>
          </a:xfrm>
          <a:prstGeom prst="roundRect">
            <a:avLst/>
          </a:prstGeom>
          <a:solidFill>
            <a:srgbClr val="FFF0ED"/>
          </a:solidFill>
          <a:ln w="6350">
            <a:solidFill>
              <a:srgbClr val="FF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37292" y="2784348"/>
            <a:ext cx="384048" cy="1371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60" b="1">
                <a:solidFill>
                  <a:srgbClr val="D9534F"/>
                </a:solidFill>
                <a:latin typeface="Inter"/>
              </a:rPr>
              <a:t>GAP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32720" y="3072384"/>
            <a:ext cx="160020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10" b="1">
                <a:solidFill>
                  <a:srgbClr val="16314A"/>
                </a:solidFill>
                <a:latin typeface="Inter"/>
              </a:rPr>
              <a:t>Lineage, audit &amp; documentation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32721" y="3417596"/>
            <a:ext cx="1518266" cy="5625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844" b="0">
                <a:solidFill>
                  <a:srgbClr val="203549"/>
                </a:solidFill>
                <a:latin typeface="Inter"/>
              </a:rPr>
              <a:t>• Hard to bind exact spec, QC, code, cut and output
• Evidence can drift across refresh cycles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4901184"/>
            <a:ext cx="11192256" cy="713232"/>
          </a:xfrm>
          <a:prstGeom prst="roundRect">
            <a:avLst/>
          </a:prstGeom>
          <a:solidFill>
            <a:srgbClr val="F1F6FB"/>
          </a:solidFill>
          <a:ln w="12700">
            <a:solidFill>
              <a:srgbClr val="C9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3232" y="5029200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69" b="1">
                <a:solidFill>
                  <a:srgbClr val="16314A"/>
                </a:solidFill>
                <a:latin typeface="Inter"/>
              </a:rPr>
              <a:t>CROSS-CUTTING ACROSS
EVERY HAND-OFF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816352" y="5020056"/>
            <a:ext cx="1874519" cy="329184"/>
          </a:xfrm>
          <a:prstGeom prst="roundRect">
            <a:avLst/>
          </a:prstGeom>
          <a:solidFill>
            <a:srgbClr val="F0EDFF"/>
          </a:solidFill>
          <a:ln w="1143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62072" y="5093208"/>
            <a:ext cx="1783079" cy="1554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10" b="1">
                <a:solidFill>
                  <a:srgbClr val="6C5CE7"/>
                </a:solidFill>
                <a:latin typeface="Inter"/>
              </a:rPr>
              <a:t>Knowledge fragmentation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855464" y="5020056"/>
            <a:ext cx="1874519" cy="329184"/>
          </a:xfrm>
          <a:prstGeom prst="roundRect">
            <a:avLst/>
          </a:prstGeom>
          <a:solidFill>
            <a:srgbClr val="FFF5EB"/>
          </a:solidFill>
          <a:ln w="1143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901184" y="5093208"/>
            <a:ext cx="1783079" cy="1554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10" b="1">
                <a:solidFill>
                  <a:srgbClr val="F57C00"/>
                </a:solidFill>
                <a:latin typeface="Inter"/>
              </a:rPr>
              <a:t>Version &amp; change control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94576" y="5020056"/>
            <a:ext cx="1965960" cy="329184"/>
          </a:xfrm>
          <a:prstGeom prst="roundRect">
            <a:avLst/>
          </a:prstGeom>
          <a:solidFill>
            <a:srgbClr val="E9F8F6"/>
          </a:solidFill>
          <a:ln w="11430">
            <a:solidFill>
              <a:srgbClr val="009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40296" y="5093208"/>
            <a:ext cx="1874519" cy="1554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10" b="1">
                <a:solidFill>
                  <a:srgbClr val="009E93"/>
                </a:solidFill>
                <a:latin typeface="Inter"/>
              </a:rPr>
              <a:t>Scalability &amp; consistency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25128" y="5020056"/>
            <a:ext cx="1920240" cy="329184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070848" y="5093208"/>
            <a:ext cx="1828800" cy="1554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810" b="1">
                <a:solidFill>
                  <a:srgbClr val="2F80ED"/>
                </a:solidFill>
                <a:latin typeface="Inter"/>
              </a:rPr>
              <a:t>Traceability &amp; provenance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02920" y="5788152"/>
            <a:ext cx="11192256" cy="585216"/>
          </a:xfrm>
          <a:prstGeom prst="roundRect">
            <a:avLst/>
          </a:prstGeom>
          <a:solidFill>
            <a:srgbClr val="16314A"/>
          </a:solidFill>
          <a:ln w="6350">
            <a:solidFill>
              <a:srgbClr val="163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02920" y="5788152"/>
            <a:ext cx="82296" cy="5852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13232" y="5861304"/>
            <a:ext cx="6995160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70" b="1">
                <a:solidFill>
                  <a:srgbClr val="FFFFFF"/>
                </a:solidFill>
                <a:latin typeface="Inter"/>
              </a:rPr>
              <a:t>The gaps compound across the lifecycle — they are not a coding-only problem.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08392" y="5833872"/>
            <a:ext cx="3694176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830" b="1">
                <a:solidFill>
                  <a:srgbClr val="D8E7F5"/>
                </a:solidFill>
                <a:latin typeface="Inter"/>
              </a:rPr>
              <a:t>NEXT  →  Governed knowledge + agent orchestration
+ deterministic acceptance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02920" y="6583680"/>
            <a:ext cx="11183112" cy="0"/>
          </a:xfrm>
          <a:prstGeom prst="line">
            <a:avLst/>
          </a:prstGeom>
          <a:ln w="889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02920" y="6647688"/>
            <a:ext cx="3657600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10" b="1">
                <a:solidFill>
                  <a:srgbClr val="667A8F"/>
                </a:solidFill>
                <a:latin typeface="Inter"/>
              </a:rPr>
              <a:t>GOVERNED AGENTIC RWD ANALYTICS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32520" y="6647688"/>
            <a:ext cx="295351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667A8F"/>
                </a:solidFill>
                <a:latin typeface="Inter"/>
              </a:rPr>
              <a:t>Opening context • current-state workflow gaps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ized slide artwork — slide-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ized slide artwork — slide-2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ized slide artwork — slide-3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ized slide artwork — slide-4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ized slide artwork — slide-5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306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RWD Analytics Platform</dc:title>
  <dc:subject>Current state, future state, knowledge layers, workflow, and RWD analytics impact</dc:subject>
  <dc:creator>OpenAI</dc:creator>
  <cp:keywords>RWD, agentic AI, knowledge fabric, governed analytics, LT</cp:keywords>
  <dc:description>Five-slide LT-ready presentation generated from the finalized slide designs.</dc:description>
  <cp:lastModifiedBy>Onkar Kshirsagar</cp:lastModifiedBy>
  <cp:revision>2</cp:revision>
  <dcterms:created xsi:type="dcterms:W3CDTF">2013-01-27T09:14:16Z</dcterms:created>
  <dcterms:modified xsi:type="dcterms:W3CDTF">2026-09-02T15:09:28Z</dcterms:modified>
  <cp:category/>
</cp:coreProperties>
</file>